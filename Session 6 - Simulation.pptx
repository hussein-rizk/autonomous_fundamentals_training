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79" r:id="rId3"/>
    <p:sldId id="278" r:id="rId4"/>
    <p:sldId id="277" r:id="rId5"/>
    <p:sldId id="276" r:id="rId6"/>
    <p:sldId id="275" r:id="rId7"/>
    <p:sldId id="258" r:id="rId8"/>
    <p:sldId id="260" r:id="rId9"/>
    <p:sldId id="259" r:id="rId10"/>
    <p:sldId id="273" r:id="rId11"/>
    <p:sldId id="261" r:id="rId12"/>
    <p:sldId id="272" r:id="rId13"/>
    <p:sldId id="262" r:id="rId14"/>
    <p:sldId id="263" r:id="rId15"/>
    <p:sldId id="264" r:id="rId16"/>
    <p:sldId id="280" r:id="rId17"/>
    <p:sldId id="281" r:id="rId18"/>
    <p:sldId id="282" r:id="rId19"/>
    <p:sldId id="266" r:id="rId20"/>
    <p:sldId id="267" r:id="rId21"/>
    <p:sldId id="268" r:id="rId22"/>
    <p:sldId id="269" r:id="rId23"/>
    <p:sldId id="283" r:id="rId24"/>
    <p:sldId id="284" r:id="rId25"/>
    <p:sldId id="286" r:id="rId26"/>
    <p:sldId id="27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43AA4-6E10-7D1C-FF07-44850F6ADFE5}" v="841" dt="2023-10-07T22:30:05.377"/>
    <p1510:client id="{5C2D0EA9-A003-4577-A0AE-5949FE290C9B}" v="10" dt="2023-10-06T14:50:31.332"/>
    <p1510:client id="{DE59CF33-2860-4208-A7EB-5B0E5B61ED60}" v="464" dt="2023-09-24T07:46:42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77366" y="730340"/>
            <a:ext cx="5037269" cy="5037269"/>
          </a:xfrm>
          <a:custGeom>
            <a:avLst/>
            <a:gdLst/>
            <a:ahLst/>
            <a:cxnLst/>
            <a:rect l="l" t="t" r="r" b="b"/>
            <a:pathLst>
              <a:path w="7555903" h="7555903">
                <a:moveTo>
                  <a:pt x="0" y="0"/>
                </a:moveTo>
                <a:lnTo>
                  <a:pt x="7555904" y="0"/>
                </a:lnTo>
                <a:lnTo>
                  <a:pt x="7555904" y="7555904"/>
                </a:lnTo>
                <a:lnTo>
                  <a:pt x="0" y="755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43479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6348" y="2346538"/>
            <a:ext cx="10319306" cy="134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1"/>
              </a:lnSpc>
              <a:spcBef>
                <a:spcPct val="0"/>
              </a:spcBef>
            </a:pPr>
            <a:r>
              <a:rPr lang="en-US" sz="8000">
                <a:solidFill>
                  <a:srgbClr val="FF0000"/>
                </a:solidFill>
                <a:latin typeface="Canva Sans Bold"/>
              </a:rPr>
              <a:t>Autonomous System</a:t>
            </a:r>
          </a:p>
        </p:txBody>
      </p:sp>
    </p:spTree>
    <p:extLst>
      <p:ext uri="{BB962C8B-B14F-4D97-AF65-F5344CB8AC3E}">
        <p14:creationId xmlns:p14="http://schemas.microsoft.com/office/powerpoint/2010/main" val="277305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5801" y="367661"/>
            <a:ext cx="11330491" cy="4948492"/>
            <a:chOff x="0" y="-19049"/>
            <a:chExt cx="22660983" cy="9896984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49"/>
              <a:ext cx="22660983" cy="1641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400"/>
                </a:lnSpc>
              </a:pPr>
              <a:r>
                <a:rPr lang="en-US" sz="5334" spc="277">
                  <a:solidFill>
                    <a:srgbClr val="000000"/>
                  </a:solidFill>
                  <a:latin typeface="Glacial Indifference Bold"/>
                </a:rPr>
                <a:t>RULES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72711"/>
              <a:ext cx="22660983" cy="8305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18943" lvl="1" indent="-309471">
                <a:lnSpc>
                  <a:spcPts val="5532"/>
                </a:lnSpc>
                <a:buFont typeface="Arial"/>
                <a:buChar char="•"/>
              </a:pPr>
              <a:r>
                <a:rPr lang="en-US" sz="2866">
                  <a:solidFill>
                    <a:srgbClr val="000000"/>
                  </a:solidFill>
                  <a:latin typeface="Glacial Indifference"/>
                </a:rPr>
                <a:t>No side talks</a:t>
              </a:r>
            </a:p>
            <a:p>
              <a:pPr marL="618943" lvl="1" indent="-309471">
                <a:lnSpc>
                  <a:spcPts val="5532"/>
                </a:lnSpc>
                <a:buFont typeface="Arial"/>
                <a:buChar char="•"/>
              </a:pPr>
              <a:r>
                <a:rPr lang="en-US" sz="2866">
                  <a:solidFill>
                    <a:srgbClr val="000000"/>
                  </a:solidFill>
                  <a:latin typeface="Glacial Indifference"/>
                </a:rPr>
                <a:t>Phones are in silent mode</a:t>
              </a:r>
            </a:p>
            <a:p>
              <a:pPr marL="618943" lvl="1" indent="-309471">
                <a:lnSpc>
                  <a:spcPts val="5532"/>
                </a:lnSpc>
                <a:buFont typeface="Arial"/>
                <a:buChar char="•"/>
              </a:pPr>
              <a:r>
                <a:rPr lang="en-US" sz="2866">
                  <a:solidFill>
                    <a:srgbClr val="000000"/>
                  </a:solidFill>
                  <a:latin typeface="Glacial Indifference"/>
                </a:rPr>
                <a:t>Questions after each slide</a:t>
              </a:r>
            </a:p>
            <a:p>
              <a:pPr marL="618943" lvl="1" indent="-309471">
                <a:lnSpc>
                  <a:spcPts val="5532"/>
                </a:lnSpc>
                <a:buFont typeface="Arial"/>
                <a:buChar char="•"/>
              </a:pPr>
              <a:r>
                <a:rPr lang="en-US" sz="2866">
                  <a:solidFill>
                    <a:srgbClr val="000000"/>
                  </a:solidFill>
                  <a:latin typeface="Glacial Indifference"/>
                </a:rPr>
                <a:t>Take permission before leaving</a:t>
              </a:r>
            </a:p>
            <a:p>
              <a:pPr marL="618943" lvl="1" indent="-309471">
                <a:lnSpc>
                  <a:spcPts val="5532"/>
                </a:lnSpc>
                <a:buFont typeface="Arial"/>
                <a:buChar char="•"/>
              </a:pPr>
              <a:r>
                <a:rPr lang="en-US" sz="2866">
                  <a:solidFill>
                    <a:srgbClr val="000000"/>
                  </a:solidFill>
                  <a:latin typeface="Glacial Indifference"/>
                </a:rPr>
                <a:t>There will be a break during the session if you want to eat or drink</a:t>
              </a:r>
            </a:p>
            <a:p>
              <a:pPr marL="618943" lvl="1" indent="-309471">
                <a:lnSpc>
                  <a:spcPts val="5532"/>
                </a:lnSpc>
                <a:buFont typeface="Arial"/>
                <a:buChar char="•"/>
              </a:pPr>
              <a:r>
                <a:rPr lang="en-US" sz="2866">
                  <a:solidFill>
                    <a:srgbClr val="000000"/>
                  </a:solidFill>
                  <a:latin typeface="Glacial Indifference"/>
                </a:rPr>
                <a:t>Make sure to take notes about what is discussed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02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16962" y="1715004"/>
            <a:ext cx="7758076" cy="2137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87"/>
              </a:lnSpc>
            </a:pPr>
            <a:r>
              <a:rPr lang="en-US" sz="6134">
                <a:solidFill>
                  <a:srgbClr val="FF0000"/>
                </a:solidFill>
                <a:latin typeface="Canva Sans Bold"/>
              </a:rPr>
              <a:t>Session 6</a:t>
            </a:r>
          </a:p>
          <a:p>
            <a:pPr algn="ctr">
              <a:lnSpc>
                <a:spcPts val="8587"/>
              </a:lnSpc>
              <a:spcBef>
                <a:spcPct val="0"/>
              </a:spcBef>
            </a:pPr>
            <a:r>
              <a:rPr lang="en-US" sz="6134">
                <a:solidFill>
                  <a:srgbClr val="FF0000"/>
                </a:solidFill>
                <a:latin typeface="Canva Sans Bold"/>
              </a:rPr>
              <a:t>“Simulation”</a:t>
            </a:r>
          </a:p>
        </p:txBody>
      </p:sp>
    </p:spTree>
    <p:extLst>
      <p:ext uri="{BB962C8B-B14F-4D97-AF65-F5344CB8AC3E}">
        <p14:creationId xmlns:p14="http://schemas.microsoft.com/office/powerpoint/2010/main" val="225558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6042" y="622301"/>
            <a:ext cx="4410313" cy="588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53"/>
              </a:lnSpc>
            </a:pPr>
            <a:r>
              <a:rPr lang="en-US" sz="3466">
                <a:solidFill>
                  <a:srgbClr val="000000"/>
                </a:solidFill>
                <a:latin typeface="Canva Sans Bold"/>
              </a:rPr>
              <a:t>About the instructor</a:t>
            </a:r>
          </a:p>
        </p:txBody>
      </p:sp>
      <p:sp>
        <p:nvSpPr>
          <p:cNvPr id="4" name="AutoShape 4"/>
          <p:cNvSpPr/>
          <p:nvPr/>
        </p:nvSpPr>
        <p:spPr>
          <a:xfrm>
            <a:off x="-3642360" y="1787931"/>
            <a:ext cx="432816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-3584245" y="5394843"/>
            <a:ext cx="432816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-3584245" y="3576877"/>
            <a:ext cx="432816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2FAE7-9FFE-2F0B-C268-BF53B1C7E1C4}"/>
              </a:ext>
            </a:extLst>
          </p:cNvPr>
          <p:cNvSpPr txBox="1"/>
          <p:nvPr/>
        </p:nvSpPr>
        <p:spPr>
          <a:xfrm>
            <a:off x="1018646" y="1476616"/>
            <a:ext cx="7941107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Name :  </a:t>
            </a:r>
            <a:r>
              <a:rPr lang="en-US" sz="2400" b="1" err="1">
                <a:ea typeface="Calibri"/>
                <a:cs typeface="Calibri"/>
              </a:rPr>
              <a:t>zaynab</a:t>
            </a:r>
            <a:r>
              <a:rPr lang="en-US" sz="2400" b="1">
                <a:ea typeface="Calibri"/>
                <a:cs typeface="Calibri"/>
              </a:rPr>
              <a:t> </a:t>
            </a:r>
            <a:r>
              <a:rPr lang="en-US" sz="2400" b="1" err="1">
                <a:ea typeface="Calibri"/>
                <a:cs typeface="Calibri"/>
              </a:rPr>
              <a:t>ahamd</a:t>
            </a:r>
            <a:r>
              <a:rPr lang="en-US" sz="2400" b="1">
                <a:ea typeface="Calibri"/>
                <a:cs typeface="Calibri"/>
              </a:rPr>
              <a:t> </a:t>
            </a: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r>
              <a:rPr lang="en-US" sz="2400" b="1">
                <a:ea typeface="Calibri"/>
                <a:cs typeface="Calibri"/>
              </a:rPr>
              <a:t>Mechatronics </a:t>
            </a:r>
            <a:r>
              <a:rPr lang="en-US" sz="2400" b="1" err="1">
                <a:ea typeface="Calibri"/>
                <a:cs typeface="Calibri"/>
              </a:rPr>
              <a:t>lvl</a:t>
            </a:r>
            <a:r>
              <a:rPr lang="en-US" sz="2400" b="1">
                <a:ea typeface="Calibri"/>
                <a:cs typeface="Calibri"/>
              </a:rPr>
              <a:t> 200</a:t>
            </a:r>
          </a:p>
          <a:p>
            <a:endParaRPr lang="en-US" sz="2400" b="1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br>
              <a:rPr lang="en-US" sz="800">
                <a:ea typeface="Calibri"/>
                <a:cs typeface="Calibri"/>
              </a:rPr>
            </a:br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endParaRPr lang="en-US" sz="800">
              <a:ea typeface="Calibri"/>
              <a:cs typeface="Calibri"/>
            </a:endParaRPr>
          </a:p>
          <a:p>
            <a:r>
              <a:rPr lang="en-US" sz="2400" b="1">
                <a:ea typeface="Calibri"/>
                <a:cs typeface="Calibri"/>
              </a:rPr>
              <a:t>Autonomous </a:t>
            </a:r>
            <a:r>
              <a:rPr lang="en-US" sz="2400" b="1" err="1">
                <a:ea typeface="Calibri"/>
                <a:cs typeface="Calibri"/>
              </a:rPr>
              <a:t>Subteam</a:t>
            </a:r>
            <a:r>
              <a:rPr lang="en-US" sz="2400" b="1">
                <a:ea typeface="Calibri"/>
                <a:cs typeface="Calibri"/>
              </a:rPr>
              <a:t> Member 2023</a:t>
            </a:r>
            <a:endParaRPr lang="en-US" sz="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222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138C06-1821-2B1C-D416-09D01D2F27DE}"/>
              </a:ext>
            </a:extLst>
          </p:cNvPr>
          <p:cNvSpPr>
            <a:spLocks noGrp="1"/>
          </p:cNvSpPr>
          <p:nvPr/>
        </p:nvSpPr>
        <p:spPr>
          <a:xfrm>
            <a:off x="1075958" y="1945748"/>
            <a:ext cx="3184835" cy="2039442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80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600" b="1" dirty="0">
                <a:solidFill>
                  <a:srgbClr val="FF0000"/>
                </a:solidFill>
                <a:ea typeface="MS PMincho"/>
                <a:cs typeface="Mangal"/>
              </a:rPr>
              <a:t>AGENDA</a:t>
            </a:r>
            <a:endParaRPr lang="en-US" sz="6600" b="1" dirty="0" err="1">
              <a:solidFill>
                <a:srgbClr val="FF0000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495EAE-F501-9005-48F9-E05191C26016}"/>
              </a:ext>
            </a:extLst>
          </p:cNvPr>
          <p:cNvSpPr>
            <a:spLocks noGrp="1"/>
          </p:cNvSpPr>
          <p:nvPr/>
        </p:nvSpPr>
        <p:spPr>
          <a:xfrm>
            <a:off x="5713785" y="555613"/>
            <a:ext cx="4536625" cy="50323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2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1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tx1"/>
                </a:solidFill>
                <a:cs typeface="Mangal"/>
              </a:rPr>
              <a:t>What is simulation </a:t>
            </a:r>
            <a:br>
              <a:rPr lang="en-US" sz="2000" b="1" dirty="0">
                <a:cs typeface="Mangal"/>
              </a:rPr>
            </a:br>
            <a:endParaRPr lang="en-US" sz="2000" b="1" dirty="0">
              <a:solidFill>
                <a:schemeClr val="tx1"/>
              </a:solidFill>
              <a:cs typeface="Mangal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tx1"/>
                </a:solidFill>
                <a:cs typeface="Mangal"/>
              </a:rPr>
              <a:t>Why simulation</a:t>
            </a:r>
            <a:br>
              <a:rPr lang="en-US" sz="2000" b="1" dirty="0">
                <a:cs typeface="Mangal"/>
              </a:rPr>
            </a:br>
            <a:endParaRPr lang="en-US" sz="2000" b="1" dirty="0">
              <a:solidFill>
                <a:schemeClr val="tx1"/>
              </a:solidFill>
              <a:cs typeface="Mangal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tx1"/>
                </a:solidFill>
                <a:cs typeface="Mangal"/>
              </a:rPr>
              <a:t>Types of simulation </a:t>
            </a:r>
            <a:br>
              <a:rPr lang="en-US" sz="2000" b="1" dirty="0">
                <a:cs typeface="Mangal"/>
              </a:rPr>
            </a:br>
            <a:endParaRPr lang="en-US" sz="2000" b="1" dirty="0">
              <a:solidFill>
                <a:schemeClr val="tx1"/>
              </a:solidFill>
              <a:cs typeface="Mangal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tx1"/>
                </a:solidFill>
                <a:cs typeface="Mangal"/>
              </a:rPr>
              <a:t>Why ROS </a:t>
            </a:r>
            <a:br>
              <a:rPr lang="en-US" sz="2000" b="1" dirty="0">
                <a:cs typeface="Mangal"/>
              </a:rPr>
            </a:br>
            <a:endParaRPr lang="en-US" sz="2000" b="1" dirty="0">
              <a:solidFill>
                <a:schemeClr val="tx1"/>
              </a:solidFill>
              <a:cs typeface="Mangal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tx1"/>
                </a:solidFill>
                <a:cs typeface="Mangal"/>
              </a:rPr>
              <a:t>ROS ANATOMY and setup REQUIRED</a:t>
            </a:r>
            <a:br>
              <a:rPr lang="en-US" sz="2000" b="1" dirty="0">
                <a:cs typeface="Mangal"/>
              </a:rPr>
            </a:br>
            <a:r>
              <a:rPr lang="en-US" sz="2000" b="1" dirty="0">
                <a:solidFill>
                  <a:schemeClr val="tx1"/>
                </a:solidFill>
                <a:cs typeface="Mangal"/>
              </a:rPr>
              <a:t> 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tx1"/>
                </a:solidFill>
                <a:cs typeface="Mangal"/>
              </a:rPr>
              <a:t>Simple publisher and subscriber</a:t>
            </a:r>
            <a:br>
              <a:rPr lang="en-US" sz="2000" b="1" dirty="0">
                <a:cs typeface="Mangal"/>
              </a:rPr>
            </a:br>
            <a:endParaRPr lang="en-US" sz="2000" b="1" dirty="0">
              <a:solidFill>
                <a:schemeClr val="tx1"/>
              </a:solidFill>
              <a:cs typeface="Mangal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tx1"/>
                </a:solidFill>
                <a:cs typeface="Mangal"/>
              </a:rPr>
              <a:t>What is next ? </a:t>
            </a:r>
          </a:p>
          <a:p>
            <a:endParaRPr lang="en-US" dirty="0">
              <a:cs typeface="Mangal"/>
            </a:endParaRPr>
          </a:p>
          <a:p>
            <a:endParaRPr lang="en-US" dirty="0">
              <a:cs typeface="Mangal"/>
            </a:endParaRPr>
          </a:p>
          <a:p>
            <a:endParaRPr lang="en-US" dirty="0">
              <a:cs typeface="Mangal"/>
            </a:endParaRPr>
          </a:p>
          <a:p>
            <a:endParaRPr lang="en-US">
              <a:cs typeface="Mangal"/>
            </a:endParaRPr>
          </a:p>
          <a:p>
            <a:endParaRPr lang="en-US" dirty="0">
              <a:cs typeface="Mangal"/>
            </a:endParaRPr>
          </a:p>
          <a:p>
            <a:endParaRPr lang="en-US"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3392999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B42532EE-5C8C-9736-D937-41881EC5037C}"/>
              </a:ext>
            </a:extLst>
          </p:cNvPr>
          <p:cNvSpPr txBox="1"/>
          <p:nvPr/>
        </p:nvSpPr>
        <p:spPr>
          <a:xfrm>
            <a:off x="292029" y="2152388"/>
            <a:ext cx="4053416" cy="255454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rgbClr val="FF0000"/>
                </a:solidFill>
                <a:cs typeface="Mangal"/>
              </a:rPr>
              <a:t> </a:t>
            </a:r>
            <a:r>
              <a:rPr lang="en-US" sz="4000" b="1" i="1" dirty="0">
                <a:solidFill>
                  <a:srgbClr val="FF0000"/>
                </a:solidFill>
                <a:cs typeface="Mangal"/>
              </a:rPr>
              <a:t> </a:t>
            </a:r>
            <a:r>
              <a:rPr lang="en-US" sz="4000" b="1" i="1" dirty="0">
                <a:cs typeface="Mangal"/>
              </a:rPr>
              <a:t>A Crucial Tool for Safe and Efficient </a:t>
            </a:r>
            <a:r>
              <a:rPr lang="en-US" sz="4000" b="1" dirty="0">
                <a:cs typeface="Mangal"/>
              </a:rPr>
              <a:t> </a:t>
            </a:r>
            <a:endParaRPr lang="en-US">
              <a:cs typeface="Calibri" panose="020F0502020204030204"/>
            </a:endParaRPr>
          </a:p>
          <a:p>
            <a:pPr algn="ctr"/>
            <a:r>
              <a:rPr lang="en-US" sz="4000" b="1" dirty="0">
                <a:cs typeface="Mangal"/>
              </a:rPr>
              <a:t>   </a:t>
            </a:r>
            <a:r>
              <a:rPr lang="en-US" sz="4000" b="1" i="1" dirty="0">
                <a:cs typeface="Mangal"/>
              </a:rPr>
              <a:t>Development</a:t>
            </a:r>
            <a:r>
              <a:rPr lang="en-US" sz="4000" i="1" dirty="0">
                <a:cs typeface="Mangal"/>
              </a:rPr>
              <a:t> </a:t>
            </a:r>
            <a:endParaRPr lang="en-US" i="1" dirty="0">
              <a:cs typeface="Calibri" panose="020F050202020403020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9A4A1C-2861-8066-1E47-6C99A1E6B37C}"/>
              </a:ext>
            </a:extLst>
          </p:cNvPr>
          <p:cNvSpPr>
            <a:spLocks noGrp="1"/>
          </p:cNvSpPr>
          <p:nvPr/>
        </p:nvSpPr>
        <p:spPr>
          <a:xfrm>
            <a:off x="3147282" y="-58818"/>
            <a:ext cx="5532115" cy="1744665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80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FF0000"/>
                </a:solidFill>
                <a:ea typeface="MS PMincho"/>
                <a:cs typeface="Mangal"/>
              </a:rPr>
              <a:t>      WHAT IS  </a:t>
            </a:r>
            <a:r>
              <a:rPr lang="en-US" sz="4000" b="1" dirty="0">
                <a:solidFill>
                  <a:srgbClr val="FF0000"/>
                </a:solidFill>
                <a:ea typeface="MS PMincho"/>
                <a:cs typeface="Mangal"/>
              </a:rPr>
              <a:t>simulation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2" name="Picture 1" descr="A car driving through a city&#10;&#10;Description automatically generated">
            <a:extLst>
              <a:ext uri="{FF2B5EF4-FFF2-40B4-BE49-F238E27FC236}">
                <a16:creationId xmlns:a16="http://schemas.microsoft.com/office/drawing/2014/main" id="{BF0BA0A6-829D-315F-886E-2228CB407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774" y="1439575"/>
            <a:ext cx="7559385" cy="425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40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B88EF3-17A8-7B4B-85F1-658F905F4DD3}"/>
              </a:ext>
            </a:extLst>
          </p:cNvPr>
          <p:cNvSpPr>
            <a:spLocks noGrp="1"/>
          </p:cNvSpPr>
          <p:nvPr/>
        </p:nvSpPr>
        <p:spPr>
          <a:xfrm>
            <a:off x="4285655" y="208064"/>
            <a:ext cx="3540382" cy="268963"/>
          </a:xfrm>
          <a:prstGeom prst="rect">
            <a:avLst/>
          </a:prstGeom>
          <a:effectLst/>
        </p:spPr>
        <p:txBody>
          <a:bodyPr vert="horz" lIns="0" tIns="0" rIns="0" bIns="0" rtlCol="0" anchor="t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a typeface="MS PMincho"/>
                <a:cs typeface="Mangal"/>
              </a:rPr>
              <a:t>What is simulation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AAE2C-257C-2338-2659-01556093B1E7}"/>
              </a:ext>
            </a:extLst>
          </p:cNvPr>
          <p:cNvSpPr/>
          <p:nvPr/>
        </p:nvSpPr>
        <p:spPr>
          <a:xfrm>
            <a:off x="1867547" y="1026376"/>
            <a:ext cx="2222500" cy="13758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cs typeface="Mangal"/>
              </a:rPr>
              <a:t>Real world</a:t>
            </a:r>
            <a:r>
              <a:rPr lang="en-US" dirty="0">
                <a:cs typeface="Mangal"/>
              </a:rPr>
              <a:t> 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DEF10A3-9531-01EC-C3A3-5A414608DE08}"/>
              </a:ext>
            </a:extLst>
          </p:cNvPr>
          <p:cNvSpPr/>
          <p:nvPr/>
        </p:nvSpPr>
        <p:spPr>
          <a:xfrm>
            <a:off x="4823355" y="1189731"/>
            <a:ext cx="2539999" cy="105833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13F88E-CCE5-01E0-54E5-AD56AD7EAC2B}"/>
              </a:ext>
            </a:extLst>
          </p:cNvPr>
          <p:cNvSpPr/>
          <p:nvPr/>
        </p:nvSpPr>
        <p:spPr>
          <a:xfrm>
            <a:off x="8102916" y="1025690"/>
            <a:ext cx="2222500" cy="137583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cs typeface="Mangal"/>
              </a:rPr>
              <a:t>Model of Real world</a:t>
            </a:r>
            <a:r>
              <a:rPr lang="en-US" dirty="0">
                <a:cs typeface="Mangal"/>
              </a:rPr>
              <a:t> </a:t>
            </a:r>
          </a:p>
        </p:txBody>
      </p:sp>
      <p:pic>
        <p:nvPicPr>
          <p:cNvPr id="8" name="Picture 7" descr="A video game of a car driving down a road&#10;&#10;Description automatically generated">
            <a:extLst>
              <a:ext uri="{FF2B5EF4-FFF2-40B4-BE49-F238E27FC236}">
                <a16:creationId xmlns:a16="http://schemas.microsoft.com/office/drawing/2014/main" id="{B7851123-2FCB-0D8B-4443-C3AA6588BF1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t="22213" b="22213"/>
          <a:stretch/>
        </p:blipFill>
        <p:spPr>
          <a:xfrm>
            <a:off x="1201236" y="2520188"/>
            <a:ext cx="10052579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310E1-CC6B-F68A-B6AE-5DEB6610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181" y="3431680"/>
            <a:ext cx="3311237" cy="1345355"/>
          </a:xfr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i="1" dirty="0">
                <a:solidFill>
                  <a:srgbClr val="FF0000"/>
                </a:solidFill>
                <a:ea typeface="Calibri Light"/>
                <a:cs typeface="Calibri Light"/>
              </a:rPr>
              <a:t>SIMULATION 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03DDC8-C6A4-D8D8-C262-7F0AF536D20E}"/>
              </a:ext>
            </a:extLst>
          </p:cNvPr>
          <p:cNvSpPr txBox="1">
            <a:spLocks/>
          </p:cNvSpPr>
          <p:nvPr/>
        </p:nvSpPr>
        <p:spPr>
          <a:xfrm>
            <a:off x="620733" y="1478684"/>
            <a:ext cx="3311237" cy="134535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rgbClr val="FF0000"/>
                </a:solidFill>
                <a:ea typeface="Calibri Light"/>
                <a:cs typeface="Calibri Light"/>
              </a:rPr>
              <a:t>MODELING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E44F38-A5BF-E93B-CF15-E967FEEE28FF}"/>
              </a:ext>
            </a:extLst>
          </p:cNvPr>
          <p:cNvSpPr txBox="1">
            <a:spLocks/>
          </p:cNvSpPr>
          <p:nvPr/>
        </p:nvSpPr>
        <p:spPr>
          <a:xfrm>
            <a:off x="7733805" y="1481405"/>
            <a:ext cx="3311237" cy="134535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solidFill>
                  <a:srgbClr val="FF0000"/>
                </a:solidFill>
                <a:ea typeface="Calibri Light"/>
                <a:cs typeface="Calibri Light"/>
              </a:rPr>
              <a:t>EMULATAION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D5FF6A-C2C0-F0F2-324D-6416C8A4AAB1}"/>
              </a:ext>
            </a:extLst>
          </p:cNvPr>
          <p:cNvSpPr>
            <a:spLocks noGrp="1"/>
          </p:cNvSpPr>
          <p:nvPr/>
        </p:nvSpPr>
        <p:spPr>
          <a:xfrm>
            <a:off x="4397227" y="271607"/>
            <a:ext cx="3391481" cy="644653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FF0000"/>
                </a:solidFill>
                <a:ea typeface="MS PMincho"/>
                <a:cs typeface="Mangal"/>
              </a:rPr>
              <a:t>Why simulation 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27105D-F429-59FA-E004-F36B7CF169A9}"/>
              </a:ext>
            </a:extLst>
          </p:cNvPr>
          <p:cNvSpPr/>
          <p:nvPr/>
        </p:nvSpPr>
        <p:spPr>
          <a:xfrm>
            <a:off x="1292299" y="1045379"/>
            <a:ext cx="2148417" cy="131233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cs typeface="Mangal"/>
              </a:rPr>
              <a:t>Cost savings 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7D3303-6DC3-0C18-0104-5E23314510C7}"/>
              </a:ext>
            </a:extLst>
          </p:cNvPr>
          <p:cNvSpPr/>
          <p:nvPr/>
        </p:nvSpPr>
        <p:spPr>
          <a:xfrm>
            <a:off x="4721299" y="2812794"/>
            <a:ext cx="2497666" cy="138641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cs typeface="Mangal"/>
              </a:rPr>
              <a:t>Reproducibility</a:t>
            </a:r>
            <a:r>
              <a:rPr lang="en-US" sz="2400" b="1" dirty="0">
                <a:cs typeface="Mangal"/>
              </a:rPr>
              <a:t> 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049ED7-D6C0-724E-5B93-D612120709E9}"/>
              </a:ext>
            </a:extLst>
          </p:cNvPr>
          <p:cNvSpPr/>
          <p:nvPr/>
        </p:nvSpPr>
        <p:spPr>
          <a:xfrm>
            <a:off x="1292299" y="2812796"/>
            <a:ext cx="2148417" cy="138641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cs typeface="Mangal"/>
              </a:rPr>
              <a:t>Scalability</a:t>
            </a:r>
            <a:r>
              <a:rPr lang="en-US" sz="2400" b="1" dirty="0">
                <a:cs typeface="Mangal"/>
              </a:rPr>
              <a:t>  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6651CE-702E-57CC-834D-40F8122AE1AE}"/>
              </a:ext>
            </a:extLst>
          </p:cNvPr>
          <p:cNvSpPr/>
          <p:nvPr/>
        </p:nvSpPr>
        <p:spPr>
          <a:xfrm>
            <a:off x="8203216" y="1045379"/>
            <a:ext cx="2254250" cy="131233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cs typeface="Mangal"/>
              </a:rPr>
              <a:t>Avoiding Physical Damage</a:t>
            </a:r>
            <a:endParaRPr lang="en-US" sz="2400" b="1">
              <a:solidFill>
                <a:schemeClr val="tx1"/>
              </a:solidFill>
              <a:cs typeface="Mang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94791B-44D7-AC44-8C1C-FED58442DB22}"/>
              </a:ext>
            </a:extLst>
          </p:cNvPr>
          <p:cNvSpPr/>
          <p:nvPr/>
        </p:nvSpPr>
        <p:spPr>
          <a:xfrm>
            <a:off x="4721299" y="1045379"/>
            <a:ext cx="2370665" cy="131233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cs typeface="Mangal"/>
              </a:rPr>
              <a:t>Rapid Prototyping</a:t>
            </a:r>
            <a:r>
              <a:rPr lang="en-US" sz="2400" b="1" dirty="0">
                <a:cs typeface="Mangal"/>
              </a:rPr>
              <a:t> </a:t>
            </a:r>
            <a:endParaRPr lang="en-US" sz="2400" b="1">
              <a:cs typeface="Mang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DC0252-0598-A82B-2DA7-5D90C29D7C15}"/>
              </a:ext>
            </a:extLst>
          </p:cNvPr>
          <p:cNvSpPr/>
          <p:nvPr/>
        </p:nvSpPr>
        <p:spPr>
          <a:xfrm>
            <a:off x="2922132" y="4357963"/>
            <a:ext cx="2201333" cy="157691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cs typeface="Mangal"/>
              </a:rPr>
              <a:t>Data collection and analysis  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83A275-05EB-DEF0-3DE2-EDF94E8A0B00}"/>
              </a:ext>
            </a:extLst>
          </p:cNvPr>
          <p:cNvSpPr/>
          <p:nvPr/>
        </p:nvSpPr>
        <p:spPr>
          <a:xfrm>
            <a:off x="8203215" y="2654044"/>
            <a:ext cx="2254250" cy="143933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cs typeface="Mangal"/>
              </a:rPr>
              <a:t>Unlimited testing environment 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D6E925-2C26-C4E9-07CE-160740CF398E}"/>
              </a:ext>
            </a:extLst>
          </p:cNvPr>
          <p:cNvSpPr/>
          <p:nvPr/>
        </p:nvSpPr>
        <p:spPr>
          <a:xfrm>
            <a:off x="6626299" y="4569629"/>
            <a:ext cx="2201334" cy="132291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cs typeface="Mangal"/>
              </a:rPr>
              <a:t>Training and education </a:t>
            </a:r>
          </a:p>
        </p:txBody>
      </p:sp>
    </p:spTree>
    <p:extLst>
      <p:ext uri="{BB962C8B-B14F-4D97-AF65-F5344CB8AC3E}">
        <p14:creationId xmlns:p14="http://schemas.microsoft.com/office/powerpoint/2010/main" val="381768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D67A-904C-8BFE-6BD2-2A9362D7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7888" y="276060"/>
            <a:ext cx="2846120" cy="1345355"/>
          </a:xfrm>
        </p:spPr>
        <p:txBody>
          <a:bodyPr/>
          <a:lstStyle/>
          <a:p>
            <a:r>
              <a:rPr lang="en-US" b="1" i="1" dirty="0">
                <a:solidFill>
                  <a:srgbClr val="FF0000"/>
                </a:solidFill>
                <a:ea typeface="Calibri Light"/>
                <a:cs typeface="Calibri Light"/>
              </a:rPr>
              <a:t>Simulation </a:t>
            </a:r>
            <a:endParaRPr lang="en-US" b="1" i="1">
              <a:solidFill>
                <a:srgbClr val="FF0000"/>
              </a:solidFill>
              <a:ea typeface="Calibri Light"/>
              <a:cs typeface="Calibri Ligh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7C7851-04E6-62DF-B86D-A20D8F4CF169}"/>
              </a:ext>
            </a:extLst>
          </p:cNvPr>
          <p:cNvSpPr/>
          <p:nvPr/>
        </p:nvSpPr>
        <p:spPr>
          <a:xfrm>
            <a:off x="1005312" y="2450626"/>
            <a:ext cx="3048962" cy="158942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ea typeface="Calibri"/>
                <a:cs typeface="Mangal"/>
              </a:rPr>
              <a:t>Open loop simulation </a:t>
            </a:r>
            <a:endParaRPr lang="en-US" sz="2400" b="1" dirty="0">
              <a:cs typeface="Mang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841CB4-C2FC-9EB7-A89A-B8A84740D422}"/>
              </a:ext>
            </a:extLst>
          </p:cNvPr>
          <p:cNvSpPr/>
          <p:nvPr/>
        </p:nvSpPr>
        <p:spPr>
          <a:xfrm>
            <a:off x="7071624" y="2450626"/>
            <a:ext cx="2841144" cy="158942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ea typeface="Calibri"/>
                <a:cs typeface="Mangal"/>
              </a:rPr>
              <a:t>Closed loop simulation </a:t>
            </a:r>
            <a:endParaRPr lang="en-US" sz="2400" b="1" dirty="0">
              <a:cs typeface="Mang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17A54-5B00-84D1-8DF5-CE8306BADF99}"/>
              </a:ext>
            </a:extLst>
          </p:cNvPr>
          <p:cNvSpPr txBox="1"/>
          <p:nvPr/>
        </p:nvSpPr>
        <p:spPr>
          <a:xfrm>
            <a:off x="7263741" y="457199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Real time response 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90B698-F65B-CCC0-12F8-F1B3E4F763E2}"/>
              </a:ext>
            </a:extLst>
          </p:cNvPr>
          <p:cNvSpPr txBox="1"/>
          <p:nvPr/>
        </p:nvSpPr>
        <p:spPr>
          <a:xfrm>
            <a:off x="1296389" y="457199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Predefined actions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9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14FFB2F-1C4C-36D8-2B5F-7D2011636730}"/>
              </a:ext>
            </a:extLst>
          </p:cNvPr>
          <p:cNvSpPr>
            <a:spLocks noGrp="1"/>
          </p:cNvSpPr>
          <p:nvPr/>
        </p:nvSpPr>
        <p:spPr>
          <a:xfrm>
            <a:off x="3261723" y="308388"/>
            <a:ext cx="6045303" cy="480916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FF0000"/>
                </a:solidFill>
                <a:ea typeface="MS PMincho"/>
                <a:cs typeface="Mangal"/>
              </a:rPr>
              <a:t>Types of simulations 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F9E2CD-2ED5-340C-55AB-DD82E8BF9912}"/>
              </a:ext>
            </a:extLst>
          </p:cNvPr>
          <p:cNvSpPr>
            <a:spLocks noGrp="1"/>
          </p:cNvSpPr>
          <p:nvPr/>
        </p:nvSpPr>
        <p:spPr>
          <a:xfrm>
            <a:off x="2701048" y="967502"/>
            <a:ext cx="5346770" cy="82969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j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ea typeface="MS PMincho"/>
                <a:cs typeface="Mangal"/>
              </a:rPr>
              <a:t>                         </a:t>
            </a:r>
            <a:r>
              <a:rPr lang="en-US" sz="2400" b="1" dirty="0">
                <a:solidFill>
                  <a:srgbClr val="FF0000"/>
                </a:solidFill>
                <a:ea typeface="MS PMincho"/>
                <a:cs typeface="Mangal"/>
              </a:rPr>
              <a:t>1.HIL (hardware in loop )</a:t>
            </a: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dirty="0">
              <a:ea typeface="MS PMinch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B29B7B-E12D-DF72-F43B-D4BD7C0BE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8" r="1558"/>
          <a:stretch/>
        </p:blipFill>
        <p:spPr>
          <a:xfrm>
            <a:off x="4130488" y="1540808"/>
            <a:ext cx="7696207" cy="4471154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DC25C2C-4998-4B71-49E1-026AABEC4D6B}"/>
              </a:ext>
            </a:extLst>
          </p:cNvPr>
          <p:cNvSpPr txBox="1">
            <a:spLocks/>
          </p:cNvSpPr>
          <p:nvPr/>
        </p:nvSpPr>
        <p:spPr>
          <a:xfrm>
            <a:off x="619664" y="1259873"/>
            <a:ext cx="3232788" cy="441630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ea typeface="MS PMincho"/>
                <a:cs typeface="Mangal"/>
              </a:rPr>
              <a:t>                                              Combines physical hardware with simulated environments </a:t>
            </a:r>
            <a:endParaRPr lang="en-US" sz="2400" b="1" dirty="0">
              <a:ea typeface="MS PMincho"/>
            </a:endParaRPr>
          </a:p>
          <a:p>
            <a:r>
              <a:rPr lang="en-US" sz="1800" dirty="0">
                <a:ea typeface="MS PMincho"/>
                <a:cs typeface="Mangal"/>
              </a:rPr>
              <a:t>Real hardware components interact </a:t>
            </a:r>
            <a:r>
              <a:rPr lang="en-US" dirty="0">
                <a:ea typeface="MS PMincho"/>
                <a:cs typeface="Mangal"/>
              </a:rPr>
              <a:t>with a</a:t>
            </a:r>
            <a:r>
              <a:rPr lang="en-US" sz="1800" dirty="0">
                <a:ea typeface="MS PMincho"/>
                <a:cs typeface="Mangal"/>
              </a:rPr>
              <a:t> virtual system </a:t>
            </a:r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r>
              <a:rPr lang="en-US" sz="2400" b="1" dirty="0">
                <a:solidFill>
                  <a:srgbClr val="FF0000"/>
                </a:solidFill>
                <a:ea typeface="MS PMincho"/>
                <a:cs typeface="Mangal"/>
              </a:rPr>
              <a:t>Tools </a:t>
            </a:r>
            <a:r>
              <a:rPr lang="en-US" sz="2000" dirty="0">
                <a:ea typeface="MS PMincho"/>
                <a:cs typeface="Mangal"/>
              </a:rPr>
              <a:t>: </a:t>
            </a:r>
            <a:r>
              <a:rPr lang="en-US" sz="2000" err="1">
                <a:ea typeface="MS PMincho"/>
                <a:cs typeface="Mangal"/>
              </a:rPr>
              <a:t>dSPACE</a:t>
            </a:r>
            <a:r>
              <a:rPr lang="en-US" sz="2000" dirty="0">
                <a:ea typeface="MS PMincho"/>
                <a:cs typeface="Mangal"/>
              </a:rPr>
              <a:t> , NI </a:t>
            </a:r>
            <a:r>
              <a:rPr lang="en-US" sz="2000" err="1">
                <a:ea typeface="MS PMincho"/>
                <a:cs typeface="Mangal"/>
              </a:rPr>
              <a:t>VertiStand</a:t>
            </a:r>
            <a:r>
              <a:rPr lang="en-US" sz="2000" dirty="0">
                <a:ea typeface="MS PMincho"/>
                <a:cs typeface="Mangal"/>
              </a:rPr>
              <a:t> ,</a:t>
            </a:r>
            <a:endParaRPr lang="en-US" sz="2000">
              <a:ea typeface="MS PMincho"/>
            </a:endParaRPr>
          </a:p>
          <a:p>
            <a:r>
              <a:rPr lang="en-US" sz="1800" dirty="0">
                <a:ea typeface="MS PMincho"/>
                <a:cs typeface="Mangal"/>
              </a:rPr>
              <a:t>OPAL-RT</a:t>
            </a:r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dirty="0">
              <a:ea typeface="MS PMincho"/>
            </a:endParaRPr>
          </a:p>
        </p:txBody>
      </p:sp>
    </p:spTree>
    <p:extLst>
      <p:ext uri="{BB962C8B-B14F-4D97-AF65-F5344CB8AC3E}">
        <p14:creationId xmlns:p14="http://schemas.microsoft.com/office/powerpoint/2010/main" val="1887748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58662C13-C701-3146-F24F-359E7855853F}"/>
              </a:ext>
            </a:extLst>
          </p:cNvPr>
          <p:cNvSpPr>
            <a:spLocks noGrp="1"/>
          </p:cNvSpPr>
          <p:nvPr/>
        </p:nvSpPr>
        <p:spPr>
          <a:xfrm>
            <a:off x="2968551" y="235403"/>
            <a:ext cx="5958713" cy="489576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FF0000"/>
                </a:solidFill>
                <a:ea typeface="MS PMincho"/>
                <a:cs typeface="Mangal"/>
              </a:rPr>
              <a:t>Types of simulations </a:t>
            </a:r>
            <a:endParaRPr lang="en-US" sz="3600">
              <a:solidFill>
                <a:srgbClr val="FF0000"/>
              </a:solidFill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F2A3D8F-E4FE-E9E3-0A91-D1B2483B95E9}"/>
              </a:ext>
            </a:extLst>
          </p:cNvPr>
          <p:cNvSpPr>
            <a:spLocks noGrp="1"/>
          </p:cNvSpPr>
          <p:nvPr/>
        </p:nvSpPr>
        <p:spPr>
          <a:xfrm>
            <a:off x="4093488" y="565109"/>
            <a:ext cx="3793082" cy="908867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j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ea typeface="MS PMincho"/>
                <a:cs typeface="Mangal"/>
              </a:rPr>
              <a:t>                                                              </a:t>
            </a:r>
            <a:r>
              <a:rPr lang="en-US" sz="2800" dirty="0">
                <a:solidFill>
                  <a:srgbClr val="FF0000"/>
                </a:solidFill>
                <a:ea typeface="MS PMincho"/>
                <a:cs typeface="Mangal"/>
              </a:rPr>
              <a:t> </a:t>
            </a:r>
            <a:r>
              <a:rPr lang="en-US" sz="2800" b="1" dirty="0">
                <a:solidFill>
                  <a:srgbClr val="FF0000"/>
                </a:solidFill>
                <a:ea typeface="MS PMincho"/>
                <a:cs typeface="Mangal"/>
              </a:rPr>
              <a:t>2.sensor simulation</a:t>
            </a:r>
            <a:r>
              <a:rPr lang="en-US" sz="2800" dirty="0">
                <a:solidFill>
                  <a:srgbClr val="FF0000"/>
                </a:solidFill>
                <a:ea typeface="MS PMincho"/>
                <a:cs typeface="Mangal"/>
              </a:rPr>
              <a:t> </a:t>
            </a:r>
            <a:endParaRPr lang="en-US" sz="2800" b="1" dirty="0">
              <a:solidFill>
                <a:srgbClr val="FF0000"/>
              </a:solidFill>
              <a:ea typeface="MS PMincho"/>
              <a:cs typeface="Mangal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dirty="0">
              <a:ea typeface="MS PMincho"/>
            </a:endParaRPr>
          </a:p>
        </p:txBody>
      </p:sp>
      <p:pic>
        <p:nvPicPr>
          <p:cNvPr id="6" name="Picture 5" descr="A screenshot of a video game&#10;&#10;Description automatically generated">
            <a:extLst>
              <a:ext uri="{FF2B5EF4-FFF2-40B4-BE49-F238E27FC236}">
                <a16:creationId xmlns:a16="http://schemas.microsoft.com/office/drawing/2014/main" id="{1D0CFC2A-71FE-C2A1-8478-74CF43D81C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1" r="1692" b="2506"/>
          <a:stretch/>
        </p:blipFill>
        <p:spPr>
          <a:xfrm>
            <a:off x="3973606" y="1540808"/>
            <a:ext cx="7690811" cy="4359099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BB66F91-626D-7E3F-4133-5EBB1597ADAC}"/>
              </a:ext>
            </a:extLst>
          </p:cNvPr>
          <p:cNvSpPr txBox="1">
            <a:spLocks/>
          </p:cNvSpPr>
          <p:nvPr/>
        </p:nvSpPr>
        <p:spPr>
          <a:xfrm>
            <a:off x="619664" y="1259873"/>
            <a:ext cx="3232788" cy="441630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ea typeface="MS PMincho"/>
                <a:cs typeface="Mangal"/>
              </a:rPr>
              <a:t>                                               </a:t>
            </a:r>
            <a:endParaRPr lang="en-US" sz="1800">
              <a:ea typeface="MS PMincho"/>
            </a:endParaRPr>
          </a:p>
          <a:p>
            <a:r>
              <a:rPr lang="en-US" sz="1800" dirty="0">
                <a:ea typeface="MS PMincho"/>
                <a:cs typeface="Mangal"/>
              </a:rPr>
              <a:t>Help generate data from sensors like LIDAR, radar ,and cameras </a:t>
            </a:r>
            <a:endParaRPr lang="en-US" sz="1800" dirty="0">
              <a:ea typeface="MS PMincho"/>
            </a:endParaRPr>
          </a:p>
          <a:p>
            <a:r>
              <a:rPr lang="en-US" sz="1800" dirty="0">
                <a:ea typeface="MS PMincho"/>
                <a:cs typeface="Mangal"/>
              </a:rPr>
              <a:t>We can fine-tune perception algorithms without risking any real-life mishaps </a:t>
            </a:r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r>
              <a:rPr lang="en-US" sz="2000" b="1" dirty="0">
                <a:solidFill>
                  <a:srgbClr val="FF0000"/>
                </a:solidFill>
                <a:ea typeface="MS PMincho"/>
                <a:cs typeface="Mangal"/>
              </a:rPr>
              <a:t>Tools </a:t>
            </a:r>
            <a:r>
              <a:rPr lang="en-US" sz="1800" dirty="0">
                <a:ea typeface="MS PMincho"/>
                <a:cs typeface="Mangal"/>
              </a:rPr>
              <a:t>: ROS with gazebo , </a:t>
            </a:r>
            <a:r>
              <a:rPr lang="en-US" sz="1800" dirty="0" err="1">
                <a:ea typeface="MS PMincho"/>
                <a:cs typeface="Mangal"/>
              </a:rPr>
              <a:t>Autoware</a:t>
            </a:r>
            <a:r>
              <a:rPr lang="en-US" sz="1800" dirty="0">
                <a:ea typeface="MS PMincho"/>
                <a:cs typeface="Mangal"/>
              </a:rPr>
              <a:t> , MATLAB/Simulink </a:t>
            </a:r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dirty="0">
              <a:ea typeface="MS PMincho"/>
            </a:endParaRPr>
          </a:p>
        </p:txBody>
      </p:sp>
    </p:spTree>
    <p:extLst>
      <p:ext uri="{BB962C8B-B14F-4D97-AF65-F5344CB8AC3E}">
        <p14:creationId xmlns:p14="http://schemas.microsoft.com/office/powerpoint/2010/main" val="176849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E827B92-4165-77AE-6266-4F15490CB9D8}"/>
              </a:ext>
            </a:extLst>
          </p:cNvPr>
          <p:cNvSpPr>
            <a:spLocks noGrp="1"/>
          </p:cNvSpPr>
          <p:nvPr/>
        </p:nvSpPr>
        <p:spPr>
          <a:xfrm>
            <a:off x="3714471" y="225507"/>
            <a:ext cx="4757573" cy="558848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FF0000"/>
                </a:solidFill>
                <a:ea typeface="MS PMincho"/>
                <a:cs typeface="Mangal"/>
              </a:rPr>
              <a:t>Types of simulations </a:t>
            </a:r>
            <a:endParaRPr lang="en-US" sz="3600">
              <a:solidFill>
                <a:srgbClr val="FF0000"/>
              </a:solidFill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97452BE-B497-1345-8E3D-3765907A2B8C}"/>
              </a:ext>
            </a:extLst>
          </p:cNvPr>
          <p:cNvSpPr>
            <a:spLocks noGrp="1"/>
          </p:cNvSpPr>
          <p:nvPr/>
        </p:nvSpPr>
        <p:spPr>
          <a:xfrm>
            <a:off x="4482346" y="858644"/>
            <a:ext cx="3229005" cy="59219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j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ea typeface="MS PMincho"/>
                <a:cs typeface="Mangal"/>
              </a:rPr>
              <a:t>       </a:t>
            </a:r>
            <a:r>
              <a:rPr lang="en-US" sz="2400" b="1" dirty="0">
                <a:solidFill>
                  <a:srgbClr val="FF0000"/>
                </a:solidFill>
                <a:ea typeface="MS PMincho"/>
                <a:cs typeface="Mangal"/>
              </a:rPr>
              <a:t>3.senario simulation </a:t>
            </a: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dirty="0">
              <a:ea typeface="MS PMincho"/>
            </a:endParaRPr>
          </a:p>
        </p:txBody>
      </p:sp>
      <p:pic>
        <p:nvPicPr>
          <p:cNvPr id="6" name="Picture 5" descr="A screenshot of a video game&#10;&#10;Description automatically generated">
            <a:extLst>
              <a:ext uri="{FF2B5EF4-FFF2-40B4-BE49-F238E27FC236}">
                <a16:creationId xmlns:a16="http://schemas.microsoft.com/office/drawing/2014/main" id="{E9C6D046-0F23-B293-0D92-5D149FF78C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1" r="1961"/>
          <a:stretch/>
        </p:blipFill>
        <p:spPr>
          <a:xfrm>
            <a:off x="4130488" y="1540808"/>
            <a:ext cx="7696207" cy="447115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65BEDD4-849D-1F98-634B-DD515FF2D895}"/>
              </a:ext>
            </a:extLst>
          </p:cNvPr>
          <p:cNvSpPr txBox="1">
            <a:spLocks/>
          </p:cNvSpPr>
          <p:nvPr/>
        </p:nvSpPr>
        <p:spPr>
          <a:xfrm>
            <a:off x="421742" y="1536964"/>
            <a:ext cx="3232788" cy="441630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ea typeface="MS PMincho"/>
                <a:cs typeface="Mangal"/>
              </a:rPr>
              <a:t>                                              Scenario-based simulation creates </a:t>
            </a:r>
            <a:r>
              <a:rPr lang="en-US" dirty="0">
                <a:ea typeface="MS PMincho"/>
                <a:cs typeface="Mangal"/>
              </a:rPr>
              <a:t>predefined</a:t>
            </a:r>
            <a:r>
              <a:rPr lang="en-US" sz="1800" dirty="0">
                <a:ea typeface="MS PMincho"/>
                <a:cs typeface="Mangal"/>
              </a:rPr>
              <a:t> driving scenarios to test how self-driving cars react in specific situations, such as lane changes, intersections, or emergencies</a:t>
            </a:r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r>
              <a:rPr lang="en-US" sz="2000" b="1" dirty="0">
                <a:solidFill>
                  <a:srgbClr val="FF0000"/>
                </a:solidFill>
                <a:ea typeface="MS PMincho"/>
                <a:cs typeface="Mangal"/>
              </a:rPr>
              <a:t>Tools </a:t>
            </a:r>
            <a:r>
              <a:rPr lang="en-US" sz="1800" dirty="0">
                <a:ea typeface="MS PMincho"/>
                <a:cs typeface="Mangal"/>
              </a:rPr>
              <a:t>: CARLA , NVIDIA DRIVE Sim , and LGSVL </a:t>
            </a:r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sz="1800" dirty="0">
              <a:ea typeface="MS PMincho"/>
            </a:endParaRPr>
          </a:p>
          <a:p>
            <a:endParaRPr lang="en-US" dirty="0">
              <a:ea typeface="MS PMincho"/>
            </a:endParaRPr>
          </a:p>
        </p:txBody>
      </p:sp>
    </p:spTree>
    <p:extLst>
      <p:ext uri="{BB962C8B-B14F-4D97-AF65-F5344CB8AC3E}">
        <p14:creationId xmlns:p14="http://schemas.microsoft.com/office/powerpoint/2010/main" val="3640344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4F4B0FEE-D7B0-0361-015D-CB06B549A6B4}"/>
              </a:ext>
            </a:extLst>
          </p:cNvPr>
          <p:cNvSpPr>
            <a:spLocks noGrp="1"/>
          </p:cNvSpPr>
          <p:nvPr/>
        </p:nvSpPr>
        <p:spPr>
          <a:xfrm>
            <a:off x="2078215" y="149972"/>
            <a:ext cx="7959020" cy="773573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ea typeface="MS PMincho"/>
                <a:cs typeface="Mangal"/>
              </a:rPr>
              <a:t>              WHY ROS ? 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3196FE4-E911-1769-78BE-26DBAB91F53E}"/>
              </a:ext>
            </a:extLst>
          </p:cNvPr>
          <p:cNvSpPr>
            <a:spLocks noGrp="1"/>
          </p:cNvSpPr>
          <p:nvPr/>
        </p:nvSpPr>
        <p:spPr>
          <a:xfrm>
            <a:off x="765881" y="1223598"/>
            <a:ext cx="10595225" cy="50161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cs typeface="Mangal"/>
              </a:rPr>
              <a:t>Writing low level code for robotic apps including self driving cars is cumbersome!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Ability to reuse components </a:t>
            </a: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Open source </a:t>
            </a: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Your app is interfaced with the OS not the hardware </a:t>
            </a:r>
            <a:endParaRPr lang="en-US" sz="2000" dirty="0">
              <a:solidFill>
                <a:schemeClr val="tx1"/>
              </a:solidFill>
              <a:ea typeface="Calibri"/>
              <a:cs typeface="Mangal"/>
            </a:endParaRP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A small core-package , the rest </a:t>
            </a:r>
            <a:r>
              <a:rPr lang="en-US" sz="2000" err="1">
                <a:solidFill>
                  <a:schemeClr val="tx1"/>
                </a:solidFill>
                <a:cs typeface="Mangal"/>
              </a:rPr>
              <a:t>Distrubuted</a:t>
            </a:r>
            <a:r>
              <a:rPr lang="en-US" sz="2000" dirty="0">
                <a:solidFill>
                  <a:schemeClr val="tx1"/>
                </a:solidFill>
                <a:cs typeface="Mangal"/>
              </a:rPr>
              <a:t> open packages</a:t>
            </a: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Growing community </a:t>
            </a: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Ros </a:t>
            </a:r>
            <a:r>
              <a:rPr lang="en-US" sz="2000" dirty="0" err="1">
                <a:solidFill>
                  <a:schemeClr val="tx1"/>
                </a:solidFill>
                <a:cs typeface="Mangal"/>
              </a:rPr>
              <a:t>enaples</a:t>
            </a:r>
            <a:r>
              <a:rPr lang="en-US" sz="2000" dirty="0">
                <a:solidFill>
                  <a:schemeClr val="tx1"/>
                </a:solidFill>
                <a:cs typeface="Mangal"/>
              </a:rPr>
              <a:t> groups of people to work on </a:t>
            </a:r>
            <a:r>
              <a:rPr lang="en-US" sz="2000" dirty="0" err="1">
                <a:solidFill>
                  <a:schemeClr val="tx1"/>
                </a:solidFill>
                <a:cs typeface="Mangal"/>
              </a:rPr>
              <a:t>comlec</a:t>
            </a:r>
            <a:r>
              <a:rPr lang="en-US" sz="2000" dirty="0">
                <a:solidFill>
                  <a:schemeClr val="tx1"/>
                </a:solidFill>
                <a:cs typeface="Mangal"/>
              </a:rPr>
              <a:t> projects by providing a common and well organized framework, while adding a minimal amount of overhead </a:t>
            </a:r>
            <a:endParaRPr lang="en-US" sz="2000" dirty="0">
              <a:solidFill>
                <a:schemeClr val="tx1"/>
              </a:solidFill>
              <a:ea typeface="Calibri"/>
              <a:cs typeface="Mangal"/>
            </a:endParaRP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Has a rich set of bash commands : </a:t>
            </a:r>
            <a:r>
              <a:rPr lang="en-US" sz="2000" dirty="0" err="1">
                <a:solidFill>
                  <a:schemeClr val="tx1"/>
                </a:solidFill>
                <a:cs typeface="Mangal"/>
              </a:rPr>
              <a:t>roscd</a:t>
            </a:r>
            <a:r>
              <a:rPr lang="en-US" sz="2000" dirty="0">
                <a:solidFill>
                  <a:schemeClr val="tx1"/>
                </a:solidFill>
                <a:cs typeface="Mangal"/>
              </a:rPr>
              <a:t> , </a:t>
            </a:r>
            <a:r>
              <a:rPr lang="en-US" sz="2000" dirty="0" err="1">
                <a:solidFill>
                  <a:schemeClr val="tx1"/>
                </a:solidFill>
                <a:cs typeface="Mangal"/>
              </a:rPr>
              <a:t>rospack</a:t>
            </a:r>
            <a:r>
              <a:rPr lang="en-US" sz="2000" dirty="0">
                <a:solidFill>
                  <a:schemeClr val="tx1"/>
                </a:solidFill>
                <a:cs typeface="Mangal"/>
              </a:rPr>
              <a:t> , </a:t>
            </a:r>
            <a:r>
              <a:rPr lang="en-US" sz="2000" dirty="0" err="1">
                <a:solidFill>
                  <a:schemeClr val="tx1"/>
                </a:solidFill>
                <a:cs typeface="Mangal"/>
              </a:rPr>
              <a:t>rosmaek</a:t>
            </a:r>
            <a:r>
              <a:rPr lang="en-US" sz="2000" dirty="0">
                <a:solidFill>
                  <a:schemeClr val="tx1"/>
                </a:solidFill>
                <a:cs typeface="Mangal"/>
              </a:rPr>
              <a:t>, </a:t>
            </a:r>
            <a:r>
              <a:rPr lang="en-US" sz="2000" dirty="0" err="1">
                <a:solidFill>
                  <a:schemeClr val="tx1"/>
                </a:solidFill>
                <a:cs typeface="Mangal"/>
              </a:rPr>
              <a:t>rosnode</a:t>
            </a:r>
            <a:r>
              <a:rPr lang="en-US" sz="2000" dirty="0">
                <a:solidFill>
                  <a:schemeClr val="tx1"/>
                </a:solidFill>
                <a:cs typeface="Mangal"/>
              </a:rPr>
              <a:t> , </a:t>
            </a:r>
            <a:r>
              <a:rPr lang="en-US" sz="2000" dirty="0" err="1">
                <a:solidFill>
                  <a:schemeClr val="tx1"/>
                </a:solidFill>
                <a:cs typeface="Mangal"/>
              </a:rPr>
              <a:t>rostopic</a:t>
            </a:r>
            <a:r>
              <a:rPr lang="en-US" sz="2000" dirty="0">
                <a:solidFill>
                  <a:schemeClr val="tx1"/>
                </a:solidFill>
                <a:cs typeface="Mangal"/>
              </a:rPr>
              <a:t> </a:t>
            </a: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Language independence </a:t>
            </a:r>
          </a:p>
          <a:p>
            <a:r>
              <a:rPr lang="en-US" sz="2000" dirty="0">
                <a:solidFill>
                  <a:schemeClr val="tx1"/>
                </a:solidFill>
                <a:cs typeface="Mangal"/>
              </a:rPr>
              <a:t>Easy testing  </a:t>
            </a:r>
          </a:p>
        </p:txBody>
      </p:sp>
    </p:spTree>
    <p:extLst>
      <p:ext uri="{BB962C8B-B14F-4D97-AF65-F5344CB8AC3E}">
        <p14:creationId xmlns:p14="http://schemas.microsoft.com/office/powerpoint/2010/main" val="353002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4F4B0FEE-D7B0-0361-015D-CB06B549A6B4}"/>
              </a:ext>
            </a:extLst>
          </p:cNvPr>
          <p:cNvSpPr>
            <a:spLocks noGrp="1"/>
          </p:cNvSpPr>
          <p:nvPr/>
        </p:nvSpPr>
        <p:spPr>
          <a:xfrm>
            <a:off x="2256345" y="-57845"/>
            <a:ext cx="6217306" cy="981391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a typeface="MS PMincho"/>
                <a:cs typeface="Mangal"/>
              </a:rPr>
              <a:t>              WHY ROS ? 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" name="Picture 1" descr="A diagram of a system&#10;&#10;Description automatically generated">
            <a:extLst>
              <a:ext uri="{FF2B5EF4-FFF2-40B4-BE49-F238E27FC236}">
                <a16:creationId xmlns:a16="http://schemas.microsoft.com/office/drawing/2014/main" id="{72D88075-DD3D-8EEE-F0CE-449540DC2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40" y="924607"/>
            <a:ext cx="6305055" cy="4810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D6C669-6D02-FBC2-52B9-5756D6FE88AD}"/>
              </a:ext>
            </a:extLst>
          </p:cNvPr>
          <p:cNvSpPr txBox="1"/>
          <p:nvPr/>
        </p:nvSpPr>
        <p:spPr>
          <a:xfrm>
            <a:off x="188025" y="969818"/>
            <a:ext cx="5145974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4000" dirty="0">
                <a:ea typeface="Calibri"/>
                <a:cs typeface="Calibri"/>
              </a:rPr>
              <a:t>HW abstraction </a:t>
            </a:r>
            <a:br>
              <a:rPr lang="en-US" sz="4000" dirty="0">
                <a:ea typeface="Calibri"/>
                <a:cs typeface="Calibri"/>
              </a:rPr>
            </a:br>
            <a:endParaRPr lang="en-US" sz="4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Calibri"/>
                <a:cs typeface="Calibri"/>
              </a:rPr>
              <a:t>Filesystem </a:t>
            </a:r>
            <a:br>
              <a:rPr lang="en-US" sz="4000" dirty="0">
                <a:ea typeface="Calibri"/>
                <a:cs typeface="Calibri"/>
              </a:rPr>
            </a:br>
            <a:endParaRPr lang="en-US" sz="4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Calibri"/>
                <a:cs typeface="Calibri"/>
              </a:rPr>
              <a:t>Libraries and tools </a:t>
            </a:r>
            <a:br>
              <a:rPr lang="en-US" sz="4000" dirty="0">
                <a:ea typeface="Calibri"/>
                <a:cs typeface="Calibri"/>
              </a:rPr>
            </a:br>
            <a:endParaRPr lang="en-US" sz="4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Calibri"/>
                <a:cs typeface="Calibri"/>
              </a:rPr>
              <a:t>Message passing </a:t>
            </a:r>
          </a:p>
        </p:txBody>
      </p:sp>
    </p:spTree>
    <p:extLst>
      <p:ext uri="{BB962C8B-B14F-4D97-AF65-F5344CB8AC3E}">
        <p14:creationId xmlns:p14="http://schemas.microsoft.com/office/powerpoint/2010/main" val="2991274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4F4B0FEE-D7B0-0361-015D-CB06B549A6B4}"/>
              </a:ext>
            </a:extLst>
          </p:cNvPr>
          <p:cNvSpPr>
            <a:spLocks noGrp="1"/>
          </p:cNvSpPr>
          <p:nvPr/>
        </p:nvSpPr>
        <p:spPr>
          <a:xfrm>
            <a:off x="2256345" y="-57845"/>
            <a:ext cx="6217306" cy="981391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a typeface="MS PMincho"/>
                <a:cs typeface="Mangal"/>
              </a:rPr>
              <a:t>                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6C669-6D02-FBC2-52B9-5756D6FE88AD}"/>
              </a:ext>
            </a:extLst>
          </p:cNvPr>
          <p:cNvSpPr txBox="1"/>
          <p:nvPr/>
        </p:nvSpPr>
        <p:spPr>
          <a:xfrm>
            <a:off x="1316180" y="524494"/>
            <a:ext cx="5145974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Nodes </a:t>
            </a:r>
            <a:br>
              <a:rPr lang="en-US" sz="4000" b="1" dirty="0">
                <a:ea typeface="Calibri"/>
                <a:cs typeface="Calibri"/>
              </a:rPr>
            </a:br>
            <a:endParaRPr lang="en-US" sz="40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Topics</a:t>
            </a:r>
            <a:br>
              <a:rPr lang="en-US" sz="4000" b="1" dirty="0">
                <a:ea typeface="Calibri"/>
                <a:cs typeface="Calibri"/>
              </a:rPr>
            </a:br>
            <a:endParaRPr lang="en-US" sz="40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Messages</a:t>
            </a:r>
            <a:br>
              <a:rPr lang="en-US" sz="4000" b="1" dirty="0">
                <a:ea typeface="Calibri"/>
                <a:cs typeface="Calibri"/>
              </a:rPr>
            </a:br>
            <a:endParaRPr lang="en-US" sz="40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Master </a:t>
            </a:r>
          </a:p>
          <a:p>
            <a:endParaRPr lang="en-US" sz="4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4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40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BE725-3A20-AC72-0C9E-C0D08F218910}"/>
              </a:ext>
            </a:extLst>
          </p:cNvPr>
          <p:cNvSpPr txBox="1"/>
          <p:nvPr/>
        </p:nvSpPr>
        <p:spPr>
          <a:xfrm>
            <a:off x="6402778" y="49480"/>
            <a:ext cx="5145974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4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Services</a:t>
            </a:r>
            <a:br>
              <a:rPr lang="en-US" sz="4000" b="1" dirty="0">
                <a:ea typeface="Calibri"/>
                <a:cs typeface="Calibri"/>
              </a:rPr>
            </a:br>
            <a:endParaRPr lang="en-US" sz="40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Actions</a:t>
            </a:r>
            <a:br>
              <a:rPr lang="en-US" sz="4000" b="1" dirty="0">
                <a:ea typeface="Calibri"/>
                <a:cs typeface="Calibri"/>
              </a:rPr>
            </a:br>
            <a:r>
              <a:rPr lang="en-US" sz="4000" b="1" dirty="0">
                <a:ea typeface="Calibri"/>
                <a:cs typeface="Calibri"/>
              </a:rPr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Parameter Server</a:t>
            </a:r>
            <a:br>
              <a:rPr lang="en-US" sz="4000" b="1" dirty="0">
                <a:ea typeface="Calibri"/>
                <a:cs typeface="Calibri"/>
              </a:rPr>
            </a:br>
            <a:endParaRPr lang="en-US" sz="40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Bags </a:t>
            </a:r>
          </a:p>
          <a:p>
            <a:pPr marL="285750" indent="-285750">
              <a:buFont typeface="Arial"/>
              <a:buChar char="•"/>
            </a:pPr>
            <a:endParaRPr lang="en-US" sz="4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4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4192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37897E2-5FAE-1002-83C5-7550DF738FBC}"/>
              </a:ext>
            </a:extLst>
          </p:cNvPr>
          <p:cNvSpPr>
            <a:spLocks noGrp="1"/>
          </p:cNvSpPr>
          <p:nvPr/>
        </p:nvSpPr>
        <p:spPr>
          <a:xfrm>
            <a:off x="409040" y="626341"/>
            <a:ext cx="4515362" cy="43164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err="1">
                <a:solidFill>
                  <a:schemeClr val="tx1"/>
                </a:solidFill>
                <a:latin typeface="Arial"/>
                <a:cs typeface="Arial"/>
              </a:rPr>
              <a:t>roscore</a:t>
            </a:r>
            <a:endParaRPr lang="en-US" sz="2400">
              <a:solidFill>
                <a:schemeClr val="tx1"/>
              </a:solidFill>
              <a:ea typeface="Calibri"/>
            </a:endParaRPr>
          </a:p>
          <a:p>
            <a:pPr lvl="1">
              <a:buSzPct val="114999"/>
            </a:pPr>
            <a:r>
              <a:rPr lang="en-US" sz="2400" dirty="0">
                <a:solidFill>
                  <a:schemeClr val="tx1"/>
                </a:solidFill>
                <a:latin typeface="Arial"/>
                <a:cs typeface="Arial"/>
              </a:rPr>
              <a:t>Every new node register details of the message streams it publishes, and the topics to which it wishes to subscribe</a:t>
            </a:r>
            <a:endParaRPr lang="en-US" sz="2400">
              <a:solidFill>
                <a:schemeClr val="tx1"/>
              </a:solidFill>
              <a:ea typeface="Calibri"/>
            </a:endParaRPr>
          </a:p>
          <a:p>
            <a:pPr lvl="1">
              <a:buSzPct val="114999"/>
            </a:pPr>
            <a:r>
              <a:rPr lang="en-US" sz="2400" dirty="0">
                <a:solidFill>
                  <a:schemeClr val="tx1"/>
                </a:solidFill>
                <a:latin typeface="Arial"/>
                <a:cs typeface="Arial"/>
              </a:rPr>
              <a:t>Provides each node with the information that is needed for communication</a:t>
            </a:r>
            <a:endParaRPr lang="en-US" sz="2400">
              <a:solidFill>
                <a:schemeClr val="tx1"/>
              </a:solidFill>
              <a:ea typeface="Calibri"/>
            </a:endParaRPr>
          </a:p>
          <a:p>
            <a:pPr>
              <a:buSzPct val="114999"/>
            </a:pPr>
            <a:r>
              <a:rPr lang="en-US" sz="2400" dirty="0">
                <a:solidFill>
                  <a:schemeClr val="tx1"/>
                </a:solidFill>
                <a:latin typeface="Arial"/>
                <a:cs typeface="Arial"/>
              </a:rPr>
              <a:t>Provides a </a:t>
            </a: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parameter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/>
                <a:cs typeface="Arial"/>
              </a:rPr>
              <a:t>server, which is used for configurations </a:t>
            </a:r>
          </a:p>
        </p:txBody>
      </p:sp>
      <p:pic>
        <p:nvPicPr>
          <p:cNvPr id="5" name="Picture 4" descr="A diagram of a system&#10;&#10;Description automatically generated">
            <a:extLst>
              <a:ext uri="{FF2B5EF4-FFF2-40B4-BE49-F238E27FC236}">
                <a16:creationId xmlns:a16="http://schemas.microsoft.com/office/drawing/2014/main" id="{B322AB77-E763-3666-7D7C-F3BFFBB85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175" y="1032903"/>
            <a:ext cx="5410200" cy="4657725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87795CC2-4C76-6D0C-7FDF-B3C84E8CCEC1}"/>
              </a:ext>
            </a:extLst>
          </p:cNvPr>
          <p:cNvSpPr>
            <a:spLocks noGrp="1"/>
          </p:cNvSpPr>
          <p:nvPr/>
        </p:nvSpPr>
        <p:spPr>
          <a:xfrm>
            <a:off x="2607396" y="271654"/>
            <a:ext cx="4890228" cy="696714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dirty="0"/>
            </a:br>
            <a:r>
              <a:rPr lang="en-US" dirty="0">
                <a:ea typeface="MS PMincho"/>
                <a:cs typeface="Mangal"/>
              </a:rPr>
              <a:t>Ros anatomy </a:t>
            </a:r>
          </a:p>
        </p:txBody>
      </p:sp>
    </p:spTree>
    <p:extLst>
      <p:ext uri="{BB962C8B-B14F-4D97-AF65-F5344CB8AC3E}">
        <p14:creationId xmlns:p14="http://schemas.microsoft.com/office/powerpoint/2010/main" val="2857232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63FAF6EE-42B8-1DC5-5DE4-5866F22AE144}"/>
              </a:ext>
            </a:extLst>
          </p:cNvPr>
          <p:cNvSpPr>
            <a:spLocks noGrp="1"/>
          </p:cNvSpPr>
          <p:nvPr/>
        </p:nvSpPr>
        <p:spPr>
          <a:xfrm>
            <a:off x="2078215" y="149972"/>
            <a:ext cx="4980293" cy="929436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MS PMincho"/>
                <a:ea typeface="MS PMincho"/>
                <a:cs typeface="Mangal"/>
              </a:rPr>
              <a:t>ROS ANATOMY 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8351764-6938-2245-7F7B-BE3AF8CD520A}"/>
              </a:ext>
            </a:extLst>
          </p:cNvPr>
          <p:cNvSpPr>
            <a:spLocks noGrp="1"/>
          </p:cNvSpPr>
          <p:nvPr/>
        </p:nvSpPr>
        <p:spPr>
          <a:xfrm>
            <a:off x="498686" y="1085053"/>
            <a:ext cx="10742429" cy="477364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Catkin</a:t>
            </a:r>
            <a:endParaRPr 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70309020205020404" pitchFamily="49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ROS build system: the set of tools that ROS uses to generate executable programs, libraries, scripts, and interfaces that other code can use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Workspace</a:t>
            </a:r>
            <a:endParaRPr lang="en-US">
              <a:solidFill>
                <a:schemeClr val="tx1"/>
              </a:solidFill>
            </a:endParaRPr>
          </a:p>
          <a:p>
            <a:pPr marL="742950" lvl="1" indent="-285750">
              <a:buFont typeface="Arial" panose="02070309020205020404" pitchFamily="49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The same as a project folder in C/C++</a:t>
            </a:r>
            <a:endParaRPr lang="en-US">
              <a:solidFill>
                <a:schemeClr val="tx1"/>
              </a:solidFill>
            </a:endParaRPr>
          </a:p>
          <a:p>
            <a:pPr marL="742950" lvl="1" indent="-285750">
              <a:buFont typeface="Arial" panose="02070309020205020404" pitchFamily="49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Contains </a:t>
            </a:r>
            <a:r>
              <a:rPr lang="en-US" sz="1800" b="1" dirty="0" err="1">
                <a:solidFill>
                  <a:schemeClr val="tx1"/>
                </a:solidFill>
                <a:latin typeface="Arial"/>
                <a:cs typeface="Arial"/>
              </a:rPr>
              <a:t>src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Arial"/>
                <a:cs typeface="Arial"/>
              </a:rPr>
              <a:t>devel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build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folders</a:t>
            </a:r>
            <a:endParaRPr lang="en-US">
              <a:solidFill>
                <a:schemeClr val="tx1"/>
              </a:solidFill>
            </a:endParaRPr>
          </a:p>
          <a:p>
            <a:pPr marL="742950" lvl="1" indent="-285750">
              <a:buFont typeface="Arial" panose="02070309020205020404" pitchFamily="49" charset="0"/>
              <a:buChar char="•"/>
            </a:pPr>
            <a:r>
              <a:rPr lang="en-US" sz="1800" b="1" dirty="0" err="1">
                <a:solidFill>
                  <a:schemeClr val="tx1"/>
                </a:solidFill>
                <a:latin typeface="Arial"/>
                <a:cs typeface="Arial"/>
              </a:rPr>
              <a:t>src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folder contains the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packages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and the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CMakeLists.txt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(</a:t>
            </a:r>
            <a:r>
              <a:rPr lang="en-US" sz="1800" dirty="0" err="1">
                <a:solidFill>
                  <a:schemeClr val="tx1"/>
                </a:solidFill>
                <a:latin typeface="Arial"/>
                <a:cs typeface="Arial"/>
              </a:rPr>
              <a:t>toplevel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/>
                <a:cs typeface="Arial"/>
              </a:rPr>
              <a:t>cmake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) 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ROS Package</a:t>
            </a:r>
            <a:endParaRPr lang="en-US">
              <a:solidFill>
                <a:schemeClr val="tx1"/>
              </a:solidFill>
            </a:endParaRPr>
          </a:p>
          <a:p>
            <a:pPr marL="742950" lvl="1" indent="-285750">
              <a:buFont typeface="Arial" panose="02070309020205020404" pitchFamily="49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Used for organization purposes, each of which contains some combination of code, data, and documentation</a:t>
            </a:r>
            <a:endParaRPr lang="en-US">
              <a:solidFill>
                <a:schemeClr val="tx1"/>
              </a:solidFill>
            </a:endParaRPr>
          </a:p>
          <a:p>
            <a:pPr marL="742950" lvl="1" indent="-285750">
              <a:buFont typeface="Arial" panose="02070309020205020404" pitchFamily="49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Contains </a:t>
            </a:r>
            <a:r>
              <a:rPr lang="en-US" sz="1800" b="1" dirty="0" err="1">
                <a:solidFill>
                  <a:schemeClr val="tx1"/>
                </a:solidFill>
                <a:latin typeface="Arial"/>
                <a:cs typeface="Arial"/>
              </a:rPr>
              <a:t>src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folder, which holds the code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SzPct val="114999"/>
              <a:buFont typeface="Arial" panose="02070309020205020404" pitchFamily="49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Contains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package.xml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, and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CMakeLists.txt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ins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package.xml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, and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CMakeLists.txt 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604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DCC8A012-B0C5-BBA4-02F2-AD04B6D6ACED}"/>
              </a:ext>
            </a:extLst>
          </p:cNvPr>
          <p:cNvSpPr>
            <a:spLocks noGrp="1"/>
          </p:cNvSpPr>
          <p:nvPr/>
        </p:nvSpPr>
        <p:spPr>
          <a:xfrm>
            <a:off x="2078215" y="149972"/>
            <a:ext cx="7959020" cy="773573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MS PMincho"/>
                <a:ea typeface="MS PMincho"/>
                <a:cs typeface="Mangal"/>
              </a:rPr>
              <a:t>ROS ANATOMY 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765D57F-521D-1B22-AA6B-9A236D9F70B8}"/>
              </a:ext>
            </a:extLst>
          </p:cNvPr>
          <p:cNvSpPr>
            <a:spLocks noGrp="1"/>
          </p:cNvSpPr>
          <p:nvPr/>
        </p:nvSpPr>
        <p:spPr>
          <a:xfrm>
            <a:off x="687949" y="1033098"/>
            <a:ext cx="10742429" cy="31024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RECAP</a:t>
            </a:r>
          </a:p>
          <a:p>
            <a:pPr>
              <a:buFont typeface="Arial" panose="02070309020205020404" pitchFamily="49" charset="0"/>
              <a:buChar char="•"/>
            </a:pPr>
            <a:r>
              <a:rPr lang="en-US" sz="1800" b="1" dirty="0" err="1">
                <a:solidFill>
                  <a:schemeClr val="tx1"/>
                </a:solidFill>
                <a:latin typeface="Arial"/>
                <a:cs typeface="Arial"/>
              </a:rPr>
              <a:t>roscore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“coordinator”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Catkin: </a:t>
            </a:r>
            <a:r>
              <a:rPr lang="en-US" sz="1800" dirty="0" err="1">
                <a:solidFill>
                  <a:schemeClr val="tx1"/>
                </a:solidFill>
                <a:latin typeface="Arial"/>
                <a:cs typeface="Arial"/>
              </a:rPr>
              <a:t>ros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build tools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Devel: </a:t>
            </a:r>
            <a:r>
              <a:rPr lang="en-US" sz="1800" dirty="0" err="1">
                <a:solidFill>
                  <a:schemeClr val="tx1"/>
                </a:solidFill>
                <a:latin typeface="Arial"/>
                <a:cs typeface="Arial"/>
              </a:rPr>
              <a:t>setup.bash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(Environment variables)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Build: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binaries and executables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CMakeLists.txt: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Dependencies</a:t>
            </a:r>
            <a:endParaRPr lang="en-US">
              <a:solidFill>
                <a:schemeClr val="tx1"/>
              </a:solidFill>
            </a:endParaRPr>
          </a:p>
          <a:p>
            <a:pPr>
              <a:buSzPct val="114999"/>
              <a:buFont typeface="Arial" panose="02070309020205020404" pitchFamily="49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package.xml: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Package metadata and documentation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356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A79163DB-8373-9F09-3F0A-C261EE2DDBBE}"/>
              </a:ext>
            </a:extLst>
          </p:cNvPr>
          <p:cNvSpPr>
            <a:spLocks noGrp="1"/>
          </p:cNvSpPr>
          <p:nvPr/>
        </p:nvSpPr>
        <p:spPr>
          <a:xfrm>
            <a:off x="3893568" y="138766"/>
            <a:ext cx="3252550" cy="459809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MS PMincho"/>
                <a:ea typeface="MS PMincho"/>
                <a:cs typeface="Mangal"/>
              </a:rPr>
              <a:t>ROS SETUP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7383F07-1F25-0A0C-946C-7A0C573003D9}"/>
              </a:ext>
            </a:extLst>
          </p:cNvPr>
          <p:cNvSpPr>
            <a:spLocks noGrp="1"/>
          </p:cNvSpPr>
          <p:nvPr/>
        </p:nvSpPr>
        <p:spPr>
          <a:xfrm>
            <a:off x="628428" y="630705"/>
            <a:ext cx="7439751" cy="51302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Create a new directory </a:t>
            </a:r>
            <a:endParaRPr lang="en-US">
              <a:solidFill>
                <a:schemeClr val="tx1"/>
              </a:solidFill>
              <a:ea typeface="+mn-lt"/>
            </a:endParaRPr>
          </a:p>
          <a:p>
            <a:pPr algn="ctr">
              <a:buSzPct val="114999"/>
            </a:pPr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mkdir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 -p ~/</a:t>
            </a:r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catkin_ws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/</a:t>
            </a:r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src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Open </a:t>
            </a:r>
            <a:r>
              <a:rPr lang="en-US" sz="1800" b="1" dirty="0" err="1">
                <a:solidFill>
                  <a:schemeClr val="tx1"/>
                </a:solidFill>
                <a:latin typeface="Arial"/>
                <a:cs typeface="Arial"/>
              </a:rPr>
              <a:t>src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folder 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cd ~/</a:t>
            </a:r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catkin_ws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/</a:t>
            </a:r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src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/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Make a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catkin workspace 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catkin_init_workspace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return to </a:t>
            </a:r>
            <a:r>
              <a:rPr lang="en-US" sz="1800" b="1" dirty="0" err="1">
                <a:solidFill>
                  <a:schemeClr val="tx1"/>
                </a:solidFill>
                <a:latin typeface="Arial"/>
                <a:cs typeface="Arial"/>
              </a:rPr>
              <a:t>catkin_ws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 cd ~/</a:t>
            </a:r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catkin_ws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br>
              <a:rPr lang="en-US" dirty="0"/>
            </a:br>
            <a:endParaRPr lang="en-US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build the workspace (Adds </a:t>
            </a:r>
            <a:r>
              <a:rPr lang="en-US" sz="1800" b="1" err="1">
                <a:solidFill>
                  <a:schemeClr val="tx1"/>
                </a:solidFill>
                <a:latin typeface="Arial"/>
                <a:cs typeface="Arial"/>
              </a:rPr>
              <a:t>devel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and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build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folders)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catkin_make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Apply the environment variables from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/</a:t>
            </a:r>
            <a:r>
              <a:rPr lang="en-US" sz="1800" b="1" err="1">
                <a:solidFill>
                  <a:schemeClr val="tx1"/>
                </a:solidFill>
                <a:latin typeface="Arial"/>
                <a:cs typeface="Arial"/>
              </a:rPr>
              <a:t>devel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/</a:t>
            </a:r>
            <a:r>
              <a:rPr lang="en-US" sz="1800" b="1" err="1">
                <a:solidFill>
                  <a:schemeClr val="tx1"/>
                </a:solidFill>
                <a:latin typeface="Arial"/>
                <a:cs typeface="Arial"/>
              </a:rPr>
              <a:t>setup.bash</a:t>
            </a:r>
            <a:endParaRPr lang="en-US" b="1">
              <a:solidFill>
                <a:schemeClr val="tx1"/>
              </a:solidFill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source </a:t>
            </a:r>
            <a:r>
              <a:rPr lang="en-US" sz="1800" b="1" err="1">
                <a:solidFill>
                  <a:schemeClr val="tx1"/>
                </a:solidFill>
                <a:ea typeface="+mn-lt"/>
                <a:cs typeface="+mn-lt"/>
              </a:rPr>
              <a:t>devel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/</a:t>
            </a:r>
            <a:r>
              <a:rPr lang="en-US" sz="1800" b="1" err="1">
                <a:solidFill>
                  <a:schemeClr val="tx1"/>
                </a:solidFill>
                <a:ea typeface="+mn-lt"/>
                <a:cs typeface="+mn-lt"/>
              </a:rPr>
              <a:t>setup.bash</a:t>
            </a:r>
            <a:endParaRPr lang="en-US" err="1">
              <a:solidFill>
                <a:schemeClr val="tx1"/>
              </a:solidFill>
            </a:endParaRPr>
          </a:p>
          <a:p>
            <a:pPr>
              <a:buSzPct val="114999"/>
              <a:buFont typeface="Arial" panose="02070309020205020404" pitchFamily="49" charset="0"/>
              <a:buChar char="•"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141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A79163DB-8373-9F09-3F0A-C261EE2DDBBE}"/>
              </a:ext>
            </a:extLst>
          </p:cNvPr>
          <p:cNvSpPr>
            <a:spLocks noGrp="1"/>
          </p:cNvSpPr>
          <p:nvPr/>
        </p:nvSpPr>
        <p:spPr>
          <a:xfrm>
            <a:off x="3893568" y="138766"/>
            <a:ext cx="4118459" cy="459809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MS PMincho"/>
                <a:ea typeface="MS PMincho"/>
                <a:cs typeface="Mangal"/>
              </a:rPr>
              <a:t>Workspace  SETUP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7383F07-1F25-0A0C-946C-7A0C573003D9}"/>
              </a:ext>
            </a:extLst>
          </p:cNvPr>
          <p:cNvSpPr>
            <a:spLocks noGrp="1"/>
          </p:cNvSpPr>
          <p:nvPr/>
        </p:nvSpPr>
        <p:spPr>
          <a:xfrm>
            <a:off x="541837" y="1089637"/>
            <a:ext cx="7439751" cy="51302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Open </a:t>
            </a:r>
            <a:r>
              <a:rPr lang="en-US" sz="1800" b="1" dirty="0" err="1">
                <a:solidFill>
                  <a:schemeClr val="tx1"/>
                </a:solidFill>
                <a:latin typeface="Arial"/>
                <a:cs typeface="Arial"/>
              </a:rPr>
              <a:t>src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folder </a:t>
            </a:r>
            <a:r>
              <a:rPr lang="en-US" sz="1800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             </a:t>
            </a:r>
            <a:r>
              <a:rPr lang="en-US" sz="1800" b="1" dirty="0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cd ~/</a:t>
            </a:r>
            <a:r>
              <a:rPr lang="en-US" sz="1800" b="1" dirty="0" err="1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catkin_ws</a:t>
            </a:r>
            <a:r>
              <a:rPr lang="en-US" sz="1800" b="1" dirty="0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/</a:t>
            </a:r>
            <a:r>
              <a:rPr lang="en-US" sz="1800" b="1" dirty="0" err="1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src</a:t>
            </a:r>
            <a:br>
              <a:rPr lang="en-US" sz="1800" b="1" dirty="0">
                <a:solidFill>
                  <a:schemeClr val="tx1"/>
                </a:solidFill>
                <a:latin typeface="Ubuntu Mono"/>
                <a:ea typeface="+mn-lt"/>
                <a:cs typeface="+mn-lt"/>
              </a:rPr>
            </a:br>
            <a:endParaRPr lang="en-US" dirty="0" err="1">
              <a:solidFill>
                <a:schemeClr val="tx1"/>
              </a:solidFill>
              <a:latin typeface="Ubuntu Mono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Creating a new package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       </a:t>
            </a:r>
            <a:r>
              <a:rPr lang="en-US" sz="1800" b="1" dirty="0" err="1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catkin_create_pkg</a:t>
            </a:r>
            <a:r>
              <a:rPr lang="en-US" sz="1800" b="1" dirty="0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my_pkg</a:t>
            </a:r>
            <a:r>
              <a:rPr lang="en-US" sz="1800" b="1" dirty="0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Ubuntu Mono"/>
                <a:ea typeface="+mn-lt"/>
                <a:cs typeface="+mn-lt"/>
              </a:rPr>
              <a:t>rospy</a:t>
            </a:r>
            <a:endParaRPr lang="en-US" dirty="0">
              <a:solidFill>
                <a:schemeClr val="tx1"/>
              </a:solidFill>
              <a:ea typeface="Calibri" panose="020F0502020204030204"/>
            </a:endParaRPr>
          </a:p>
          <a:p>
            <a:br>
              <a:rPr lang="en-US" dirty="0"/>
            </a:br>
            <a:endParaRPr lang="en-US" dirty="0"/>
          </a:p>
          <a:p>
            <a:pPr>
              <a:buSzPct val="114999"/>
              <a:buFont typeface="Arial" panose="02070309020205020404" pitchFamily="49" charset="0"/>
              <a:buChar char="•"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291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A79163DB-8373-9F09-3F0A-C261EE2DDBBE}"/>
              </a:ext>
            </a:extLst>
          </p:cNvPr>
          <p:cNvSpPr>
            <a:spLocks noGrp="1"/>
          </p:cNvSpPr>
          <p:nvPr/>
        </p:nvSpPr>
        <p:spPr>
          <a:xfrm>
            <a:off x="3832954" y="242675"/>
            <a:ext cx="4118459" cy="459809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MS PMincho"/>
                <a:ea typeface="MS PMincho"/>
                <a:cs typeface="Mangal"/>
              </a:rPr>
              <a:t>Simple publisher </a:t>
            </a:r>
            <a:endParaRPr lang="en-US" sz="3200" b="1" dirty="0">
              <a:solidFill>
                <a:srgbClr val="FF0000"/>
              </a:solidFill>
              <a:latin typeface="MS PMincho"/>
            </a:endParaRPr>
          </a:p>
        </p:txBody>
      </p:sp>
      <p:pic>
        <p:nvPicPr>
          <p:cNvPr id="2" name="Picture 1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C953EA11-1A09-ABE4-8FA9-7B68751E59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986" b="240"/>
          <a:stretch/>
        </p:blipFill>
        <p:spPr>
          <a:xfrm>
            <a:off x="2466239" y="758042"/>
            <a:ext cx="5903079" cy="496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00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A79163DB-8373-9F09-3F0A-C261EE2DDBBE}"/>
              </a:ext>
            </a:extLst>
          </p:cNvPr>
          <p:cNvSpPr>
            <a:spLocks noGrp="1"/>
          </p:cNvSpPr>
          <p:nvPr/>
        </p:nvSpPr>
        <p:spPr>
          <a:xfrm>
            <a:off x="3832954" y="242675"/>
            <a:ext cx="4430186" cy="459809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MS PMincho"/>
                <a:ea typeface="MS PMincho"/>
                <a:cs typeface="Mangal"/>
              </a:rPr>
              <a:t>Simple subscriber </a:t>
            </a:r>
            <a:endParaRPr lang="en-US" sz="3200" b="1" dirty="0">
              <a:solidFill>
                <a:srgbClr val="FF0000"/>
              </a:solidFill>
              <a:latin typeface="MS PMincho"/>
            </a:endParaRPr>
          </a:p>
        </p:txBody>
      </p:sp>
      <p:pic>
        <p:nvPicPr>
          <p:cNvPr id="2" name="Picture 1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953EA11-1A09-ABE4-8FA9-7B68751E59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65" r="232" b="174"/>
          <a:stretch/>
        </p:blipFill>
        <p:spPr>
          <a:xfrm>
            <a:off x="2466239" y="758042"/>
            <a:ext cx="6650776" cy="495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19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6BF16E55-10BF-0CBE-FD54-7E7766178E59}"/>
              </a:ext>
            </a:extLst>
          </p:cNvPr>
          <p:cNvSpPr>
            <a:spLocks noGrp="1"/>
          </p:cNvSpPr>
          <p:nvPr/>
        </p:nvSpPr>
        <p:spPr>
          <a:xfrm>
            <a:off x="3649052" y="2423529"/>
            <a:ext cx="4900800" cy="1060173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b="1" dirty="0">
                <a:solidFill>
                  <a:srgbClr val="FF0000"/>
                </a:solidFill>
                <a:ea typeface="MS PMincho"/>
                <a:cs typeface="Mangal"/>
              </a:rPr>
              <a:t>WHAT IS NEXT ?</a:t>
            </a:r>
            <a:endParaRPr lang="en-US" sz="6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504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SIMULATION </vt:lpstr>
      <vt:lpstr>PowerPoint Presentation</vt:lpstr>
      <vt:lpstr>Simulation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414</cp:revision>
  <dcterms:created xsi:type="dcterms:W3CDTF">2023-09-24T02:14:10Z</dcterms:created>
  <dcterms:modified xsi:type="dcterms:W3CDTF">2023-10-08T05:13:43Z</dcterms:modified>
</cp:coreProperties>
</file>