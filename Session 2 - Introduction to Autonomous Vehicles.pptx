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8288000" cy="10287000"/>
  <p:notesSz cx="6858000" cy="9144000"/>
  <p:embeddedFontLst>
    <p:embeddedFont>
      <p:font typeface="Arimo" panose="020B0604020202020204" pitchFamily="34" charset="0"/>
      <p:regular r:id="rId65"/>
    </p:embeddedFont>
    <p:embeddedFont>
      <p:font typeface="Arimo Bold" panose="020B0704020202020204" pitchFamily="34" charset="0"/>
      <p:regular r:id="rId66"/>
    </p:embeddedFont>
    <p:embeddedFont>
      <p:font typeface="Arimo Bold Italics" panose="020B0704020202090204" pitchFamily="34" charset="0"/>
      <p:regular r:id="rId67"/>
    </p:embeddedFont>
    <p:embeddedFont>
      <p:font typeface="Arimo Italics" panose="020B0604020202090204" pitchFamily="34" charset="0"/>
      <p:regular r:id="rId68"/>
    </p:embeddedFont>
    <p:embeddedFont>
      <p:font typeface="Canva Sans" panose="020B0503030501040103"/>
      <p:regular r:id="rId69"/>
    </p:embeddedFont>
    <p:embeddedFont>
      <p:font typeface="Canva Sans Bold" panose="020B0803030501040103"/>
      <p:regular r:id="rId70"/>
    </p:embeddedFont>
    <p:embeddedFont>
      <p:font typeface="Canva Sans Bold Italics" panose="020B0803030501040103" pitchFamily="34" charset="0"/>
      <p:regular r:id="rId71"/>
    </p:embeddedFont>
    <p:embeddedFont>
      <p:font typeface="Canva Sans Italics" panose="020B0503030501040103" pitchFamily="34" charset="0"/>
      <p:regular r:id="rId72"/>
    </p:embeddedFont>
    <p:embeddedFont>
      <p:font typeface="Canva Sans Medium" panose="020B0603030501040103" pitchFamily="34" charset="0"/>
      <p:regular r:id="rId73"/>
    </p:embeddedFont>
    <p:embeddedFont>
      <p:font typeface="Canva Sans Medium Italics" panose="020B0603030501040103" pitchFamily="34" charset="0"/>
      <p:regular r:id="rId74"/>
    </p:embeddedFont>
    <p:embeddedFont>
      <p:font typeface="Glacial Indifference" pitchFamily="2" charset="0"/>
      <p:regular r:id="rId75"/>
    </p:embeddedFont>
    <p:embeddedFont>
      <p:font typeface="Glacial Indifference Bold" pitchFamily="2" charset="0"/>
      <p:regular r:id="rId76"/>
    </p:embeddedFont>
    <p:embeddedFont>
      <p:font typeface="Glacial Indifference Bold Italics" pitchFamily="2" charset="0"/>
      <p:regular r:id="rId77"/>
    </p:embeddedFont>
    <p:embeddedFont>
      <p:font typeface="Glacial Indifference Italics" pitchFamily="2" charset="0"/>
      <p:regular r:id="rId78"/>
    </p:embeddedFont>
    <p:embeddedFont>
      <p:font typeface="HK Grotesk" pitchFamily="2" charset="0"/>
      <p:regular r:id="rId79"/>
    </p:embeddedFont>
    <p:embeddedFont>
      <p:font typeface="HK Grotesk Bold" pitchFamily="2" charset="0"/>
      <p:regular r:id="rId80"/>
    </p:embeddedFont>
    <p:embeddedFont>
      <p:font typeface="HK Grotesk Bold Italics" pitchFamily="2" charset="0"/>
      <p:regular r:id="rId81"/>
    </p:embeddedFont>
    <p:embeddedFont>
      <p:font typeface="HK Grotesk Italics" pitchFamily="2" charset="0"/>
      <p:regular r:id="rId82"/>
    </p:embeddedFont>
    <p:embeddedFont>
      <p:font typeface="HK Grotesk Light" pitchFamily="2" charset="0"/>
      <p:regular r:id="rId83"/>
    </p:embeddedFont>
    <p:embeddedFont>
      <p:font typeface="HK Grotesk Light Italics" pitchFamily="2" charset="0"/>
      <p:regular r:id="rId84"/>
    </p:embeddedFont>
    <p:embeddedFont>
      <p:font typeface="HK Grotesk Medium" pitchFamily="2" charset="0"/>
      <p:regular r:id="rId85"/>
    </p:embeddedFont>
    <p:embeddedFont>
      <p:font typeface="HK Grotesk Medium Italics" pitchFamily="2" charset="0"/>
      <p:regular r:id="rId86"/>
    </p:embeddedFont>
    <p:embeddedFont>
      <p:font typeface="HK Grotesk Semi-Bold" pitchFamily="2" charset="0"/>
      <p:regular r:id="rId87"/>
    </p:embeddedFont>
    <p:embeddedFont>
      <p:font typeface="HK Grotesk Semi-Bold Italics" pitchFamily="2" charset="0"/>
      <p:regular r:id="rId8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font" Target="fonts/font4.fntdata" /><Relationship Id="rId76" Type="http://schemas.openxmlformats.org/officeDocument/2006/relationships/font" Target="fonts/font12.fntdata" /><Relationship Id="rId84" Type="http://schemas.openxmlformats.org/officeDocument/2006/relationships/font" Target="fonts/font20.fntdata" /><Relationship Id="rId89" Type="http://schemas.openxmlformats.org/officeDocument/2006/relationships/presProps" Target="presProps.xml" /><Relationship Id="rId7" Type="http://schemas.openxmlformats.org/officeDocument/2006/relationships/slide" Target="slides/slide6.xml" /><Relationship Id="rId71" Type="http://schemas.openxmlformats.org/officeDocument/2006/relationships/font" Target="fonts/font7.fntdata" /><Relationship Id="rId92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font" Target="fonts/font2.fntdata" /><Relationship Id="rId74" Type="http://schemas.openxmlformats.org/officeDocument/2006/relationships/font" Target="fonts/font10.fntdata" /><Relationship Id="rId79" Type="http://schemas.openxmlformats.org/officeDocument/2006/relationships/font" Target="fonts/font15.fntdata" /><Relationship Id="rId87" Type="http://schemas.openxmlformats.org/officeDocument/2006/relationships/font" Target="fonts/font23.fntdata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82" Type="http://schemas.openxmlformats.org/officeDocument/2006/relationships/font" Target="fonts/font18.fntdata" /><Relationship Id="rId90" Type="http://schemas.openxmlformats.org/officeDocument/2006/relationships/viewProps" Target="viewProps.xml" /><Relationship Id="rId19" Type="http://schemas.openxmlformats.org/officeDocument/2006/relationships/slide" Target="slides/slide1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font" Target="fonts/font5.fntdata" /><Relationship Id="rId77" Type="http://schemas.openxmlformats.org/officeDocument/2006/relationships/font" Target="fonts/font13.fntdata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font" Target="fonts/font8.fntdata" /><Relationship Id="rId80" Type="http://schemas.openxmlformats.org/officeDocument/2006/relationships/font" Target="fonts/font16.fntdata" /><Relationship Id="rId85" Type="http://schemas.openxmlformats.org/officeDocument/2006/relationships/font" Target="fonts/font21.fntdata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font" Target="fonts/font3.fntdata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font" Target="fonts/font6.fntdata" /><Relationship Id="rId75" Type="http://schemas.openxmlformats.org/officeDocument/2006/relationships/font" Target="fonts/font11.fntdata" /><Relationship Id="rId83" Type="http://schemas.openxmlformats.org/officeDocument/2006/relationships/font" Target="fonts/font19.fntdata" /><Relationship Id="rId88" Type="http://schemas.openxmlformats.org/officeDocument/2006/relationships/font" Target="fonts/font24.fntdata" /><Relationship Id="rId9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10" Type="http://schemas.openxmlformats.org/officeDocument/2006/relationships/slide" Target="slides/slide9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font" Target="fonts/font1.fntdata" /><Relationship Id="rId73" Type="http://schemas.openxmlformats.org/officeDocument/2006/relationships/font" Target="fonts/font9.fntdata" /><Relationship Id="rId78" Type="http://schemas.openxmlformats.org/officeDocument/2006/relationships/font" Target="fonts/font14.fntdata" /><Relationship Id="rId81" Type="http://schemas.openxmlformats.org/officeDocument/2006/relationships/font" Target="fonts/font17.fntdata" /><Relationship Id="rId86" Type="http://schemas.openxmlformats.org/officeDocument/2006/relationships/font" Target="fonts/font22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5.jpeg" /><Relationship Id="rId4" Type="http://schemas.openxmlformats.org/officeDocument/2006/relationships/image" Target="../media/image1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7.sv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9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 /><Relationship Id="rId3" Type="http://schemas.openxmlformats.org/officeDocument/2006/relationships/image" Target="../media/image10.png" /><Relationship Id="rId7" Type="http://schemas.openxmlformats.org/officeDocument/2006/relationships/image" Target="../media/image1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jpeg" /><Relationship Id="rId5" Type="http://schemas.openxmlformats.org/officeDocument/2006/relationships/image" Target="../media/image7.svg" /><Relationship Id="rId4" Type="http://schemas.openxmlformats.org/officeDocument/2006/relationships/image" Target="../media/image6.png" 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 /><Relationship Id="rId3" Type="http://schemas.openxmlformats.org/officeDocument/2006/relationships/image" Target="../media/image6.png" /><Relationship Id="rId7" Type="http://schemas.openxmlformats.org/officeDocument/2006/relationships/image" Target="../media/image16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5.jpeg" /><Relationship Id="rId5" Type="http://schemas.openxmlformats.org/officeDocument/2006/relationships/image" Target="../media/image14.jpeg" /><Relationship Id="rId4" Type="http://schemas.openxmlformats.org/officeDocument/2006/relationships/image" Target="../media/image7.sv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 /><Relationship Id="rId3" Type="http://schemas.openxmlformats.org/officeDocument/2006/relationships/image" Target="../media/image6.png" /><Relationship Id="rId7" Type="http://schemas.openxmlformats.org/officeDocument/2006/relationships/image" Target="../media/image2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1.jpeg" /><Relationship Id="rId5" Type="http://schemas.openxmlformats.org/officeDocument/2006/relationships/image" Target="../media/image20.jpeg" /><Relationship Id="rId4" Type="http://schemas.openxmlformats.org/officeDocument/2006/relationships/image" Target="../media/image7.svg" /><Relationship Id="rId9" Type="http://schemas.openxmlformats.org/officeDocument/2006/relationships/image" Target="../media/image24.jpe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7.svg" /><Relationship Id="rId4" Type="http://schemas.openxmlformats.org/officeDocument/2006/relationships/image" Target="../media/image6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7.svg" /><Relationship Id="rId4" Type="http://schemas.openxmlformats.org/officeDocument/2006/relationships/image" Target="../media/image6.pn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7.svg" /><Relationship Id="rId4" Type="http://schemas.openxmlformats.org/officeDocument/2006/relationships/image" Target="../media/image6.pn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7.svg" /><Relationship Id="rId4" Type="http://schemas.openxmlformats.org/officeDocument/2006/relationships/image" Target="../media/image6.png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 /><Relationship Id="rId3" Type="http://schemas.openxmlformats.org/officeDocument/2006/relationships/image" Target="../media/image6.png" /><Relationship Id="rId7" Type="http://schemas.openxmlformats.org/officeDocument/2006/relationships/image" Target="../media/image37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6.jpeg" /><Relationship Id="rId5" Type="http://schemas.openxmlformats.org/officeDocument/2006/relationships/image" Target="../media/image35.jpeg" /><Relationship Id="rId4" Type="http://schemas.openxmlformats.org/officeDocument/2006/relationships/image" Target="../media/image7.svg" 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 /><Relationship Id="rId3" Type="http://schemas.openxmlformats.org/officeDocument/2006/relationships/image" Target="../media/image6.png" /><Relationship Id="rId7" Type="http://schemas.openxmlformats.org/officeDocument/2006/relationships/image" Target="../media/image41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0.jpeg" /><Relationship Id="rId5" Type="http://schemas.openxmlformats.org/officeDocument/2006/relationships/image" Target="../media/image39.jpeg" /><Relationship Id="rId4" Type="http://schemas.openxmlformats.org/officeDocument/2006/relationships/image" Target="../media/image7.svg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7.svg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4.jpeg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9.jpeg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7.svg" /><Relationship Id="rId4" Type="http://schemas.openxmlformats.org/officeDocument/2006/relationships/image" Target="../media/image6.png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2.png" /><Relationship Id="rId5" Type="http://schemas.openxmlformats.org/officeDocument/2006/relationships/image" Target="../media/image7.svg" /><Relationship Id="rId4" Type="http://schemas.openxmlformats.org/officeDocument/2006/relationships/image" Target="../media/image6.png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7.svg" /><Relationship Id="rId4" Type="http://schemas.openxmlformats.org/officeDocument/2006/relationships/image" Target="../media/image6.png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4.png" /><Relationship Id="rId4" Type="http://schemas.openxmlformats.org/officeDocument/2006/relationships/image" Target="../media/image7.svg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7.svg" 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8.svg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8.svg" 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8.svg" 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8.svg" /><Relationship Id="rId4" Type="http://schemas.openxmlformats.org/officeDocument/2006/relationships/image" Target="../media/image57.png" 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9.png" /><Relationship Id="rId4" Type="http://schemas.openxmlformats.org/officeDocument/2006/relationships/image" Target="../media/image61.png" 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8.svg" /><Relationship Id="rId5" Type="http://schemas.openxmlformats.org/officeDocument/2006/relationships/image" Target="../media/image57.png" /><Relationship Id="rId4" Type="http://schemas.openxmlformats.org/officeDocument/2006/relationships/image" Target="../media/image61.png" 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8.svg" /><Relationship Id="rId4" Type="http://schemas.openxmlformats.org/officeDocument/2006/relationships/image" Target="../media/image57.png" 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8.svg" 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176595" y="-522202"/>
            <a:ext cx="9934809" cy="9934809"/>
          </a:xfrm>
          <a:custGeom>
            <a:avLst/>
            <a:gdLst/>
            <a:ahLst/>
            <a:cxnLst/>
            <a:rect l="l" t="t" r="r" b="b"/>
            <a:pathLst>
              <a:path w="9934809" h="9934809">
                <a:moveTo>
                  <a:pt x="0" y="0"/>
                </a:moveTo>
                <a:lnTo>
                  <a:pt x="9934810" y="0"/>
                </a:lnTo>
                <a:lnTo>
                  <a:pt x="9934810" y="9934809"/>
                </a:lnTo>
                <a:lnTo>
                  <a:pt x="0" y="99348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04521" y="3519806"/>
            <a:ext cx="15478959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Canva Sans Bold"/>
              </a:rPr>
              <a:t>Autonomous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565778"/>
            <a:ext cx="16995737" cy="7295981"/>
            <a:chOff x="0" y="0"/>
            <a:chExt cx="22660983" cy="9727975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22660983" cy="1644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 spc="416">
                  <a:solidFill>
                    <a:srgbClr val="000000"/>
                  </a:solidFill>
                  <a:latin typeface="Glacial Indifference Bold"/>
                </a:rPr>
                <a:t>RULES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72711"/>
              <a:ext cx="22660983" cy="8155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28368" lvl="1" indent="-464184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No side talks</a:t>
              </a:r>
            </a:p>
            <a:p>
              <a:pPr marL="928368" lvl="1" indent="-464184" algn="l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Phones are in silent mode</a:t>
              </a:r>
            </a:p>
            <a:p>
              <a:pPr marL="928368" lvl="1" indent="-464184" algn="l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Questions after each slide</a:t>
              </a:r>
            </a:p>
            <a:p>
              <a:pPr marL="928368" lvl="1" indent="-464184" algn="l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Take permission before leaving</a:t>
              </a:r>
            </a:p>
            <a:p>
              <a:pPr marL="928368" lvl="1" indent="-464184" algn="l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There will be a break during the session if you want to eat or drink</a:t>
              </a:r>
            </a:p>
            <a:p>
              <a:pPr marL="928368" lvl="1" indent="-464184" algn="l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Make sure to take notes about what is discussed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2348812"/>
            <a:ext cx="18288000" cy="482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Canva Sans Bold"/>
              </a:rPr>
              <a:t>Session 2</a:t>
            </a:r>
          </a:p>
          <a:p>
            <a:pPr marL="0" lvl="0" indent="0" algn="ctr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Canva Sans Bold"/>
              </a:rPr>
              <a:t>“Autonomous Cars systems and their integration”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AutoShape 3"/>
          <p:cNvSpPr/>
          <p:nvPr/>
        </p:nvSpPr>
        <p:spPr>
          <a:xfrm rot="-5400000">
            <a:off x="12303317" y="1700937"/>
            <a:ext cx="4877046" cy="5116262"/>
          </a:xfrm>
          <a:prstGeom prst="rect">
            <a:avLst/>
          </a:prstGeom>
          <a:solidFill>
            <a:srgbClr val="CF3D33"/>
          </a:solidFill>
          <a:ln cap="sq">
            <a:noFill/>
            <a:prstDash val="solid"/>
            <a:miter/>
          </a:ln>
        </p:spPr>
      </p:sp>
      <p:sp>
        <p:nvSpPr>
          <p:cNvPr id="4" name="AutoShape 4"/>
          <p:cNvSpPr/>
          <p:nvPr/>
        </p:nvSpPr>
        <p:spPr>
          <a:xfrm rot="-5400000">
            <a:off x="12386493" y="2253794"/>
            <a:ext cx="4741481" cy="447257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Freeform 5"/>
          <p:cNvSpPr/>
          <p:nvPr/>
        </p:nvSpPr>
        <p:spPr>
          <a:xfrm>
            <a:off x="12520946" y="2119341"/>
            <a:ext cx="4472574" cy="4578250"/>
          </a:xfrm>
          <a:custGeom>
            <a:avLst/>
            <a:gdLst/>
            <a:ahLst/>
            <a:cxnLst/>
            <a:rect l="l" t="t" r="r" b="b"/>
            <a:pathLst>
              <a:path w="4472574" h="4578250">
                <a:moveTo>
                  <a:pt x="0" y="0"/>
                </a:moveTo>
                <a:lnTo>
                  <a:pt x="4472575" y="0"/>
                </a:lnTo>
                <a:lnTo>
                  <a:pt x="4472575" y="4578250"/>
                </a:lnTo>
                <a:lnTo>
                  <a:pt x="0" y="457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1" r="-118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94062" y="933450"/>
            <a:ext cx="661547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About the instructor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9854" y="2358364"/>
            <a:ext cx="35754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cs typeface="Canva Sans"/>
              </a:rPr>
              <a:t>ٍHR member 2021</a:t>
            </a:r>
          </a:p>
        </p:txBody>
      </p:sp>
      <p:sp>
        <p:nvSpPr>
          <p:cNvPr id="8" name="AutoShape 8"/>
          <p:cNvSpPr/>
          <p:nvPr/>
        </p:nvSpPr>
        <p:spPr>
          <a:xfrm>
            <a:off x="-5463540" y="2681896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-5376368" y="3889952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-5376368" y="6788351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389854" y="3566419"/>
            <a:ext cx="805195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cs typeface="Canva Sans"/>
              </a:rPr>
              <a:t>ٍSuspension and steering member 2021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9854" y="6393698"/>
            <a:ext cx="416706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Team Manager 2022</a:t>
            </a:r>
          </a:p>
        </p:txBody>
      </p:sp>
      <p:sp>
        <p:nvSpPr>
          <p:cNvPr id="13" name="AutoShape 13"/>
          <p:cNvSpPr/>
          <p:nvPr/>
        </p:nvSpPr>
        <p:spPr>
          <a:xfrm>
            <a:off x="-5376368" y="8092265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477026" y="7697612"/>
            <a:ext cx="692134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Autonomous Subteam head 2023</a:t>
            </a:r>
          </a:p>
        </p:txBody>
      </p:sp>
      <p:sp>
        <p:nvSpPr>
          <p:cNvPr id="15" name="AutoShape 15"/>
          <p:cNvSpPr/>
          <p:nvPr/>
        </p:nvSpPr>
        <p:spPr>
          <a:xfrm>
            <a:off x="-5376368" y="5365316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389854" y="5041783"/>
            <a:ext cx="1045833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Participated in EVER Egypt Rally competition 2021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14400"/>
            <a:ext cx="315385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Agenda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02264"/>
            <a:ext cx="4967050" cy="679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>
              <a:lnSpc>
                <a:spcPts val="60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 Bold"/>
              </a:rPr>
              <a:t>Sensors Motivation</a:t>
            </a:r>
          </a:p>
          <a:p>
            <a:pPr marL="755651" lvl="1" indent="-377825">
              <a:lnSpc>
                <a:spcPts val="60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 Bold"/>
              </a:rPr>
              <a:t>Quiz 1</a:t>
            </a:r>
          </a:p>
          <a:p>
            <a:pPr marL="755651" lvl="1" indent="-377825">
              <a:lnSpc>
                <a:spcPts val="60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 Bold"/>
              </a:rPr>
              <a:t>Break Time</a:t>
            </a:r>
          </a:p>
          <a:p>
            <a:pPr marL="755651" lvl="1" indent="-377825">
              <a:lnSpc>
                <a:spcPts val="60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 Bold"/>
              </a:rPr>
              <a:t>Perception</a:t>
            </a:r>
          </a:p>
          <a:p>
            <a:pPr marL="755651" lvl="1" indent="-377825">
              <a:lnSpc>
                <a:spcPts val="60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 Bold"/>
              </a:rPr>
              <a:t>Planning</a:t>
            </a:r>
          </a:p>
          <a:p>
            <a:pPr marL="755651" lvl="1" indent="-377825">
              <a:lnSpc>
                <a:spcPts val="60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 Bold"/>
              </a:rPr>
              <a:t>Quiz Time</a:t>
            </a:r>
          </a:p>
          <a:p>
            <a:pPr marL="0" lvl="0" indent="0" algn="ctr">
              <a:lnSpc>
                <a:spcPts val="6055"/>
              </a:lnSpc>
            </a:pPr>
            <a:endParaRPr lang="en-US" sz="3500">
              <a:solidFill>
                <a:srgbClr val="000000"/>
              </a:solidFill>
              <a:latin typeface="Canva Sans Bold"/>
            </a:endParaRPr>
          </a:p>
          <a:p>
            <a:pPr marL="0" lvl="0" indent="0" algn="ctr">
              <a:lnSpc>
                <a:spcPts val="6055"/>
              </a:lnSpc>
            </a:pPr>
            <a:endParaRPr lang="en-US" sz="3500">
              <a:solidFill>
                <a:srgbClr val="000000"/>
              </a:solidFill>
              <a:latin typeface="Canva Sans Bold"/>
            </a:endParaRPr>
          </a:p>
          <a:p>
            <a:pPr marL="0" lvl="0" indent="0" algn="ctr">
              <a:lnSpc>
                <a:spcPts val="6055"/>
              </a:lnSpc>
            </a:pPr>
            <a:endParaRPr lang="en-US" sz="3500">
              <a:solidFill>
                <a:srgbClr val="000000"/>
              </a:solidFill>
              <a:latin typeface="Canva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17069" y="4240974"/>
            <a:ext cx="2273297" cy="2273297"/>
          </a:xfrm>
          <a:custGeom>
            <a:avLst/>
            <a:gdLst/>
            <a:ahLst/>
            <a:cxnLst/>
            <a:rect l="l" t="t" r="r" b="b"/>
            <a:pathLst>
              <a:path w="2273297" h="2273297">
                <a:moveTo>
                  <a:pt x="0" y="0"/>
                </a:moveTo>
                <a:lnTo>
                  <a:pt x="2273297" y="0"/>
                </a:lnTo>
                <a:lnTo>
                  <a:pt x="2273297" y="2273297"/>
                </a:lnTo>
                <a:lnTo>
                  <a:pt x="0" y="2273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0938200" y="5309929"/>
            <a:ext cx="2068934" cy="0"/>
          </a:xfrm>
          <a:prstGeom prst="line">
            <a:avLst/>
          </a:prstGeom>
          <a:ln w="104775" cap="flat">
            <a:solidFill>
              <a:srgbClr val="CF3D33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" name="AutoShape 5"/>
          <p:cNvSpPr/>
          <p:nvPr/>
        </p:nvSpPr>
        <p:spPr>
          <a:xfrm flipV="1">
            <a:off x="11292202" y="5082051"/>
            <a:ext cx="673728" cy="649488"/>
          </a:xfrm>
          <a:prstGeom prst="line">
            <a:avLst/>
          </a:prstGeom>
          <a:ln w="1333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11864200" y="5082051"/>
            <a:ext cx="673728" cy="649488"/>
          </a:xfrm>
          <a:prstGeom prst="line">
            <a:avLst/>
          </a:prstGeom>
          <a:ln w="1333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5190366" y="5309929"/>
            <a:ext cx="2068934" cy="0"/>
          </a:xfrm>
          <a:prstGeom prst="line">
            <a:avLst/>
          </a:prstGeom>
          <a:ln w="104775" cap="flat">
            <a:solidFill>
              <a:srgbClr val="CF3D33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" name="AutoShape 8"/>
          <p:cNvSpPr/>
          <p:nvPr/>
        </p:nvSpPr>
        <p:spPr>
          <a:xfrm flipV="1">
            <a:off x="15544368" y="5082051"/>
            <a:ext cx="673728" cy="649488"/>
          </a:xfrm>
          <a:prstGeom prst="line">
            <a:avLst/>
          </a:prstGeom>
          <a:ln w="1333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16116365" y="5082051"/>
            <a:ext cx="673728" cy="649488"/>
          </a:xfrm>
          <a:prstGeom prst="line">
            <a:avLst/>
          </a:prstGeom>
          <a:ln w="1333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866694" y="914400"/>
            <a:ext cx="1417855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To Complete the driving task we need: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4379" y="2096674"/>
            <a:ext cx="624054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Analyze the environment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8181" y="2938049"/>
            <a:ext cx="1328030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Get data from the environment and analyze it to understand what  is happening around and where we are </a:t>
            </a:r>
            <a:r>
              <a:rPr lang="en-US" sz="3399">
                <a:solidFill>
                  <a:srgbClr val="000000"/>
                </a:solidFill>
                <a:latin typeface="Canva Sans Bold"/>
              </a:rPr>
              <a:t>(System input)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8181" y="5703340"/>
            <a:ext cx="546699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Decisions and Actions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1983" y="6544715"/>
            <a:ext cx="1257173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Decide and plan to take actions and get the best solution based on given data </a:t>
            </a:r>
            <a:r>
              <a:rPr lang="en-US" sz="3399">
                <a:solidFill>
                  <a:srgbClr val="000000"/>
                </a:solidFill>
                <a:latin typeface="Canva Sans Bold"/>
              </a:rPr>
              <a:t>(System Output)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1" b="-231"/>
            </a:stretch>
          </a:blipFill>
        </p:spPr>
      </p:sp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3186314" y="2782830"/>
            <a:ext cx="11454364" cy="572718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66694" y="457200"/>
            <a:ext cx="1417855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To Complete the driving task we need: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6694" y="1601374"/>
            <a:ext cx="143363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OEDR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81740" y="1629949"/>
            <a:ext cx="12263512" cy="96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78"/>
              </a:lnSpc>
              <a:spcBef>
                <a:spcPct val="0"/>
              </a:spcBef>
            </a:pPr>
            <a:r>
              <a:rPr lang="en-US" sz="2770">
                <a:solidFill>
                  <a:srgbClr val="000000"/>
                </a:solidFill>
                <a:latin typeface="Canva Sans"/>
              </a:rPr>
              <a:t>Any driving task need some kind of object detection or event recognitions and then responding to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90192" y="-1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66694" y="457200"/>
            <a:ext cx="294977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Sensors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749014"/>
            <a:ext cx="1226351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</a:rPr>
              <a:t>A sensor is a device that detects and responds to some type of input from the physical environment</a:t>
            </a:r>
          </a:p>
        </p:txBody>
      </p:sp>
      <p:sp>
        <p:nvSpPr>
          <p:cNvPr id="5" name="Freeform 5"/>
          <p:cNvSpPr/>
          <p:nvPr/>
        </p:nvSpPr>
        <p:spPr>
          <a:xfrm>
            <a:off x="1124246" y="5237767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76985" y="5237767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66694" y="5837516"/>
            <a:ext cx="3454423" cy="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300" spc="52">
                <a:solidFill>
                  <a:srgbClr val="FFFFFF"/>
                </a:solidFill>
                <a:latin typeface="HK Grotesk Bold"/>
              </a:rPr>
              <a:t>Light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19432" y="5808941"/>
            <a:ext cx="3454423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46">
                <a:solidFill>
                  <a:srgbClr val="FFFFFF"/>
                </a:solidFill>
                <a:latin typeface="HK Grotesk Bold"/>
              </a:rPr>
              <a:t>Heat</a:t>
            </a:r>
          </a:p>
        </p:txBody>
      </p:sp>
      <p:sp>
        <p:nvSpPr>
          <p:cNvPr id="9" name="Freeform 9"/>
          <p:cNvSpPr/>
          <p:nvPr/>
        </p:nvSpPr>
        <p:spPr>
          <a:xfrm>
            <a:off x="1124246" y="716039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076985" y="716039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66694" y="7760144"/>
            <a:ext cx="3454423" cy="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300" spc="46">
                <a:solidFill>
                  <a:srgbClr val="FFFFFF"/>
                </a:solidFill>
                <a:latin typeface="HK Grotesk Bold"/>
              </a:rPr>
              <a:t>Motion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61880" y="7760144"/>
            <a:ext cx="3454423" cy="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ctr">
              <a:lnSpc>
                <a:spcPts val="2990"/>
              </a:lnSpc>
              <a:buFont typeface="Arial"/>
              <a:buChar char="•"/>
            </a:pPr>
            <a:r>
              <a:rPr lang="en-US" sz="2300" spc="46">
                <a:solidFill>
                  <a:srgbClr val="FFFFFF"/>
                </a:solidFill>
                <a:latin typeface="HK Grotesk Bold"/>
              </a:rPr>
              <a:t>Pressure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258955"/>
            <a:ext cx="439114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 Bold"/>
              </a:rPr>
              <a:t>Sensors input can be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9875" y="3258955"/>
            <a:ext cx="478238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 Bold"/>
              </a:rPr>
              <a:t>Sensors ouyput can be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88053" y="4058035"/>
            <a:ext cx="580831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The output is generally a signal that human can deal with</a:t>
            </a:r>
          </a:p>
        </p:txBody>
      </p:sp>
      <p:sp>
        <p:nvSpPr>
          <p:cNvPr id="16" name="Freeform 16"/>
          <p:cNvSpPr/>
          <p:nvPr/>
        </p:nvSpPr>
        <p:spPr>
          <a:xfrm>
            <a:off x="9896996" y="5155881"/>
            <a:ext cx="3008400" cy="1598212"/>
          </a:xfrm>
          <a:custGeom>
            <a:avLst/>
            <a:gdLst/>
            <a:ahLst/>
            <a:cxnLst/>
            <a:rect l="l" t="t" r="r" b="b"/>
            <a:pathLst>
              <a:path w="3008400" h="1598212">
                <a:moveTo>
                  <a:pt x="0" y="0"/>
                </a:moveTo>
                <a:lnTo>
                  <a:pt x="3008400" y="0"/>
                </a:lnTo>
                <a:lnTo>
                  <a:pt x="3008400" y="1598212"/>
                </a:lnTo>
                <a:lnTo>
                  <a:pt x="0" y="1598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942634" y="5155881"/>
            <a:ext cx="3008400" cy="1598212"/>
          </a:xfrm>
          <a:custGeom>
            <a:avLst/>
            <a:gdLst/>
            <a:ahLst/>
            <a:cxnLst/>
            <a:rect l="l" t="t" r="r" b="b"/>
            <a:pathLst>
              <a:path w="3008400" h="1598212">
                <a:moveTo>
                  <a:pt x="0" y="0"/>
                </a:moveTo>
                <a:lnTo>
                  <a:pt x="3008399" y="0"/>
                </a:lnTo>
                <a:lnTo>
                  <a:pt x="3008399" y="1598212"/>
                </a:lnTo>
                <a:lnTo>
                  <a:pt x="0" y="1598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633391" y="5770397"/>
            <a:ext cx="3535610" cy="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300" spc="52">
                <a:solidFill>
                  <a:srgbClr val="FFFFFF"/>
                </a:solidFill>
                <a:latin typeface="HK Grotesk Bold"/>
              </a:rPr>
              <a:t>Analog signal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23690" y="5731743"/>
            <a:ext cx="353561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46">
                <a:solidFill>
                  <a:srgbClr val="FFFFFF"/>
                </a:solidFill>
                <a:latin typeface="HK Grotesk Bold"/>
              </a:rPr>
              <a:t>Digital signal</a:t>
            </a:r>
          </a:p>
        </p:txBody>
      </p:sp>
      <p:sp>
        <p:nvSpPr>
          <p:cNvPr id="20" name="Freeform 20"/>
          <p:cNvSpPr/>
          <p:nvPr/>
        </p:nvSpPr>
        <p:spPr>
          <a:xfrm>
            <a:off x="9896996" y="7123696"/>
            <a:ext cx="3008400" cy="1598212"/>
          </a:xfrm>
          <a:custGeom>
            <a:avLst/>
            <a:gdLst/>
            <a:ahLst/>
            <a:cxnLst/>
            <a:rect l="l" t="t" r="r" b="b"/>
            <a:pathLst>
              <a:path w="3008400" h="1598212">
                <a:moveTo>
                  <a:pt x="0" y="0"/>
                </a:moveTo>
                <a:lnTo>
                  <a:pt x="3008400" y="0"/>
                </a:lnTo>
                <a:lnTo>
                  <a:pt x="3008400" y="1598212"/>
                </a:lnTo>
                <a:lnTo>
                  <a:pt x="0" y="1598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942634" y="7123696"/>
            <a:ext cx="3008400" cy="1598212"/>
          </a:xfrm>
          <a:custGeom>
            <a:avLst/>
            <a:gdLst/>
            <a:ahLst/>
            <a:cxnLst/>
            <a:rect l="l" t="t" r="r" b="b"/>
            <a:pathLst>
              <a:path w="3008400" h="1598212">
                <a:moveTo>
                  <a:pt x="0" y="0"/>
                </a:moveTo>
                <a:lnTo>
                  <a:pt x="3008399" y="0"/>
                </a:lnTo>
                <a:lnTo>
                  <a:pt x="3008399" y="1598212"/>
                </a:lnTo>
                <a:lnTo>
                  <a:pt x="0" y="1598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633391" y="7738212"/>
            <a:ext cx="3535610" cy="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300" spc="46">
                <a:solidFill>
                  <a:srgbClr val="FFFFFF"/>
                </a:solidFill>
                <a:latin typeface="HK Grotesk Bold"/>
              </a:rPr>
              <a:t>Resistence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15423" y="7738212"/>
            <a:ext cx="3535610" cy="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ctr">
              <a:lnSpc>
                <a:spcPts val="2990"/>
              </a:lnSpc>
              <a:buFont typeface="Arial"/>
              <a:buChar char="•"/>
            </a:pPr>
            <a:r>
              <a:rPr lang="en-US" sz="2300" spc="46">
                <a:solidFill>
                  <a:srgbClr val="FFFFFF"/>
                </a:solidFill>
                <a:latin typeface="HK Grotesk Bold"/>
              </a:rPr>
              <a:t>Pulse Count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4246" y="4058035"/>
            <a:ext cx="773452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The input of a sensor varies depending on the type of sensor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661483"/>
            <a:ext cx="7344960" cy="6105304"/>
          </a:xfrm>
          <a:custGeom>
            <a:avLst/>
            <a:gdLst/>
            <a:ahLst/>
            <a:cxnLst/>
            <a:rect l="l" t="t" r="r" b="b"/>
            <a:pathLst>
              <a:path w="7344960" h="6105304">
                <a:moveTo>
                  <a:pt x="0" y="0"/>
                </a:moveTo>
                <a:lnTo>
                  <a:pt x="7344960" y="0"/>
                </a:lnTo>
                <a:lnTo>
                  <a:pt x="7344960" y="6105304"/>
                </a:lnTo>
                <a:lnTo>
                  <a:pt x="0" y="6105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265485" y="2458887"/>
            <a:ext cx="7807033" cy="4997631"/>
          </a:xfrm>
          <a:custGeom>
            <a:avLst/>
            <a:gdLst/>
            <a:ahLst/>
            <a:cxnLst/>
            <a:rect l="l" t="t" r="r" b="b"/>
            <a:pathLst>
              <a:path w="7807033" h="4997631">
                <a:moveTo>
                  <a:pt x="0" y="0"/>
                </a:moveTo>
                <a:lnTo>
                  <a:pt x="7807033" y="0"/>
                </a:lnTo>
                <a:lnTo>
                  <a:pt x="7807033" y="4997631"/>
                </a:lnTo>
                <a:lnTo>
                  <a:pt x="0" y="499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444" r="-1731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66694" y="457200"/>
            <a:ext cx="294977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Sensors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6694" y="7760144"/>
            <a:ext cx="3454423" cy="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300" spc="46">
                <a:solidFill>
                  <a:srgbClr val="FFFFFF"/>
                </a:solidFill>
                <a:latin typeface="HK Grotesk Bold"/>
              </a:rPr>
              <a:t>Motion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61880" y="7760144"/>
            <a:ext cx="3454423" cy="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ctr">
              <a:lnSpc>
                <a:spcPts val="2990"/>
              </a:lnSpc>
              <a:buFont typeface="Arial"/>
              <a:buChar char="•"/>
            </a:pPr>
            <a:r>
              <a:rPr lang="en-US" sz="2300" spc="46">
                <a:solidFill>
                  <a:srgbClr val="FFFFFF"/>
                </a:solidFill>
                <a:latin typeface="HK Grotesk Bold"/>
              </a:rPr>
              <a:t>Pressure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33391" y="7738212"/>
            <a:ext cx="3535610" cy="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300" spc="46">
                <a:solidFill>
                  <a:srgbClr val="FFFFFF"/>
                </a:solidFill>
                <a:latin typeface="HK Grotesk Bold"/>
              </a:rPr>
              <a:t>Resistence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15423" y="7738212"/>
            <a:ext cx="3535610" cy="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ctr">
              <a:lnSpc>
                <a:spcPts val="2990"/>
              </a:lnSpc>
              <a:buFont typeface="Arial"/>
              <a:buChar char="•"/>
            </a:pPr>
            <a:r>
              <a:rPr lang="en-US" sz="2300" spc="46">
                <a:solidFill>
                  <a:srgbClr val="FFFFFF"/>
                </a:solidFill>
                <a:latin typeface="HK Grotesk Bold"/>
              </a:rPr>
              <a:t>Pulse Count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8467" y="3945417"/>
            <a:ext cx="4453193" cy="2341686"/>
          </a:xfrm>
          <a:custGeom>
            <a:avLst/>
            <a:gdLst/>
            <a:ahLst/>
            <a:cxnLst/>
            <a:rect l="l" t="t" r="r" b="b"/>
            <a:pathLst>
              <a:path w="4453193" h="2341686">
                <a:moveTo>
                  <a:pt x="0" y="0"/>
                </a:moveTo>
                <a:lnTo>
                  <a:pt x="4453193" y="0"/>
                </a:lnTo>
                <a:lnTo>
                  <a:pt x="4453193" y="2341686"/>
                </a:lnTo>
                <a:lnTo>
                  <a:pt x="0" y="2341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5" r="-351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3804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259856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33515" y="3533877"/>
            <a:ext cx="3592001" cy="3219246"/>
          </a:xfrm>
          <a:custGeom>
            <a:avLst/>
            <a:gdLst/>
            <a:ahLst/>
            <a:cxnLst/>
            <a:rect l="l" t="t" r="r" b="b"/>
            <a:pathLst>
              <a:path w="3592001" h="3219246">
                <a:moveTo>
                  <a:pt x="0" y="0"/>
                </a:moveTo>
                <a:lnTo>
                  <a:pt x="3592001" y="0"/>
                </a:lnTo>
                <a:lnTo>
                  <a:pt x="3592001" y="3219246"/>
                </a:lnTo>
                <a:lnTo>
                  <a:pt x="0" y="32192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064827" y="3431355"/>
            <a:ext cx="3369810" cy="3369810"/>
          </a:xfrm>
          <a:custGeom>
            <a:avLst/>
            <a:gdLst/>
            <a:ahLst/>
            <a:cxnLst/>
            <a:rect l="l" t="t" r="r" b="b"/>
            <a:pathLst>
              <a:path w="3369810" h="3369810">
                <a:moveTo>
                  <a:pt x="0" y="0"/>
                </a:moveTo>
                <a:lnTo>
                  <a:pt x="3369810" y="0"/>
                </a:lnTo>
                <a:lnTo>
                  <a:pt x="3369810" y="3369810"/>
                </a:lnTo>
                <a:lnTo>
                  <a:pt x="0" y="33698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18506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93140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77562" y="3590307"/>
            <a:ext cx="3051905" cy="3051905"/>
          </a:xfrm>
          <a:custGeom>
            <a:avLst/>
            <a:gdLst/>
            <a:ahLst/>
            <a:cxnLst/>
            <a:rect l="l" t="t" r="r" b="b"/>
            <a:pathLst>
              <a:path w="3051905" h="3051905">
                <a:moveTo>
                  <a:pt x="0" y="0"/>
                </a:moveTo>
                <a:lnTo>
                  <a:pt x="3051905" y="0"/>
                </a:lnTo>
                <a:lnTo>
                  <a:pt x="3051905" y="3051906"/>
                </a:lnTo>
                <a:lnTo>
                  <a:pt x="0" y="3051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66694" y="457200"/>
            <a:ext cx="589847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Remote sensing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05064" y="2117252"/>
            <a:ext cx="1508293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These are sensors that provides its own power source, No external power supply required. </a:t>
            </a:r>
            <a:r>
              <a:rPr lang="en-US" sz="3399">
                <a:solidFill>
                  <a:srgbClr val="000000"/>
                </a:solidFill>
                <a:latin typeface="Canva Sans Bold"/>
              </a:rPr>
              <a:t>The sensor has the source of illumination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061372"/>
            <a:ext cx="252064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Active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Thermocouple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44752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Solar cell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03401" y="7260904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Lidar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78036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Radar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3804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59856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933515" y="3533877"/>
            <a:ext cx="3592001" cy="3219246"/>
          </a:xfrm>
          <a:custGeom>
            <a:avLst/>
            <a:gdLst/>
            <a:ahLst/>
            <a:cxnLst/>
            <a:rect l="l" t="t" r="r" b="b"/>
            <a:pathLst>
              <a:path w="3592001" h="3219246">
                <a:moveTo>
                  <a:pt x="0" y="0"/>
                </a:moveTo>
                <a:lnTo>
                  <a:pt x="3592001" y="0"/>
                </a:lnTo>
                <a:lnTo>
                  <a:pt x="3592001" y="3219246"/>
                </a:lnTo>
                <a:lnTo>
                  <a:pt x="0" y="32192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86" r="-89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064827" y="3431355"/>
            <a:ext cx="3369810" cy="3369810"/>
          </a:xfrm>
          <a:custGeom>
            <a:avLst/>
            <a:gdLst/>
            <a:ahLst/>
            <a:cxnLst/>
            <a:rect l="l" t="t" r="r" b="b"/>
            <a:pathLst>
              <a:path w="3369810" h="3369810">
                <a:moveTo>
                  <a:pt x="0" y="0"/>
                </a:moveTo>
                <a:lnTo>
                  <a:pt x="3369810" y="0"/>
                </a:lnTo>
                <a:lnTo>
                  <a:pt x="3369810" y="3369810"/>
                </a:lnTo>
                <a:lnTo>
                  <a:pt x="0" y="336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18506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93140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977562" y="3590307"/>
            <a:ext cx="3051905" cy="3051905"/>
          </a:xfrm>
          <a:custGeom>
            <a:avLst/>
            <a:gdLst/>
            <a:ahLst/>
            <a:cxnLst/>
            <a:rect l="l" t="t" r="r" b="b"/>
            <a:pathLst>
              <a:path w="3051905" h="3051905">
                <a:moveTo>
                  <a:pt x="0" y="0"/>
                </a:moveTo>
                <a:lnTo>
                  <a:pt x="3051905" y="0"/>
                </a:lnTo>
                <a:lnTo>
                  <a:pt x="3051905" y="3051906"/>
                </a:lnTo>
                <a:lnTo>
                  <a:pt x="0" y="3051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6694" y="3678262"/>
            <a:ext cx="3844745" cy="2638829"/>
          </a:xfrm>
          <a:custGeom>
            <a:avLst/>
            <a:gdLst/>
            <a:ahLst/>
            <a:cxnLst/>
            <a:rect l="l" t="t" r="r" b="b"/>
            <a:pathLst>
              <a:path w="3844745" h="2638829">
                <a:moveTo>
                  <a:pt x="0" y="0"/>
                </a:moveTo>
                <a:lnTo>
                  <a:pt x="3844745" y="0"/>
                </a:lnTo>
                <a:lnTo>
                  <a:pt x="3844745" y="2638829"/>
                </a:lnTo>
                <a:lnTo>
                  <a:pt x="0" y="26388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66694" y="457200"/>
            <a:ext cx="589847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Remote sensing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05064" y="2117252"/>
            <a:ext cx="1508293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is a device that detects and responds to some type of input from the </a:t>
            </a:r>
            <a:r>
              <a:rPr lang="en-US" sz="3399">
                <a:solidFill>
                  <a:srgbClr val="000000"/>
                </a:solidFill>
                <a:latin typeface="Canva Sans Bold"/>
              </a:rPr>
              <a:t>physical environment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061372"/>
            <a:ext cx="252064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Passive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Thermometer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44752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Camera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03401" y="7260904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Gas sensor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78036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light sensor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625546" y="4293964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625546" y="6179279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-5625546" y="2620927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156381" y="3614161"/>
            <a:ext cx="6102919" cy="4474281"/>
          </a:xfrm>
          <a:custGeom>
            <a:avLst/>
            <a:gdLst/>
            <a:ahLst/>
            <a:cxnLst/>
            <a:rect l="l" t="t" r="r" b="b"/>
            <a:pathLst>
              <a:path w="6102919" h="4474281">
                <a:moveTo>
                  <a:pt x="0" y="0"/>
                </a:moveTo>
                <a:lnTo>
                  <a:pt x="6102919" y="0"/>
                </a:lnTo>
                <a:lnTo>
                  <a:pt x="6102919" y="4474281"/>
                </a:lnTo>
                <a:lnTo>
                  <a:pt x="0" y="4474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866694" y="457200"/>
            <a:ext cx="506134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LIDAR Sensor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4443" y="2182701"/>
            <a:ext cx="1255948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Light detection and ranging </a:t>
            </a:r>
            <a:r>
              <a:rPr lang="en-US" sz="3000">
                <a:solidFill>
                  <a:srgbClr val="000000"/>
                </a:solidFill>
                <a:latin typeface="Canva Sans Bold"/>
              </a:rPr>
              <a:t>(Lidar) </a:t>
            </a:r>
            <a:r>
              <a:rPr lang="en-US" sz="3000">
                <a:solidFill>
                  <a:srgbClr val="000000"/>
                </a:solidFill>
                <a:latin typeface="Canva Sans"/>
              </a:rPr>
              <a:t>is a remote sensing method that uses laser to measure elevation like ground, forest and buildings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4443" y="5784627"/>
            <a:ext cx="564392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The source of light is </a:t>
            </a:r>
            <a:r>
              <a:rPr lang="en-US" sz="3399">
                <a:solidFill>
                  <a:srgbClr val="000000"/>
                </a:solidFill>
                <a:latin typeface="Canva Sans Bold"/>
              </a:rPr>
              <a:t>Laser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4443" y="3927252"/>
            <a:ext cx="9138999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Light energy emitted by lidar system is known as “Pulse” and light reflected from objects is known as “Return”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625546" y="4293964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625546" y="6179279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-5625546" y="2620927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0744917" y="3805881"/>
            <a:ext cx="7083521" cy="4375116"/>
          </a:xfrm>
          <a:custGeom>
            <a:avLst/>
            <a:gdLst/>
            <a:ahLst/>
            <a:cxnLst/>
            <a:rect l="l" t="t" r="r" b="b"/>
            <a:pathLst>
              <a:path w="7083521" h="4375116">
                <a:moveTo>
                  <a:pt x="0" y="0"/>
                </a:moveTo>
                <a:lnTo>
                  <a:pt x="7083521" y="0"/>
                </a:lnTo>
                <a:lnTo>
                  <a:pt x="7083521" y="4375116"/>
                </a:lnTo>
                <a:lnTo>
                  <a:pt x="0" y="4375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866694" y="457200"/>
            <a:ext cx="506134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LIDAR Sensor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4443" y="2182701"/>
            <a:ext cx="1255948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Light detection and ranging </a:t>
            </a:r>
            <a:r>
              <a:rPr lang="en-US" sz="3000">
                <a:solidFill>
                  <a:srgbClr val="000000"/>
                </a:solidFill>
                <a:latin typeface="Canva Sans Bold"/>
              </a:rPr>
              <a:t>(Lidar) </a:t>
            </a:r>
            <a:r>
              <a:rPr lang="en-US" sz="3000">
                <a:solidFill>
                  <a:srgbClr val="000000"/>
                </a:solidFill>
                <a:latin typeface="Canva Sans"/>
              </a:rPr>
              <a:t>is a remote sensing method that uses laser to measure elevation like ground, forest and buildings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4443" y="5784627"/>
            <a:ext cx="888313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The source of light is </a:t>
            </a:r>
            <a:r>
              <a:rPr lang="en-US" sz="3399">
                <a:solidFill>
                  <a:srgbClr val="000000"/>
                </a:solidFill>
                <a:latin typeface="Canva Sans Bold"/>
              </a:rPr>
              <a:t>Laser </a:t>
            </a:r>
            <a:r>
              <a:rPr lang="en-US" sz="3399">
                <a:solidFill>
                  <a:srgbClr val="000000"/>
                </a:solidFill>
                <a:latin typeface="Canva Sans"/>
              </a:rPr>
              <a:t>works as an eye</a:t>
            </a:r>
          </a:p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of devices it is installed 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4443" y="3927252"/>
            <a:ext cx="9138999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Light energy emitted by lidar system is known as “Pulse” and light reflected from objects is known as “Return”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96629" y="536030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66228" y="536030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139726" y="536030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756074" y="536030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67157" y="536030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96629" y="3393449"/>
            <a:ext cx="2939318" cy="1693105"/>
          </a:xfrm>
          <a:custGeom>
            <a:avLst/>
            <a:gdLst/>
            <a:ahLst/>
            <a:cxnLst/>
            <a:rect l="l" t="t" r="r" b="b"/>
            <a:pathLst>
              <a:path w="2939318" h="1693105">
                <a:moveTo>
                  <a:pt x="0" y="0"/>
                </a:moveTo>
                <a:lnTo>
                  <a:pt x="2939319" y="0"/>
                </a:lnTo>
                <a:lnTo>
                  <a:pt x="2939319" y="1693105"/>
                </a:lnTo>
                <a:lnTo>
                  <a:pt x="0" y="1693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413" r="-4413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8217917" y="3412703"/>
            <a:ext cx="2782936" cy="1712830"/>
          </a:xfrm>
          <a:custGeom>
            <a:avLst/>
            <a:gdLst/>
            <a:ahLst/>
            <a:cxnLst/>
            <a:rect l="l" t="t" r="r" b="b"/>
            <a:pathLst>
              <a:path w="2782936" h="1712830">
                <a:moveTo>
                  <a:pt x="0" y="0"/>
                </a:moveTo>
                <a:lnTo>
                  <a:pt x="2782936" y="0"/>
                </a:lnTo>
                <a:lnTo>
                  <a:pt x="2782936" y="1712831"/>
                </a:lnTo>
                <a:lnTo>
                  <a:pt x="0" y="17128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448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369360" y="3412703"/>
            <a:ext cx="3096244" cy="1673851"/>
          </a:xfrm>
          <a:custGeom>
            <a:avLst/>
            <a:gdLst/>
            <a:ahLst/>
            <a:cxnLst/>
            <a:rect l="l" t="t" r="r" b="b"/>
            <a:pathLst>
              <a:path w="3096244" h="1673851">
                <a:moveTo>
                  <a:pt x="0" y="0"/>
                </a:moveTo>
                <a:lnTo>
                  <a:pt x="3096244" y="0"/>
                </a:lnTo>
                <a:lnTo>
                  <a:pt x="3096244" y="1673851"/>
                </a:lnTo>
                <a:lnTo>
                  <a:pt x="0" y="16738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552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5278673" y="3412703"/>
            <a:ext cx="2516285" cy="1810726"/>
          </a:xfrm>
          <a:custGeom>
            <a:avLst/>
            <a:gdLst/>
            <a:ahLst/>
            <a:cxnLst/>
            <a:rect l="l" t="t" r="r" b="b"/>
            <a:pathLst>
              <a:path w="2516285" h="1810726">
                <a:moveTo>
                  <a:pt x="0" y="0"/>
                </a:moveTo>
                <a:lnTo>
                  <a:pt x="2516286" y="0"/>
                </a:lnTo>
                <a:lnTo>
                  <a:pt x="2516286" y="1810726"/>
                </a:lnTo>
                <a:lnTo>
                  <a:pt x="0" y="18107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1767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1834265" y="3412703"/>
            <a:ext cx="2782936" cy="1753780"/>
          </a:xfrm>
          <a:custGeom>
            <a:avLst/>
            <a:gdLst/>
            <a:ahLst/>
            <a:cxnLst/>
            <a:rect l="l" t="t" r="r" b="b"/>
            <a:pathLst>
              <a:path w="2782936" h="1753780">
                <a:moveTo>
                  <a:pt x="0" y="0"/>
                </a:moveTo>
                <a:lnTo>
                  <a:pt x="2782936" y="0"/>
                </a:lnTo>
                <a:lnTo>
                  <a:pt x="2782936" y="1753780"/>
                </a:lnTo>
                <a:lnTo>
                  <a:pt x="0" y="17537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705" t="-4344" r="-24473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866694" y="457200"/>
            <a:ext cx="506134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LIDAR Sensor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6629" y="2164928"/>
            <a:ext cx="1255948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Lidar sensor is used in so may applications such 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1525" y="5960054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Agricalture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51123" y="5755266"/>
            <a:ext cx="3454423" cy="8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Autonomous</a:t>
            </a:r>
          </a:p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Vehicles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4621" y="5923574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River Survey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40969" y="5960054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Modelling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52052" y="5739391"/>
            <a:ext cx="3454423" cy="8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Archeology and building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60823" y="3746078"/>
            <a:ext cx="5798477" cy="4828183"/>
          </a:xfrm>
          <a:custGeom>
            <a:avLst/>
            <a:gdLst/>
            <a:ahLst/>
            <a:cxnLst/>
            <a:rect l="l" t="t" r="r" b="b"/>
            <a:pathLst>
              <a:path w="5798477" h="4828183">
                <a:moveTo>
                  <a:pt x="0" y="0"/>
                </a:moveTo>
                <a:lnTo>
                  <a:pt x="5798477" y="0"/>
                </a:lnTo>
                <a:lnTo>
                  <a:pt x="5798477" y="4828183"/>
                </a:lnTo>
                <a:lnTo>
                  <a:pt x="0" y="48281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152816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IMU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6694" y="1958728"/>
            <a:ext cx="12559480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Inertial measurement unit is a combination of sensors that are used to measure the orientation and motion of the robot with respect to inertial reference frame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997078"/>
            <a:ext cx="767703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IMU sensor has two main types</a:t>
            </a:r>
          </a:p>
        </p:txBody>
      </p:sp>
      <p:sp>
        <p:nvSpPr>
          <p:cNvPr id="7" name="Freeform 7"/>
          <p:cNvSpPr/>
          <p:nvPr/>
        </p:nvSpPr>
        <p:spPr>
          <a:xfrm>
            <a:off x="875139" y="5143500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60035" y="5743249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6-DOF</a:t>
            </a:r>
          </a:p>
        </p:txBody>
      </p:sp>
      <p:sp>
        <p:nvSpPr>
          <p:cNvPr id="9" name="Freeform 9"/>
          <p:cNvSpPr/>
          <p:nvPr/>
        </p:nvSpPr>
        <p:spPr>
          <a:xfrm>
            <a:off x="6425533" y="5209928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2"/>
                </a:lnTo>
                <a:lnTo>
                  <a:pt x="0" y="1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910429" y="5809677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9-DOF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627" y="6704765"/>
            <a:ext cx="325040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-Gyroscope</a:t>
            </a:r>
          </a:p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-Accelerometer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81350" y="6704765"/>
            <a:ext cx="3250406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-Gyroscope</a:t>
            </a:r>
          </a:p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-Accelerometer</a:t>
            </a:r>
          </a:p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-Magnetometer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43948" y="4544210"/>
            <a:ext cx="5215352" cy="3338419"/>
          </a:xfrm>
          <a:custGeom>
            <a:avLst/>
            <a:gdLst/>
            <a:ahLst/>
            <a:cxnLst/>
            <a:rect l="l" t="t" r="r" b="b"/>
            <a:pathLst>
              <a:path w="5215352" h="3338419">
                <a:moveTo>
                  <a:pt x="0" y="0"/>
                </a:moveTo>
                <a:lnTo>
                  <a:pt x="5215352" y="0"/>
                </a:lnTo>
                <a:lnTo>
                  <a:pt x="5215352" y="3338419"/>
                </a:lnTo>
                <a:lnTo>
                  <a:pt x="0" y="3338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152816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IMU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838647"/>
            <a:ext cx="326481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1- Gyroscope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0778" y="2720798"/>
            <a:ext cx="1254235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It is used to measure the orientation angles and also angel rotation rate  like how fast the robot rotates </a:t>
            </a:r>
            <a:r>
              <a:rPr lang="en-US" sz="3399">
                <a:solidFill>
                  <a:srgbClr val="000000"/>
                </a:solidFill>
                <a:latin typeface="Canva Sans Bold"/>
              </a:rPr>
              <a:t>(rad or deg/s)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31735" y="4533817"/>
            <a:ext cx="4827565" cy="3250560"/>
          </a:xfrm>
          <a:custGeom>
            <a:avLst/>
            <a:gdLst/>
            <a:ahLst/>
            <a:cxnLst/>
            <a:rect l="l" t="t" r="r" b="b"/>
            <a:pathLst>
              <a:path w="4827565" h="3250560">
                <a:moveTo>
                  <a:pt x="0" y="0"/>
                </a:moveTo>
                <a:lnTo>
                  <a:pt x="4827565" y="0"/>
                </a:lnTo>
                <a:lnTo>
                  <a:pt x="4827565" y="3250560"/>
                </a:lnTo>
                <a:lnTo>
                  <a:pt x="0" y="3250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152816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IMU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838647"/>
            <a:ext cx="429553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2- Accelerometer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0778" y="2753276"/>
            <a:ext cx="12542358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Electromechanical device that converts mechanical forces such as motion, vibration and shock to an electric signal can be measured or recorded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96906" y="5143500"/>
            <a:ext cx="4462394" cy="3392464"/>
          </a:xfrm>
          <a:custGeom>
            <a:avLst/>
            <a:gdLst/>
            <a:ahLst/>
            <a:cxnLst/>
            <a:rect l="l" t="t" r="r" b="b"/>
            <a:pathLst>
              <a:path w="4462394" h="3392464">
                <a:moveTo>
                  <a:pt x="0" y="0"/>
                </a:moveTo>
                <a:lnTo>
                  <a:pt x="4462394" y="0"/>
                </a:lnTo>
                <a:lnTo>
                  <a:pt x="4462394" y="3392464"/>
                </a:lnTo>
                <a:lnTo>
                  <a:pt x="0" y="3392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3056692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Camera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6445" y="2257859"/>
            <a:ext cx="1254235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It is a light proof box built to capture light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6445" y="3610209"/>
            <a:ext cx="13549072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The camera works as the same way as human eyes. </a:t>
            </a:r>
          </a:p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it use lenses to focus light onto photosensitive sensors or film, creating images through exposure and processing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72059" y="4038400"/>
            <a:ext cx="4287241" cy="4287241"/>
          </a:xfrm>
          <a:custGeom>
            <a:avLst/>
            <a:gdLst/>
            <a:ahLst/>
            <a:cxnLst/>
            <a:rect l="l" t="t" r="r" b="b"/>
            <a:pathLst>
              <a:path w="4287241" h="4287241">
                <a:moveTo>
                  <a:pt x="0" y="0"/>
                </a:moveTo>
                <a:lnTo>
                  <a:pt x="4287241" y="0"/>
                </a:lnTo>
                <a:lnTo>
                  <a:pt x="4287241" y="4287241"/>
                </a:lnTo>
                <a:lnTo>
                  <a:pt x="0" y="4287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571369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Stereo Camera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6445" y="2257859"/>
            <a:ext cx="12542358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Stereo camera creates stereo vision using two cameras like two eyes to get a view from two angels at once and form a 3d image.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6445" y="4809925"/>
            <a:ext cx="1254235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This Done through 3 steps:</a:t>
            </a:r>
          </a:p>
        </p:txBody>
      </p:sp>
      <p:sp>
        <p:nvSpPr>
          <p:cNvPr id="7" name="Freeform 7"/>
          <p:cNvSpPr/>
          <p:nvPr/>
        </p:nvSpPr>
        <p:spPr>
          <a:xfrm>
            <a:off x="1811550" y="6182020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481148" y="6182020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54646" y="6182020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92546" y="6781769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Tranformation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66044" y="6745289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Comparison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39542" y="6745289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Generation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72059" y="4038400"/>
            <a:ext cx="4287241" cy="4287241"/>
          </a:xfrm>
          <a:custGeom>
            <a:avLst/>
            <a:gdLst/>
            <a:ahLst/>
            <a:cxnLst/>
            <a:rect l="l" t="t" r="r" b="b"/>
            <a:pathLst>
              <a:path w="4287241" h="4287241">
                <a:moveTo>
                  <a:pt x="0" y="0"/>
                </a:moveTo>
                <a:lnTo>
                  <a:pt x="4287241" y="0"/>
                </a:lnTo>
                <a:lnTo>
                  <a:pt x="4287241" y="4287241"/>
                </a:lnTo>
                <a:lnTo>
                  <a:pt x="0" y="4287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218777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Radar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6445" y="2257859"/>
            <a:ext cx="12542358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Radar (Radio Detection and Ranging) is a technology that uses radio waves to detect, locate, and track objects, often in aviation and meteorology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995257" y="1922930"/>
            <a:ext cx="10297486" cy="6441140"/>
          </a:xfrm>
          <a:custGeom>
            <a:avLst/>
            <a:gdLst/>
            <a:ahLst/>
            <a:cxnLst/>
            <a:rect l="l" t="t" r="r" b="b"/>
            <a:pathLst>
              <a:path w="10297486" h="6441140">
                <a:moveTo>
                  <a:pt x="0" y="0"/>
                </a:moveTo>
                <a:lnTo>
                  <a:pt x="10297486" y="0"/>
                </a:lnTo>
                <a:lnTo>
                  <a:pt x="10297486" y="6441140"/>
                </a:lnTo>
                <a:lnTo>
                  <a:pt x="0" y="6441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267343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Ranges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33175" y="2701069"/>
            <a:ext cx="4526125" cy="3704045"/>
          </a:xfrm>
          <a:custGeom>
            <a:avLst/>
            <a:gdLst/>
            <a:ahLst/>
            <a:cxnLst/>
            <a:rect l="l" t="t" r="r" b="b"/>
            <a:pathLst>
              <a:path w="4526125" h="3704045">
                <a:moveTo>
                  <a:pt x="0" y="0"/>
                </a:moveTo>
                <a:lnTo>
                  <a:pt x="4526125" y="0"/>
                </a:lnTo>
                <a:lnTo>
                  <a:pt x="4526125" y="3704045"/>
                </a:lnTo>
                <a:lnTo>
                  <a:pt x="0" y="37040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25" r="-35262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AutoShape 4"/>
          <p:cNvSpPr/>
          <p:nvPr/>
        </p:nvSpPr>
        <p:spPr>
          <a:xfrm>
            <a:off x="-5625546" y="2515331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-5625546" y="4957762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866694" y="457200"/>
            <a:ext cx="227826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GNSS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2546" y="2184177"/>
            <a:ext cx="10676515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Global navigation satellite system (GNSS) Provide position and velocity measurments used to estimate vehicle position and orientation.</a:t>
            </a:r>
          </a:p>
          <a:p>
            <a:pPr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</a:endParaRPr>
          </a:p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GNSS works in conjunction with an Inertial Measurement Unit (IMU) to provide accurate data for vehicle position and orientation estimation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11527" y="2061744"/>
            <a:ext cx="5264947" cy="3960924"/>
          </a:xfrm>
          <a:custGeom>
            <a:avLst/>
            <a:gdLst/>
            <a:ahLst/>
            <a:cxnLst/>
            <a:rect l="l" t="t" r="r" b="b"/>
            <a:pathLst>
              <a:path w="5264947" h="3960924">
                <a:moveTo>
                  <a:pt x="0" y="0"/>
                </a:moveTo>
                <a:lnTo>
                  <a:pt x="5264946" y="0"/>
                </a:lnTo>
                <a:lnTo>
                  <a:pt x="5264946" y="3960923"/>
                </a:lnTo>
                <a:lnTo>
                  <a:pt x="0" y="3960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26" r="-202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223587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Quiz 1</a:t>
            </a:r>
          </a:p>
        </p:txBody>
      </p:sp>
      <p:sp>
        <p:nvSpPr>
          <p:cNvPr id="5" name="Freeform 5"/>
          <p:cNvSpPr/>
          <p:nvPr/>
        </p:nvSpPr>
        <p:spPr>
          <a:xfrm>
            <a:off x="1543804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95201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Active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80097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Passive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77674" y="2931618"/>
            <a:ext cx="3071580" cy="2037403"/>
            <a:chOff x="0" y="0"/>
            <a:chExt cx="1224211" cy="8120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24211" cy="812029"/>
            </a:xfrm>
            <a:custGeom>
              <a:avLst/>
              <a:gdLst/>
              <a:ahLst/>
              <a:cxnLst/>
              <a:rect l="l" t="t" r="r" b="b"/>
              <a:pathLst>
                <a:path w="1224211" h="812029">
                  <a:moveTo>
                    <a:pt x="128546" y="0"/>
                  </a:moveTo>
                  <a:lnTo>
                    <a:pt x="1095666" y="0"/>
                  </a:lnTo>
                  <a:cubicBezTo>
                    <a:pt x="1129758" y="0"/>
                    <a:pt x="1162454" y="13543"/>
                    <a:pt x="1186561" y="37650"/>
                  </a:cubicBezTo>
                  <a:cubicBezTo>
                    <a:pt x="1210668" y="61757"/>
                    <a:pt x="1224211" y="94453"/>
                    <a:pt x="1224211" y="128546"/>
                  </a:cubicBezTo>
                  <a:lnTo>
                    <a:pt x="1224211" y="683483"/>
                  </a:lnTo>
                  <a:cubicBezTo>
                    <a:pt x="1224211" y="717576"/>
                    <a:pt x="1210668" y="750272"/>
                    <a:pt x="1186561" y="774379"/>
                  </a:cubicBezTo>
                  <a:cubicBezTo>
                    <a:pt x="1162454" y="798486"/>
                    <a:pt x="1129758" y="812029"/>
                    <a:pt x="1095666" y="812029"/>
                  </a:cubicBezTo>
                  <a:lnTo>
                    <a:pt x="128546" y="812029"/>
                  </a:lnTo>
                  <a:cubicBezTo>
                    <a:pt x="94453" y="812029"/>
                    <a:pt x="61757" y="798486"/>
                    <a:pt x="37650" y="774379"/>
                  </a:cubicBezTo>
                  <a:cubicBezTo>
                    <a:pt x="13543" y="750272"/>
                    <a:pt x="0" y="717576"/>
                    <a:pt x="0" y="683483"/>
                  </a:cubicBezTo>
                  <a:lnTo>
                    <a:pt x="0" y="128546"/>
                  </a:lnTo>
                  <a:cubicBezTo>
                    <a:pt x="0" y="94453"/>
                    <a:pt x="13543" y="61757"/>
                    <a:pt x="37650" y="37650"/>
                  </a:cubicBezTo>
                  <a:cubicBezTo>
                    <a:pt x="61757" y="13543"/>
                    <a:pt x="94453" y="0"/>
                    <a:pt x="128546" y="0"/>
                  </a:cubicBezTo>
                  <a:close/>
                </a:path>
              </a:pathLst>
            </a:custGeom>
            <a:solidFill>
              <a:srgbClr val="CF3D3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55042" y="3272562"/>
            <a:ext cx="5116843" cy="1288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5"/>
              </a:lnSpc>
            </a:pPr>
            <a:r>
              <a:rPr lang="en-US" sz="3704">
                <a:solidFill>
                  <a:srgbClr val="FFFFFF"/>
                </a:solidFill>
                <a:latin typeface="Canva Sans Bold"/>
              </a:rPr>
              <a:t>Camera </a:t>
            </a:r>
          </a:p>
          <a:p>
            <a:pPr algn="ctr">
              <a:lnSpc>
                <a:spcPts val="5185"/>
              </a:lnSpc>
            </a:pPr>
            <a:r>
              <a:rPr lang="en-US" sz="3704">
                <a:solidFill>
                  <a:srgbClr val="FFFFFF"/>
                </a:solidFill>
                <a:latin typeface="Canva Sans Bold"/>
              </a:rPr>
              <a:t>with flash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11527" y="2061744"/>
            <a:ext cx="5264947" cy="3960924"/>
          </a:xfrm>
          <a:custGeom>
            <a:avLst/>
            <a:gdLst/>
            <a:ahLst/>
            <a:cxnLst/>
            <a:rect l="l" t="t" r="r" b="b"/>
            <a:pathLst>
              <a:path w="5264947" h="3960924">
                <a:moveTo>
                  <a:pt x="0" y="0"/>
                </a:moveTo>
                <a:lnTo>
                  <a:pt x="5264946" y="0"/>
                </a:lnTo>
                <a:lnTo>
                  <a:pt x="5264946" y="3960923"/>
                </a:lnTo>
                <a:lnTo>
                  <a:pt x="0" y="3960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26" r="-202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223587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Quiz 1</a:t>
            </a:r>
          </a:p>
        </p:txBody>
      </p:sp>
      <p:sp>
        <p:nvSpPr>
          <p:cNvPr id="5" name="Freeform 5"/>
          <p:cNvSpPr/>
          <p:nvPr/>
        </p:nvSpPr>
        <p:spPr>
          <a:xfrm>
            <a:off x="6605978" y="6022667"/>
            <a:ext cx="5016188" cy="2664850"/>
          </a:xfrm>
          <a:custGeom>
            <a:avLst/>
            <a:gdLst/>
            <a:ahLst/>
            <a:cxnLst/>
            <a:rect l="l" t="t" r="r" b="b"/>
            <a:pathLst>
              <a:path w="5016188" h="2664850">
                <a:moveTo>
                  <a:pt x="0" y="0"/>
                </a:moveTo>
                <a:lnTo>
                  <a:pt x="5016188" y="0"/>
                </a:lnTo>
                <a:lnTo>
                  <a:pt x="5016188" y="2664850"/>
                </a:lnTo>
                <a:lnTo>
                  <a:pt x="0" y="2664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6910" y="7047329"/>
            <a:ext cx="5895256" cy="69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1127" lvl="1" indent="-460563" algn="ctr">
              <a:lnSpc>
                <a:spcPts val="5546"/>
              </a:lnSpc>
              <a:buFont typeface="Arial"/>
              <a:buChar char="•"/>
            </a:pPr>
            <a:r>
              <a:rPr lang="en-US" sz="4266" spc="85">
                <a:solidFill>
                  <a:srgbClr val="FFFFFF"/>
                </a:solidFill>
                <a:latin typeface="HK Grotesk Bold"/>
              </a:rPr>
              <a:t>Active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11176" y="2976853"/>
            <a:ext cx="5448124" cy="3064570"/>
          </a:xfrm>
          <a:custGeom>
            <a:avLst/>
            <a:gdLst/>
            <a:ahLst/>
            <a:cxnLst/>
            <a:rect l="l" t="t" r="r" b="b"/>
            <a:pathLst>
              <a:path w="5448124" h="3064570">
                <a:moveTo>
                  <a:pt x="0" y="0"/>
                </a:moveTo>
                <a:lnTo>
                  <a:pt x="5448124" y="0"/>
                </a:lnTo>
                <a:lnTo>
                  <a:pt x="5448124" y="3064570"/>
                </a:lnTo>
                <a:lnTo>
                  <a:pt x="0" y="3064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4123372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Perception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4443" y="1573779"/>
            <a:ext cx="1531108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It is a sense of the environment around us and the way we are moving in it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6694" y="2872078"/>
            <a:ext cx="758785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 Bold"/>
              </a:rPr>
              <a:t>For any Object we need :</a:t>
            </a:r>
          </a:p>
        </p:txBody>
      </p:sp>
      <p:sp>
        <p:nvSpPr>
          <p:cNvPr id="7" name="AutoShape 7"/>
          <p:cNvSpPr/>
          <p:nvPr/>
        </p:nvSpPr>
        <p:spPr>
          <a:xfrm>
            <a:off x="-5625546" y="5160678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-5625546" y="7045993"/>
            <a:ext cx="649224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234443" y="6714205"/>
            <a:ext cx="962072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</a:rPr>
              <a:t>Understanding motion: is it static or dynamic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4443" y="4784440"/>
            <a:ext cx="10039125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</a:rPr>
              <a:t>Identification for what it is (car,bicycle,truch,etc...)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3804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32570" y="3740240"/>
            <a:ext cx="3561787" cy="2728656"/>
          </a:xfrm>
          <a:custGeom>
            <a:avLst/>
            <a:gdLst/>
            <a:ahLst/>
            <a:cxnLst/>
            <a:rect l="l" t="t" r="r" b="b"/>
            <a:pathLst>
              <a:path w="3561787" h="2728656">
                <a:moveTo>
                  <a:pt x="0" y="0"/>
                </a:moveTo>
                <a:lnTo>
                  <a:pt x="3561787" y="0"/>
                </a:lnTo>
                <a:lnTo>
                  <a:pt x="3561787" y="2728656"/>
                </a:lnTo>
                <a:lnTo>
                  <a:pt x="0" y="2728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5321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08197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396963" y="3740240"/>
            <a:ext cx="3561787" cy="2728656"/>
          </a:xfrm>
          <a:custGeom>
            <a:avLst/>
            <a:gdLst/>
            <a:ahLst/>
            <a:cxnLst/>
            <a:rect l="l" t="t" r="r" b="b"/>
            <a:pathLst>
              <a:path w="3561787" h="2728656">
                <a:moveTo>
                  <a:pt x="0" y="0"/>
                </a:moveTo>
                <a:lnTo>
                  <a:pt x="3561787" y="0"/>
                </a:lnTo>
                <a:lnTo>
                  <a:pt x="3561787" y="2728656"/>
                </a:lnTo>
                <a:lnTo>
                  <a:pt x="0" y="2728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39" r="-413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66694" y="457200"/>
            <a:ext cx="734175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Goals of perception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7206" y="2019577"/>
            <a:ext cx="8023027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nva Sans Bold"/>
              </a:rPr>
              <a:t>Identify static objects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Curbside(off-road)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93092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SIgns(on-road)</a:t>
            </a:r>
          </a:p>
        </p:txBody>
      </p:sp>
      <p:sp>
        <p:nvSpPr>
          <p:cNvPr id="11" name="Freeform 11"/>
          <p:cNvSpPr/>
          <p:nvPr/>
        </p:nvSpPr>
        <p:spPr>
          <a:xfrm>
            <a:off x="9455234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298307" y="3560215"/>
            <a:ext cx="3096245" cy="3137420"/>
          </a:xfrm>
          <a:custGeom>
            <a:avLst/>
            <a:gdLst/>
            <a:ahLst/>
            <a:cxnLst/>
            <a:rect l="l" t="t" r="r" b="b"/>
            <a:pathLst>
              <a:path w="3096245" h="3137420">
                <a:moveTo>
                  <a:pt x="0" y="0"/>
                </a:moveTo>
                <a:lnTo>
                  <a:pt x="3096246" y="0"/>
                </a:lnTo>
                <a:lnTo>
                  <a:pt x="3096246" y="3137420"/>
                </a:lnTo>
                <a:lnTo>
                  <a:pt x="0" y="31374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983" t="-7539" r="-10051" b="-598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940130" y="7260904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SIgns(off-road)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624032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467105" y="3740240"/>
            <a:ext cx="3096245" cy="2728656"/>
          </a:xfrm>
          <a:custGeom>
            <a:avLst/>
            <a:gdLst/>
            <a:ahLst/>
            <a:cxnLst/>
            <a:rect l="l" t="t" r="r" b="b"/>
            <a:pathLst>
              <a:path w="3096245" h="2728656">
                <a:moveTo>
                  <a:pt x="0" y="0"/>
                </a:moveTo>
                <a:lnTo>
                  <a:pt x="3096246" y="0"/>
                </a:lnTo>
                <a:lnTo>
                  <a:pt x="3096246" y="2728656"/>
                </a:lnTo>
                <a:lnTo>
                  <a:pt x="0" y="27286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16" r="-16216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204178" y="7092597"/>
            <a:ext cx="3454423" cy="8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Traffic lights</a:t>
            </a:r>
          </a:p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(off-road)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3804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32570" y="3740240"/>
            <a:ext cx="3561787" cy="2728656"/>
          </a:xfrm>
          <a:custGeom>
            <a:avLst/>
            <a:gdLst/>
            <a:ahLst/>
            <a:cxnLst/>
            <a:rect l="l" t="t" r="r" b="b"/>
            <a:pathLst>
              <a:path w="3561787" h="2728656">
                <a:moveTo>
                  <a:pt x="0" y="0"/>
                </a:moveTo>
                <a:lnTo>
                  <a:pt x="3561787" y="0"/>
                </a:lnTo>
                <a:lnTo>
                  <a:pt x="3561787" y="2728656"/>
                </a:lnTo>
                <a:lnTo>
                  <a:pt x="0" y="2728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552" r="-755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08197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396963" y="3740240"/>
            <a:ext cx="3561787" cy="2728656"/>
          </a:xfrm>
          <a:custGeom>
            <a:avLst/>
            <a:gdLst/>
            <a:ahLst/>
            <a:cxnLst/>
            <a:rect l="l" t="t" r="r" b="b"/>
            <a:pathLst>
              <a:path w="3561787" h="2728656">
                <a:moveTo>
                  <a:pt x="0" y="0"/>
                </a:moveTo>
                <a:lnTo>
                  <a:pt x="3561787" y="0"/>
                </a:lnTo>
                <a:lnTo>
                  <a:pt x="3561787" y="2728656"/>
                </a:lnTo>
                <a:lnTo>
                  <a:pt x="0" y="2728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306" r="-530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55234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298307" y="3560215"/>
            <a:ext cx="3096245" cy="3137420"/>
          </a:xfrm>
          <a:custGeom>
            <a:avLst/>
            <a:gdLst/>
            <a:ahLst/>
            <a:cxnLst/>
            <a:rect l="l" t="t" r="r" b="b"/>
            <a:pathLst>
              <a:path w="3096245" h="3137420">
                <a:moveTo>
                  <a:pt x="0" y="0"/>
                </a:moveTo>
                <a:lnTo>
                  <a:pt x="3096246" y="0"/>
                </a:lnTo>
                <a:lnTo>
                  <a:pt x="3096246" y="3137420"/>
                </a:lnTo>
                <a:lnTo>
                  <a:pt x="0" y="31374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4791" r="-2479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624032" y="6697635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467105" y="3740240"/>
            <a:ext cx="3096245" cy="2728656"/>
          </a:xfrm>
          <a:custGeom>
            <a:avLst/>
            <a:gdLst/>
            <a:ahLst/>
            <a:cxnLst/>
            <a:rect l="l" t="t" r="r" b="b"/>
            <a:pathLst>
              <a:path w="3096245" h="2728656">
                <a:moveTo>
                  <a:pt x="0" y="0"/>
                </a:moveTo>
                <a:lnTo>
                  <a:pt x="3096246" y="0"/>
                </a:lnTo>
                <a:lnTo>
                  <a:pt x="3096246" y="2728656"/>
                </a:lnTo>
                <a:lnTo>
                  <a:pt x="0" y="27286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827" r="-882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66694" y="457200"/>
            <a:ext cx="734175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Goals of perception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877465"/>
            <a:ext cx="838164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nva Sans"/>
              </a:rPr>
              <a:t>2.</a:t>
            </a:r>
            <a:r>
              <a:rPr lang="en-US" sz="5000">
                <a:solidFill>
                  <a:srgbClr val="000000"/>
                </a:solidFill>
                <a:latin typeface="Canva Sans Bold"/>
              </a:rPr>
              <a:t>Identify dynamic objects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Pedestrians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93092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Trucks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40130" y="7260904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Bicycles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08928" y="7297385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Motorcycles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66694" y="457200"/>
            <a:ext cx="734175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Goals of perception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877465"/>
            <a:ext cx="558367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nva Sans"/>
              </a:rPr>
              <a:t>3.Ego-Localization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2085" y="2912511"/>
            <a:ext cx="1466985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Estimate where we are and how we are moving at any time</a:t>
            </a:r>
          </a:p>
        </p:txBody>
      </p:sp>
      <p:sp>
        <p:nvSpPr>
          <p:cNvPr id="6" name="Freeform 6"/>
          <p:cNvSpPr/>
          <p:nvPr/>
        </p:nvSpPr>
        <p:spPr>
          <a:xfrm>
            <a:off x="1381799" y="6583350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04682" y="6619830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545054" y="5259738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204682" y="4362744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2"/>
                </a:lnTo>
                <a:lnTo>
                  <a:pt x="0" y="1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6694" y="7183099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Position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89577" y="7219579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Velocity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29950" y="5823007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Acceleration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89577" y="4962493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Angular motion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81799" y="4290069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66694" y="4853338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Orientation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83910" y="2288586"/>
            <a:ext cx="2975390" cy="3109282"/>
          </a:xfrm>
          <a:custGeom>
            <a:avLst/>
            <a:gdLst/>
            <a:ahLst/>
            <a:cxnLst/>
            <a:rect l="l" t="t" r="r" b="b"/>
            <a:pathLst>
              <a:path w="2975390" h="3109282">
                <a:moveTo>
                  <a:pt x="0" y="0"/>
                </a:moveTo>
                <a:lnTo>
                  <a:pt x="2975390" y="0"/>
                </a:lnTo>
                <a:lnTo>
                  <a:pt x="2975390" y="3109282"/>
                </a:lnTo>
                <a:lnTo>
                  <a:pt x="0" y="3109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4283910" y="6050093"/>
            <a:ext cx="3065059" cy="3051437"/>
          </a:xfrm>
          <a:custGeom>
            <a:avLst/>
            <a:gdLst/>
            <a:ahLst/>
            <a:cxnLst/>
            <a:rect l="l" t="t" r="r" b="b"/>
            <a:pathLst>
              <a:path w="3065059" h="3051437">
                <a:moveTo>
                  <a:pt x="0" y="0"/>
                </a:moveTo>
                <a:lnTo>
                  <a:pt x="3065060" y="0"/>
                </a:lnTo>
                <a:lnTo>
                  <a:pt x="3065060" y="3051437"/>
                </a:lnTo>
                <a:lnTo>
                  <a:pt x="0" y="30514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866694" y="457200"/>
            <a:ext cx="1017210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Challenges face perception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6694" y="2919620"/>
            <a:ext cx="13074428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As humans, we are good at understanding patterns to take some actions. However, it is hard for a computer to recognize these patterns as fast as we do 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420743"/>
            <a:ext cx="11376745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1.</a:t>
            </a:r>
            <a:r>
              <a:rPr lang="en-US" sz="3399">
                <a:solidFill>
                  <a:srgbClr val="000000"/>
                </a:solidFill>
                <a:latin typeface="Canva Sans Bold"/>
              </a:rPr>
              <a:t>Detection Segmentation</a:t>
            </a:r>
            <a:r>
              <a:rPr lang="en-US" sz="3399">
                <a:solidFill>
                  <a:srgbClr val="000000"/>
                </a:solidFill>
                <a:latin typeface="Canva Sans"/>
              </a:rPr>
              <a:t>:  Accessing a large dataset is critical. collecting data from all vehicle in all weather conditions  is very tough and time consuming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930186" y="2784052"/>
            <a:ext cx="5329114" cy="3518200"/>
          </a:xfrm>
          <a:custGeom>
            <a:avLst/>
            <a:gdLst/>
            <a:ahLst/>
            <a:cxnLst/>
            <a:rect l="l" t="t" r="r" b="b"/>
            <a:pathLst>
              <a:path w="5329114" h="3518200">
                <a:moveTo>
                  <a:pt x="0" y="0"/>
                </a:moveTo>
                <a:lnTo>
                  <a:pt x="5329114" y="0"/>
                </a:lnTo>
                <a:lnTo>
                  <a:pt x="5329114" y="3518200"/>
                </a:lnTo>
                <a:lnTo>
                  <a:pt x="0" y="3518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1017210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Challenges face perception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405893"/>
            <a:ext cx="10901486" cy="389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09"/>
              </a:lnSpc>
            </a:pPr>
            <a:r>
              <a:rPr lang="en-US" sz="4435">
                <a:solidFill>
                  <a:srgbClr val="000000"/>
                </a:solidFill>
                <a:latin typeface="Canva Sans"/>
              </a:rPr>
              <a:t>2.</a:t>
            </a:r>
            <a:r>
              <a:rPr lang="en-US" sz="4435">
                <a:solidFill>
                  <a:srgbClr val="000000"/>
                </a:solidFill>
                <a:latin typeface="Canva Sans Bold"/>
              </a:rPr>
              <a:t>Sensor uncertainty</a:t>
            </a:r>
            <a:r>
              <a:rPr lang="en-US" sz="4435">
                <a:solidFill>
                  <a:srgbClr val="000000"/>
                </a:solidFill>
                <a:latin typeface="Canva Sans"/>
              </a:rPr>
              <a:t>:  </a:t>
            </a:r>
          </a:p>
          <a:p>
            <a:pPr marL="957524" lvl="1" indent="-478762">
              <a:lnSpc>
                <a:spcPts val="6209"/>
              </a:lnSpc>
              <a:buFont typeface="Arial"/>
              <a:buChar char="•"/>
            </a:pPr>
            <a:r>
              <a:rPr lang="en-US" sz="4435">
                <a:solidFill>
                  <a:srgbClr val="000000"/>
                </a:solidFill>
                <a:latin typeface="Canva Sans"/>
              </a:rPr>
              <a:t>GPS corruption or outage </a:t>
            </a:r>
          </a:p>
          <a:p>
            <a:pPr marL="957524" lvl="1" indent="-478762">
              <a:lnSpc>
                <a:spcPts val="6209"/>
              </a:lnSpc>
              <a:buFont typeface="Arial"/>
              <a:buChar char="•"/>
            </a:pPr>
            <a:r>
              <a:rPr lang="en-US" sz="4435">
                <a:solidFill>
                  <a:srgbClr val="000000"/>
                </a:solidFill>
                <a:latin typeface="Canva Sans"/>
              </a:rPr>
              <a:t>Visibility challenging</a:t>
            </a:r>
          </a:p>
          <a:p>
            <a:pPr marL="957524" lvl="1" indent="-478762">
              <a:lnSpc>
                <a:spcPts val="6209"/>
              </a:lnSpc>
              <a:buFont typeface="Arial"/>
              <a:buChar char="•"/>
            </a:pPr>
            <a:r>
              <a:rPr lang="en-US" sz="4435">
                <a:solidFill>
                  <a:srgbClr val="000000"/>
                </a:solidFill>
                <a:latin typeface="Canva Sans"/>
              </a:rPr>
              <a:t>Radar or lidar returns a noisy in terms of their position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50238" y="3287835"/>
            <a:ext cx="5109062" cy="3417395"/>
          </a:xfrm>
          <a:custGeom>
            <a:avLst/>
            <a:gdLst/>
            <a:ahLst/>
            <a:cxnLst/>
            <a:rect l="l" t="t" r="r" b="b"/>
            <a:pathLst>
              <a:path w="5109062" h="3417395">
                <a:moveTo>
                  <a:pt x="0" y="0"/>
                </a:moveTo>
                <a:lnTo>
                  <a:pt x="5109062" y="0"/>
                </a:lnTo>
                <a:lnTo>
                  <a:pt x="5109062" y="3417395"/>
                </a:lnTo>
                <a:lnTo>
                  <a:pt x="0" y="3417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6" r="-346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1017210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Challenges face perception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817380"/>
            <a:ext cx="10901486" cy="388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09"/>
              </a:lnSpc>
            </a:pPr>
            <a:r>
              <a:rPr lang="en-US" sz="4435">
                <a:solidFill>
                  <a:srgbClr val="000000"/>
                </a:solidFill>
                <a:latin typeface="Canva Sans"/>
              </a:rPr>
              <a:t>3.</a:t>
            </a:r>
            <a:r>
              <a:rPr lang="en-US" sz="4435">
                <a:solidFill>
                  <a:srgbClr val="000000"/>
                </a:solidFill>
                <a:latin typeface="Canva Sans Bold"/>
              </a:rPr>
              <a:t>Occlusion </a:t>
            </a:r>
            <a:r>
              <a:rPr lang="en-US" sz="4435">
                <a:solidFill>
                  <a:srgbClr val="000000"/>
                </a:solidFill>
                <a:latin typeface="Canva Sans"/>
              </a:rPr>
              <a:t>:  </a:t>
            </a:r>
          </a:p>
          <a:p>
            <a:pPr>
              <a:lnSpc>
                <a:spcPts val="6209"/>
              </a:lnSpc>
            </a:pPr>
            <a:r>
              <a:rPr lang="en-US" sz="4435">
                <a:solidFill>
                  <a:srgbClr val="000000"/>
                </a:solidFill>
                <a:latin typeface="Canva Sans"/>
              </a:rPr>
              <a:t>These effect on confuse perception with ambiguous information that may hard to resolve into accurate estimation of object location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50238" y="3287835"/>
            <a:ext cx="5109062" cy="3417395"/>
          </a:xfrm>
          <a:custGeom>
            <a:avLst/>
            <a:gdLst/>
            <a:ahLst/>
            <a:cxnLst/>
            <a:rect l="l" t="t" r="r" b="b"/>
            <a:pathLst>
              <a:path w="5109062" h="3417395">
                <a:moveTo>
                  <a:pt x="0" y="0"/>
                </a:moveTo>
                <a:lnTo>
                  <a:pt x="5109062" y="0"/>
                </a:lnTo>
                <a:lnTo>
                  <a:pt x="5109062" y="3417395"/>
                </a:lnTo>
                <a:lnTo>
                  <a:pt x="0" y="3417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56" r="-9456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1017210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Challenges face perception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8753" y="3395507"/>
            <a:ext cx="10901486" cy="310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09"/>
              </a:lnSpc>
            </a:pPr>
            <a:r>
              <a:rPr lang="en-US" sz="4435">
                <a:solidFill>
                  <a:srgbClr val="000000"/>
                </a:solidFill>
                <a:latin typeface="Canva Sans"/>
              </a:rPr>
              <a:t>4.</a:t>
            </a:r>
            <a:r>
              <a:rPr lang="en-US" sz="4435">
                <a:solidFill>
                  <a:srgbClr val="000000"/>
                </a:solidFill>
                <a:latin typeface="Canva Sans Bold"/>
              </a:rPr>
              <a:t>illuminationand lens flare</a:t>
            </a:r>
            <a:r>
              <a:rPr lang="en-US" sz="4435">
                <a:solidFill>
                  <a:srgbClr val="000000"/>
                </a:solidFill>
                <a:latin typeface="Canva Sans"/>
              </a:rPr>
              <a:t>:  </a:t>
            </a:r>
          </a:p>
          <a:p>
            <a:pPr>
              <a:lnSpc>
                <a:spcPts val="6209"/>
              </a:lnSpc>
            </a:pPr>
            <a:r>
              <a:rPr lang="en-US" sz="4435">
                <a:solidFill>
                  <a:srgbClr val="000000"/>
                </a:solidFill>
                <a:latin typeface="Canva Sans"/>
              </a:rPr>
              <a:t>These are effects like drastic illumination or lens flare that confuse the data reading about locations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83304" y="1854389"/>
            <a:ext cx="3375996" cy="3289111"/>
          </a:xfrm>
          <a:custGeom>
            <a:avLst/>
            <a:gdLst/>
            <a:ahLst/>
            <a:cxnLst/>
            <a:rect l="l" t="t" r="r" b="b"/>
            <a:pathLst>
              <a:path w="3375996" h="3289111">
                <a:moveTo>
                  <a:pt x="0" y="0"/>
                </a:moveTo>
                <a:lnTo>
                  <a:pt x="3375996" y="0"/>
                </a:lnTo>
                <a:lnTo>
                  <a:pt x="3375996" y="3289111"/>
                </a:lnTo>
                <a:lnTo>
                  <a:pt x="0" y="3289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2" t="-4452" r="-882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2237115" y="5761573"/>
            <a:ext cx="5022185" cy="2879978"/>
          </a:xfrm>
          <a:custGeom>
            <a:avLst/>
            <a:gdLst/>
            <a:ahLst/>
            <a:cxnLst/>
            <a:rect l="l" t="t" r="r" b="b"/>
            <a:pathLst>
              <a:path w="5022185" h="2879978">
                <a:moveTo>
                  <a:pt x="0" y="0"/>
                </a:moveTo>
                <a:lnTo>
                  <a:pt x="5022185" y="0"/>
                </a:lnTo>
                <a:lnTo>
                  <a:pt x="5022185" y="2879977"/>
                </a:lnTo>
                <a:lnTo>
                  <a:pt x="0" y="28799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494" b="-4494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866694" y="457200"/>
            <a:ext cx="577977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Make Decisions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5721" y="2518672"/>
            <a:ext cx="10901486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1.</a:t>
            </a:r>
            <a:r>
              <a:rPr lang="en-US" sz="3999">
                <a:solidFill>
                  <a:srgbClr val="000000"/>
                </a:solidFill>
                <a:latin typeface="Canva Sans Bold"/>
              </a:rPr>
              <a:t>Long term Planning</a:t>
            </a:r>
            <a:r>
              <a:rPr lang="en-US" sz="3999">
                <a:solidFill>
                  <a:srgbClr val="000000"/>
                </a:solidFill>
                <a:latin typeface="Canva Sans"/>
              </a:rPr>
              <a:t>: How to navigate from home to work? here we get </a:t>
            </a:r>
            <a:r>
              <a:rPr lang="en-US" sz="3999">
                <a:solidFill>
                  <a:srgbClr val="000000"/>
                </a:solidFill>
                <a:latin typeface="Canva Sans Bold"/>
              </a:rPr>
              <a:t>(Mission plan)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5721" y="5438775"/>
            <a:ext cx="10901486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2.</a:t>
            </a:r>
            <a:r>
              <a:rPr lang="en-US" sz="3999">
                <a:solidFill>
                  <a:srgbClr val="000000"/>
                </a:solidFill>
                <a:latin typeface="Canva Sans Bold"/>
              </a:rPr>
              <a:t>Short term Planning</a:t>
            </a:r>
            <a:r>
              <a:rPr lang="en-US" sz="3999">
                <a:solidFill>
                  <a:srgbClr val="000000"/>
                </a:solidFill>
                <a:latin typeface="Canva Sans"/>
              </a:rPr>
              <a:t>: It come with questions like “Is is safe to change lanes or turn left?”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25834" y="2347643"/>
            <a:ext cx="4933466" cy="3236653"/>
          </a:xfrm>
          <a:custGeom>
            <a:avLst/>
            <a:gdLst/>
            <a:ahLst/>
            <a:cxnLst/>
            <a:rect l="l" t="t" r="r" b="b"/>
            <a:pathLst>
              <a:path w="4933466" h="3236653">
                <a:moveTo>
                  <a:pt x="0" y="0"/>
                </a:moveTo>
                <a:lnTo>
                  <a:pt x="4933466" y="0"/>
                </a:lnTo>
                <a:lnTo>
                  <a:pt x="4933466" y="3236652"/>
                </a:lnTo>
                <a:lnTo>
                  <a:pt x="0" y="3236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577977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Make Decisions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5721" y="2518672"/>
            <a:ext cx="10901486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3.</a:t>
            </a:r>
            <a:r>
              <a:rPr lang="en-US" sz="3999">
                <a:solidFill>
                  <a:srgbClr val="000000"/>
                </a:solidFill>
                <a:latin typeface="Canva Sans Bold"/>
              </a:rPr>
              <a:t>Immediate Planning</a:t>
            </a:r>
            <a:r>
              <a:rPr lang="en-US" sz="3999">
                <a:solidFill>
                  <a:srgbClr val="000000"/>
                </a:solidFill>
                <a:latin typeface="Canva Sans"/>
              </a:rPr>
              <a:t>: involves trajectory planning like “How to follow my lane on curved road?” or “Should I brake or accelerate?”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25834" y="2594872"/>
            <a:ext cx="4933466" cy="3236653"/>
          </a:xfrm>
          <a:custGeom>
            <a:avLst/>
            <a:gdLst/>
            <a:ahLst/>
            <a:cxnLst/>
            <a:rect l="l" t="t" r="r" b="b"/>
            <a:pathLst>
              <a:path w="4933466" h="3236653">
                <a:moveTo>
                  <a:pt x="0" y="0"/>
                </a:moveTo>
                <a:lnTo>
                  <a:pt x="4933466" y="0"/>
                </a:lnTo>
                <a:lnTo>
                  <a:pt x="4933466" y="3236653"/>
                </a:lnTo>
                <a:lnTo>
                  <a:pt x="0" y="3236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577977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Make Decisions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5721" y="2518672"/>
            <a:ext cx="10901486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3.</a:t>
            </a:r>
            <a:r>
              <a:rPr lang="en-US" sz="3999">
                <a:solidFill>
                  <a:srgbClr val="000000"/>
                </a:solidFill>
                <a:latin typeface="Canva Sans Bold"/>
              </a:rPr>
              <a:t>Immediate Planning</a:t>
            </a:r>
            <a:r>
              <a:rPr lang="en-US" sz="3999">
                <a:solidFill>
                  <a:srgbClr val="000000"/>
                </a:solidFill>
                <a:latin typeface="Canva Sans"/>
              </a:rPr>
              <a:t>: involves trajectory planning like “How to follow my lane on curved road?” or “Should I brake or accelerate?”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These scenarios rises suddenly through riding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04629" y="1997448"/>
            <a:ext cx="9278742" cy="5389975"/>
          </a:xfrm>
          <a:custGeom>
            <a:avLst/>
            <a:gdLst/>
            <a:ahLst/>
            <a:cxnLst/>
            <a:rect l="l" t="t" r="r" b="b"/>
            <a:pathLst>
              <a:path w="9278742" h="5389975">
                <a:moveTo>
                  <a:pt x="0" y="0"/>
                </a:moveTo>
                <a:lnTo>
                  <a:pt x="9278742" y="0"/>
                </a:lnTo>
                <a:lnTo>
                  <a:pt x="9278742" y="5389975"/>
                </a:lnTo>
                <a:lnTo>
                  <a:pt x="0" y="5389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9" b="-2779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322516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Senarios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04629" y="1997448"/>
            <a:ext cx="9278742" cy="5389975"/>
          </a:xfrm>
          <a:custGeom>
            <a:avLst/>
            <a:gdLst/>
            <a:ahLst/>
            <a:cxnLst/>
            <a:rect l="l" t="t" r="r" b="b"/>
            <a:pathLst>
              <a:path w="9278742" h="5389975">
                <a:moveTo>
                  <a:pt x="0" y="0"/>
                </a:moveTo>
                <a:lnTo>
                  <a:pt x="9278742" y="0"/>
                </a:lnTo>
                <a:lnTo>
                  <a:pt x="9278742" y="5389975"/>
                </a:lnTo>
                <a:lnTo>
                  <a:pt x="0" y="5389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9" b="-2779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322516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Senarios</a:t>
            </a:r>
          </a:p>
        </p:txBody>
      </p:sp>
      <p:sp>
        <p:nvSpPr>
          <p:cNvPr id="5" name="Freeform 5"/>
          <p:cNvSpPr/>
          <p:nvPr/>
        </p:nvSpPr>
        <p:spPr>
          <a:xfrm>
            <a:off x="7700432" y="7387423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2"/>
                </a:lnTo>
                <a:lnTo>
                  <a:pt x="0" y="1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185327" y="7987172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Long term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04629" y="1997448"/>
            <a:ext cx="9278742" cy="5389975"/>
          </a:xfrm>
          <a:custGeom>
            <a:avLst/>
            <a:gdLst/>
            <a:ahLst/>
            <a:cxnLst/>
            <a:rect l="l" t="t" r="r" b="b"/>
            <a:pathLst>
              <a:path w="9278742" h="5389975">
                <a:moveTo>
                  <a:pt x="0" y="0"/>
                </a:moveTo>
                <a:lnTo>
                  <a:pt x="9278742" y="0"/>
                </a:lnTo>
                <a:lnTo>
                  <a:pt x="9278742" y="5389975"/>
                </a:lnTo>
                <a:lnTo>
                  <a:pt x="0" y="5389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618" b="-3618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322516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Senarios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04629" y="1997448"/>
            <a:ext cx="9278742" cy="5389975"/>
          </a:xfrm>
          <a:custGeom>
            <a:avLst/>
            <a:gdLst/>
            <a:ahLst/>
            <a:cxnLst/>
            <a:rect l="l" t="t" r="r" b="b"/>
            <a:pathLst>
              <a:path w="9278742" h="5389975">
                <a:moveTo>
                  <a:pt x="0" y="0"/>
                </a:moveTo>
                <a:lnTo>
                  <a:pt x="9278742" y="0"/>
                </a:lnTo>
                <a:lnTo>
                  <a:pt x="9278742" y="5389975"/>
                </a:lnTo>
                <a:lnTo>
                  <a:pt x="0" y="5389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9" b="-2779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322516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Senarios</a:t>
            </a:r>
          </a:p>
        </p:txBody>
      </p:sp>
      <p:sp>
        <p:nvSpPr>
          <p:cNvPr id="5" name="Freeform 5"/>
          <p:cNvSpPr/>
          <p:nvPr/>
        </p:nvSpPr>
        <p:spPr>
          <a:xfrm>
            <a:off x="7700432" y="7387423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2"/>
                </a:lnTo>
                <a:lnTo>
                  <a:pt x="0" y="1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185327" y="7987172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Short term</a:t>
            </a:r>
          </a:p>
        </p:txBody>
      </p:sp>
      <p:sp>
        <p:nvSpPr>
          <p:cNvPr id="7" name="Freeform 7"/>
          <p:cNvSpPr/>
          <p:nvPr/>
        </p:nvSpPr>
        <p:spPr>
          <a:xfrm>
            <a:off x="4530720" y="1997448"/>
            <a:ext cx="9278742" cy="5389975"/>
          </a:xfrm>
          <a:custGeom>
            <a:avLst/>
            <a:gdLst/>
            <a:ahLst/>
            <a:cxnLst/>
            <a:rect l="l" t="t" r="r" b="b"/>
            <a:pathLst>
              <a:path w="9278742" h="5389975">
                <a:moveTo>
                  <a:pt x="0" y="0"/>
                </a:moveTo>
                <a:lnTo>
                  <a:pt x="9278742" y="0"/>
                </a:lnTo>
                <a:lnTo>
                  <a:pt x="9278742" y="5389975"/>
                </a:lnTo>
                <a:lnTo>
                  <a:pt x="0" y="5389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618" b="-3618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04629" y="1997448"/>
            <a:ext cx="9278742" cy="5389975"/>
          </a:xfrm>
          <a:custGeom>
            <a:avLst/>
            <a:gdLst/>
            <a:ahLst/>
            <a:cxnLst/>
            <a:rect l="l" t="t" r="r" b="b"/>
            <a:pathLst>
              <a:path w="9278742" h="5389975">
                <a:moveTo>
                  <a:pt x="0" y="0"/>
                </a:moveTo>
                <a:lnTo>
                  <a:pt x="9278742" y="0"/>
                </a:lnTo>
                <a:lnTo>
                  <a:pt x="9278742" y="5389975"/>
                </a:lnTo>
                <a:lnTo>
                  <a:pt x="0" y="5389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34" b="-2334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322516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Senarios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04629" y="1997448"/>
            <a:ext cx="9278742" cy="5389975"/>
          </a:xfrm>
          <a:custGeom>
            <a:avLst/>
            <a:gdLst/>
            <a:ahLst/>
            <a:cxnLst/>
            <a:rect l="l" t="t" r="r" b="b"/>
            <a:pathLst>
              <a:path w="9278742" h="5389975">
                <a:moveTo>
                  <a:pt x="0" y="0"/>
                </a:moveTo>
                <a:lnTo>
                  <a:pt x="9278742" y="0"/>
                </a:lnTo>
                <a:lnTo>
                  <a:pt x="9278742" y="5389975"/>
                </a:lnTo>
                <a:lnTo>
                  <a:pt x="0" y="5389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34" b="-2334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322516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Senarios</a:t>
            </a:r>
          </a:p>
        </p:txBody>
      </p:sp>
      <p:sp>
        <p:nvSpPr>
          <p:cNvPr id="5" name="Freeform 5"/>
          <p:cNvSpPr/>
          <p:nvPr/>
        </p:nvSpPr>
        <p:spPr>
          <a:xfrm>
            <a:off x="7700432" y="7387423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2"/>
                </a:lnTo>
                <a:lnTo>
                  <a:pt x="0" y="1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185327" y="7745904"/>
            <a:ext cx="3454423" cy="8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Immediate planning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429822" y="1519945"/>
            <a:ext cx="9428357" cy="5867478"/>
          </a:xfrm>
          <a:custGeom>
            <a:avLst/>
            <a:gdLst/>
            <a:ahLst/>
            <a:cxnLst/>
            <a:rect l="l" t="t" r="r" b="b"/>
            <a:pathLst>
              <a:path w="9428357" h="5867478">
                <a:moveTo>
                  <a:pt x="0" y="0"/>
                </a:moveTo>
                <a:lnTo>
                  <a:pt x="9428356" y="0"/>
                </a:lnTo>
                <a:lnTo>
                  <a:pt x="9428356" y="5867478"/>
                </a:lnTo>
                <a:lnTo>
                  <a:pt x="0" y="5867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322516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Senarios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00432" y="7387423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2"/>
                </a:lnTo>
                <a:lnTo>
                  <a:pt x="0" y="1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29822" y="1519945"/>
            <a:ext cx="9428357" cy="5867478"/>
          </a:xfrm>
          <a:custGeom>
            <a:avLst/>
            <a:gdLst/>
            <a:ahLst/>
            <a:cxnLst/>
            <a:rect l="l" t="t" r="r" b="b"/>
            <a:pathLst>
              <a:path w="9428357" h="5867478">
                <a:moveTo>
                  <a:pt x="0" y="0"/>
                </a:moveTo>
                <a:lnTo>
                  <a:pt x="9428356" y="0"/>
                </a:lnTo>
                <a:lnTo>
                  <a:pt x="9428356" y="5867478"/>
                </a:lnTo>
                <a:lnTo>
                  <a:pt x="0" y="5867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866694" y="457200"/>
            <a:ext cx="322516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Senarios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85327" y="7745904"/>
            <a:ext cx="3454423" cy="8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Immediate planning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66694" y="457200"/>
            <a:ext cx="5703094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Important note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31054" y="2333955"/>
            <a:ext cx="15023663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Any Simple driving scenario requires minimum</a:t>
            </a:r>
          </a:p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3-4 levels of decisions </a:t>
            </a:r>
          </a:p>
        </p:txBody>
      </p:sp>
      <p:sp>
        <p:nvSpPr>
          <p:cNvPr id="5" name="Freeform 5"/>
          <p:cNvSpPr/>
          <p:nvPr/>
        </p:nvSpPr>
        <p:spPr>
          <a:xfrm>
            <a:off x="7849916" y="5171093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485438" y="5087950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9" y="0"/>
                </a:lnTo>
                <a:lnTo>
                  <a:pt x="2939319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501977" y="5566055"/>
            <a:ext cx="3120090" cy="8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Follow traffic rules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70334" y="5687700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Effecienly</a:t>
            </a:r>
          </a:p>
        </p:txBody>
      </p:sp>
      <p:sp>
        <p:nvSpPr>
          <p:cNvPr id="9" name="Freeform 9"/>
          <p:cNvSpPr/>
          <p:nvPr/>
        </p:nvSpPr>
        <p:spPr>
          <a:xfrm>
            <a:off x="3378348" y="5087950"/>
            <a:ext cx="2939318" cy="1561513"/>
          </a:xfrm>
          <a:custGeom>
            <a:avLst/>
            <a:gdLst/>
            <a:ahLst/>
            <a:cxnLst/>
            <a:rect l="l" t="t" r="r" b="b"/>
            <a:pathLst>
              <a:path w="2939318" h="1561513">
                <a:moveTo>
                  <a:pt x="0" y="0"/>
                </a:moveTo>
                <a:lnTo>
                  <a:pt x="2939318" y="0"/>
                </a:lnTo>
                <a:lnTo>
                  <a:pt x="2939318" y="1561513"/>
                </a:lnTo>
                <a:lnTo>
                  <a:pt x="0" y="15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863243" y="5651219"/>
            <a:ext cx="345442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HK Grotesk Bold"/>
              </a:rPr>
              <a:t>Safely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25834" y="2594872"/>
            <a:ext cx="4933466" cy="3236653"/>
          </a:xfrm>
          <a:custGeom>
            <a:avLst/>
            <a:gdLst/>
            <a:ahLst/>
            <a:cxnLst/>
            <a:rect l="l" t="t" r="r" b="b"/>
            <a:pathLst>
              <a:path w="4933466" h="3236653">
                <a:moveTo>
                  <a:pt x="0" y="0"/>
                </a:moveTo>
                <a:lnTo>
                  <a:pt x="4933466" y="0"/>
                </a:lnTo>
                <a:lnTo>
                  <a:pt x="4933466" y="3236653"/>
                </a:lnTo>
                <a:lnTo>
                  <a:pt x="0" y="3236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71" r="-4671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577977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Make Decisions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5721" y="2518672"/>
            <a:ext cx="10901486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4.</a:t>
            </a:r>
            <a:r>
              <a:rPr lang="en-US" sz="3999">
                <a:solidFill>
                  <a:srgbClr val="000000"/>
                </a:solidFill>
                <a:latin typeface="Canva Sans Bold"/>
              </a:rPr>
              <a:t>Rule based planning(Reactive)</a:t>
            </a:r>
            <a:r>
              <a:rPr lang="en-US" sz="3999">
                <a:solidFill>
                  <a:srgbClr val="000000"/>
                </a:solidFill>
                <a:latin typeface="Canva Sans"/>
              </a:rPr>
              <a:t>: 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Here we get some rules that take into account the current state ego and give decisions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5721" y="5755325"/>
            <a:ext cx="10901486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Examples</a:t>
            </a:r>
            <a:r>
              <a:rPr lang="en-US" sz="3999">
                <a:solidFill>
                  <a:srgbClr val="000000"/>
                </a:solidFill>
                <a:latin typeface="Canva Sans"/>
              </a:rPr>
              <a:t>: 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1-If there is a pedestrian, stop.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2-If speed limit changes, adjust to match it 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54424" y="2594872"/>
            <a:ext cx="4804876" cy="3236653"/>
          </a:xfrm>
          <a:custGeom>
            <a:avLst/>
            <a:gdLst/>
            <a:ahLst/>
            <a:cxnLst/>
            <a:rect l="l" t="t" r="r" b="b"/>
            <a:pathLst>
              <a:path w="4804876" h="3236653">
                <a:moveTo>
                  <a:pt x="0" y="0"/>
                </a:moveTo>
                <a:lnTo>
                  <a:pt x="4804876" y="0"/>
                </a:lnTo>
                <a:lnTo>
                  <a:pt x="4804876" y="3236653"/>
                </a:lnTo>
                <a:lnTo>
                  <a:pt x="0" y="3236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674" r="-1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66694" y="457200"/>
            <a:ext cx="577977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Make Decisions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5721" y="2518672"/>
            <a:ext cx="10901486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5.</a:t>
            </a:r>
            <a:r>
              <a:rPr lang="en-US" sz="3999">
                <a:solidFill>
                  <a:srgbClr val="000000"/>
                </a:solidFill>
                <a:latin typeface="Canva Sans Bold"/>
              </a:rPr>
              <a:t>Prediction planning</a:t>
            </a:r>
            <a:r>
              <a:rPr lang="en-US" sz="3999">
                <a:solidFill>
                  <a:srgbClr val="000000"/>
                </a:solidFill>
                <a:latin typeface="Canva Sans"/>
              </a:rPr>
              <a:t>: 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Make decisions about other vehicles and how they are moving. then take action based on that prediction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5721" y="5755325"/>
            <a:ext cx="10901486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Examples</a:t>
            </a:r>
            <a:r>
              <a:rPr lang="en-US" sz="3999">
                <a:solidFill>
                  <a:srgbClr val="000000"/>
                </a:solidFill>
                <a:latin typeface="Canva Sans"/>
              </a:rPr>
              <a:t>: 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The car driving behind me increases its speed, it wants to change lane.</a:t>
            </a:r>
          </a:p>
          <a:p>
            <a:pPr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81697" y="4000500"/>
            <a:ext cx="7324606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Canva Sans Bold"/>
              </a:rPr>
              <a:t>Quiz Time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14400"/>
            <a:ext cx="1473664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What is the primary purpose of OEDR?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933385"/>
            <a:ext cx="14119013" cy="283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Pulling over upon hearing sirens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Measure the speed of moving objects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Maintaining a distance to a vehicle ahead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Enhance image resolution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14400"/>
            <a:ext cx="1473664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What is the primary purpose of OEDR?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933385"/>
            <a:ext cx="14119013" cy="283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Pulling over upon hearing sirens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Measure the speed of moving objects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Maintaining a distance to a vehicle ahead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Enhance image resolution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12543907" y="4423463"/>
            <a:ext cx="720037" cy="720037"/>
          </a:xfrm>
          <a:custGeom>
            <a:avLst/>
            <a:gdLst/>
            <a:ahLst/>
            <a:cxnLst/>
            <a:rect l="l" t="t" r="r" b="b"/>
            <a:pathLst>
              <a:path w="720037" h="720037">
                <a:moveTo>
                  <a:pt x="0" y="0"/>
                </a:moveTo>
                <a:lnTo>
                  <a:pt x="720037" y="0"/>
                </a:lnTo>
                <a:lnTo>
                  <a:pt x="720037" y="720037"/>
                </a:lnTo>
                <a:lnTo>
                  <a:pt x="0" y="720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14400"/>
            <a:ext cx="16639774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Which of the following tasks are associated with perception ?(choose all that apply)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013537"/>
            <a:ext cx="14119013" cy="283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Identifying road signs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Estimating the motion of other vehicles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Control and Actuation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Enhance Simulations and Testing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14400"/>
            <a:ext cx="16639774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Which of the following tasks are associated with perception ?(Select all that apply)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013537"/>
            <a:ext cx="14119013" cy="283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Identifying road signs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Estimating the motion of other vehicles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Control and Actuation</a:t>
            </a:r>
          </a:p>
          <a:p>
            <a:pPr marL="876055" lvl="1" indent="-438028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Enhance Simulations and Testing</a:t>
            </a:r>
          </a:p>
        </p:txBody>
      </p:sp>
      <p:sp>
        <p:nvSpPr>
          <p:cNvPr id="5" name="Freeform 5"/>
          <p:cNvSpPr/>
          <p:nvPr/>
        </p:nvSpPr>
        <p:spPr>
          <a:xfrm>
            <a:off x="10512193" y="4089737"/>
            <a:ext cx="720037" cy="720037"/>
          </a:xfrm>
          <a:custGeom>
            <a:avLst/>
            <a:gdLst/>
            <a:ahLst/>
            <a:cxnLst/>
            <a:rect l="l" t="t" r="r" b="b"/>
            <a:pathLst>
              <a:path w="720037" h="720037">
                <a:moveTo>
                  <a:pt x="0" y="0"/>
                </a:moveTo>
                <a:lnTo>
                  <a:pt x="720037" y="0"/>
                </a:lnTo>
                <a:lnTo>
                  <a:pt x="720037" y="720037"/>
                </a:lnTo>
                <a:lnTo>
                  <a:pt x="0" y="720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079077" y="4809774"/>
            <a:ext cx="720037" cy="720037"/>
          </a:xfrm>
          <a:custGeom>
            <a:avLst/>
            <a:gdLst/>
            <a:ahLst/>
            <a:cxnLst/>
            <a:rect l="l" t="t" r="r" b="b"/>
            <a:pathLst>
              <a:path w="720037" h="720037">
                <a:moveTo>
                  <a:pt x="0" y="0"/>
                </a:moveTo>
                <a:lnTo>
                  <a:pt x="720037" y="0"/>
                </a:lnTo>
                <a:lnTo>
                  <a:pt x="720037" y="720037"/>
                </a:lnTo>
                <a:lnTo>
                  <a:pt x="0" y="720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23925"/>
            <a:ext cx="16639774" cy="27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000000"/>
                </a:solidFill>
                <a:latin typeface="Canva Sans Bold"/>
              </a:rPr>
              <a:t>You entered your autonomous vehicle and you decided to take a nap. for which levels of autonomous is it safe? (Select all that apply)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553613"/>
            <a:ext cx="14119013" cy="283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6055" lvl="1" indent="-438027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Level 0</a:t>
            </a:r>
          </a:p>
          <a:p>
            <a:pPr marL="876055" lvl="1" indent="-438027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Level 4</a:t>
            </a:r>
          </a:p>
          <a:p>
            <a:pPr marL="876055" lvl="1" indent="-438027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Level 3</a:t>
            </a:r>
          </a:p>
          <a:p>
            <a:pPr marL="876055" lvl="1" indent="-438027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Level 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23925"/>
            <a:ext cx="16639774" cy="27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000000"/>
                </a:solidFill>
                <a:latin typeface="Canva Sans Bold"/>
              </a:rPr>
              <a:t>You entered your autonomous vehicle and you decided to take a nap. for which levels of autonomous is it safe? (Select all that apply)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553613"/>
            <a:ext cx="14119013" cy="283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6055" lvl="1" indent="-438027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Level 0</a:t>
            </a:r>
          </a:p>
          <a:p>
            <a:pPr marL="876055" lvl="1" indent="-438027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Level 4</a:t>
            </a:r>
          </a:p>
          <a:p>
            <a:pPr marL="876055" lvl="1" indent="-438027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Level 3</a:t>
            </a:r>
          </a:p>
          <a:p>
            <a:pPr marL="876055" lvl="1" indent="-438027">
              <a:lnSpc>
                <a:spcPts val="5680"/>
              </a:lnSpc>
              <a:buFont typeface="Arial"/>
              <a:buChar char="•"/>
            </a:pPr>
            <a:r>
              <a:rPr lang="en-US" sz="4057">
                <a:solidFill>
                  <a:srgbClr val="000000"/>
                </a:solidFill>
                <a:latin typeface="Canva Sans"/>
              </a:rPr>
              <a:t>Level 5</a:t>
            </a:r>
          </a:p>
        </p:txBody>
      </p:sp>
      <p:sp>
        <p:nvSpPr>
          <p:cNvPr id="5" name="Freeform 5"/>
          <p:cNvSpPr/>
          <p:nvPr/>
        </p:nvSpPr>
        <p:spPr>
          <a:xfrm>
            <a:off x="4571358" y="5286993"/>
            <a:ext cx="720037" cy="720037"/>
          </a:xfrm>
          <a:custGeom>
            <a:avLst/>
            <a:gdLst/>
            <a:ahLst/>
            <a:cxnLst/>
            <a:rect l="l" t="t" r="r" b="b"/>
            <a:pathLst>
              <a:path w="720037" h="720037">
                <a:moveTo>
                  <a:pt x="0" y="0"/>
                </a:moveTo>
                <a:lnTo>
                  <a:pt x="720037" y="0"/>
                </a:lnTo>
                <a:lnTo>
                  <a:pt x="720037" y="720037"/>
                </a:lnTo>
                <a:lnTo>
                  <a:pt x="0" y="720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571358" y="6664211"/>
            <a:ext cx="720037" cy="720037"/>
          </a:xfrm>
          <a:custGeom>
            <a:avLst/>
            <a:gdLst/>
            <a:ahLst/>
            <a:cxnLst/>
            <a:rect l="l" t="t" r="r" b="b"/>
            <a:pathLst>
              <a:path w="720037" h="720037">
                <a:moveTo>
                  <a:pt x="0" y="0"/>
                </a:moveTo>
                <a:lnTo>
                  <a:pt x="720037" y="0"/>
                </a:lnTo>
                <a:lnTo>
                  <a:pt x="720037" y="720037"/>
                </a:lnTo>
                <a:lnTo>
                  <a:pt x="0" y="720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02848" y="2450678"/>
            <a:ext cx="6279425" cy="4915778"/>
          </a:xfrm>
          <a:custGeom>
            <a:avLst/>
            <a:gdLst/>
            <a:ahLst/>
            <a:cxnLst/>
            <a:rect l="l" t="t" r="r" b="b"/>
            <a:pathLst>
              <a:path w="6279425" h="4915778">
                <a:moveTo>
                  <a:pt x="0" y="0"/>
                </a:moveTo>
                <a:lnTo>
                  <a:pt x="6279425" y="0"/>
                </a:lnTo>
                <a:lnTo>
                  <a:pt x="6279425" y="4915778"/>
                </a:lnTo>
                <a:lnTo>
                  <a:pt x="0" y="4915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6997" y="670138"/>
            <a:ext cx="16592303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You are approaching an all way stop sign and you want to make a right turn . </a:t>
            </a:r>
            <a:r>
              <a:rPr lang="en-US" sz="3399">
                <a:solidFill>
                  <a:srgbClr val="000000"/>
                </a:solidFill>
                <a:latin typeface="Canva Sans Bold"/>
              </a:rPr>
              <a:t>note</a:t>
            </a:r>
            <a:r>
              <a:rPr lang="en-US" sz="3399">
                <a:solidFill>
                  <a:srgbClr val="000000"/>
                </a:solidFill>
                <a:latin typeface="Canva Sans"/>
              </a:rPr>
              <a:t> : you are an orange car and there are 2 pedestrians  crossing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997" y="2104765"/>
            <a:ext cx="1093436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The task involves multiple considerations which of them are predictive planning?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997" y="3551930"/>
            <a:ext cx="10934365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Gradually decelerate while reaching the stop sign</a:t>
            </a:r>
          </a:p>
          <a:p>
            <a:pPr marL="647702" lvl="1" indent="-32385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Wait for the pedestrians to finish crossing before turning</a:t>
            </a:r>
          </a:p>
          <a:p>
            <a:pPr marL="647702" lvl="1" indent="-32385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At a stop sign, stop and look both ways before proceeding</a:t>
            </a:r>
          </a:p>
          <a:p>
            <a:pPr marL="647702" lvl="1" indent="-32385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The green car arrives at the stop sign after you and plans to travel straight through the intersection. You choose to move first.</a:t>
            </a:r>
          </a:p>
          <a:p>
            <a:pPr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02848" y="2450678"/>
            <a:ext cx="6279425" cy="4915778"/>
          </a:xfrm>
          <a:custGeom>
            <a:avLst/>
            <a:gdLst/>
            <a:ahLst/>
            <a:cxnLst/>
            <a:rect l="l" t="t" r="r" b="b"/>
            <a:pathLst>
              <a:path w="6279425" h="4915778">
                <a:moveTo>
                  <a:pt x="0" y="0"/>
                </a:moveTo>
                <a:lnTo>
                  <a:pt x="6279425" y="0"/>
                </a:lnTo>
                <a:lnTo>
                  <a:pt x="6279425" y="4915778"/>
                </a:lnTo>
                <a:lnTo>
                  <a:pt x="0" y="4915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6997" y="670138"/>
            <a:ext cx="16592303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You are approaching an all way stop sign and you want to make a right turn . </a:t>
            </a:r>
            <a:r>
              <a:rPr lang="en-US" sz="3399">
                <a:solidFill>
                  <a:srgbClr val="000000"/>
                </a:solidFill>
                <a:latin typeface="Canva Sans Bold"/>
              </a:rPr>
              <a:t>note</a:t>
            </a:r>
            <a:r>
              <a:rPr lang="en-US" sz="3399">
                <a:solidFill>
                  <a:srgbClr val="000000"/>
                </a:solidFill>
                <a:latin typeface="Canva Sans"/>
              </a:rPr>
              <a:t> : you are an orange car and there are 2 pedestrians  crossing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997" y="2104765"/>
            <a:ext cx="1093436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The task involves multiple considerations which of them are predictive planning?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997" y="3551930"/>
            <a:ext cx="10934365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Gradually decelerate while reaching the stop sign</a:t>
            </a:r>
          </a:p>
          <a:p>
            <a:pPr marL="647702" lvl="1" indent="-32385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Wait for the pedestrians to finish crossing before turning</a:t>
            </a:r>
          </a:p>
          <a:p>
            <a:pPr marL="647702" lvl="1" indent="-32385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At a stop sign, stop and look both ways before proceeding</a:t>
            </a:r>
          </a:p>
          <a:p>
            <a:pPr marL="647702" lvl="1" indent="-32385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</a:rPr>
              <a:t>The green car arrives at the stop sign after you and plans to travel straight through the intersection. You choose to move first.</a:t>
            </a:r>
          </a:p>
          <a:p>
            <a:pPr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3954128" y="4577770"/>
            <a:ext cx="565730" cy="565730"/>
          </a:xfrm>
          <a:custGeom>
            <a:avLst/>
            <a:gdLst/>
            <a:ahLst/>
            <a:cxnLst/>
            <a:rect l="l" t="t" r="r" b="b"/>
            <a:pathLst>
              <a:path w="565730" h="565730">
                <a:moveTo>
                  <a:pt x="0" y="0"/>
                </a:moveTo>
                <a:lnTo>
                  <a:pt x="565730" y="0"/>
                </a:lnTo>
                <a:lnTo>
                  <a:pt x="565730" y="565730"/>
                </a:lnTo>
                <a:lnTo>
                  <a:pt x="0" y="565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529873" y="7366456"/>
            <a:ext cx="604307" cy="604307"/>
          </a:xfrm>
          <a:custGeom>
            <a:avLst/>
            <a:gdLst/>
            <a:ahLst/>
            <a:cxnLst/>
            <a:rect l="l" t="t" r="r" b="b"/>
            <a:pathLst>
              <a:path w="604307" h="604307">
                <a:moveTo>
                  <a:pt x="0" y="0"/>
                </a:moveTo>
                <a:lnTo>
                  <a:pt x="604307" y="0"/>
                </a:lnTo>
                <a:lnTo>
                  <a:pt x="604307" y="604307"/>
                </a:lnTo>
                <a:lnTo>
                  <a:pt x="0" y="604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2922" y="358049"/>
            <a:ext cx="14907316" cy="4195881"/>
          </a:xfrm>
          <a:custGeom>
            <a:avLst/>
            <a:gdLst/>
            <a:ahLst/>
            <a:cxnLst/>
            <a:rect l="l" t="t" r="r" b="b"/>
            <a:pathLst>
              <a:path w="14907316" h="4195881">
                <a:moveTo>
                  <a:pt x="0" y="0"/>
                </a:moveTo>
                <a:lnTo>
                  <a:pt x="14907316" y="0"/>
                </a:lnTo>
                <a:lnTo>
                  <a:pt x="14907316" y="4195880"/>
                </a:lnTo>
                <a:lnTo>
                  <a:pt x="0" y="4195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2922" y="4553929"/>
            <a:ext cx="1731953" cy="3909266"/>
          </a:xfrm>
          <a:custGeom>
            <a:avLst/>
            <a:gdLst/>
            <a:ahLst/>
            <a:cxnLst/>
            <a:rect l="l" t="t" r="r" b="b"/>
            <a:pathLst>
              <a:path w="1731953" h="3909266">
                <a:moveTo>
                  <a:pt x="0" y="0"/>
                </a:moveTo>
                <a:lnTo>
                  <a:pt x="1731953" y="0"/>
                </a:lnTo>
                <a:lnTo>
                  <a:pt x="1731953" y="3909266"/>
                </a:lnTo>
                <a:lnTo>
                  <a:pt x="0" y="3909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02848" y="2450678"/>
            <a:ext cx="6279425" cy="4915778"/>
          </a:xfrm>
          <a:custGeom>
            <a:avLst/>
            <a:gdLst/>
            <a:ahLst/>
            <a:cxnLst/>
            <a:rect l="l" t="t" r="r" b="b"/>
            <a:pathLst>
              <a:path w="6279425" h="4915778">
                <a:moveTo>
                  <a:pt x="0" y="0"/>
                </a:moveTo>
                <a:lnTo>
                  <a:pt x="6279425" y="0"/>
                </a:lnTo>
                <a:lnTo>
                  <a:pt x="6279425" y="4915778"/>
                </a:lnTo>
                <a:lnTo>
                  <a:pt x="0" y="4915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2922" y="358049"/>
            <a:ext cx="14907316" cy="4195881"/>
          </a:xfrm>
          <a:custGeom>
            <a:avLst/>
            <a:gdLst/>
            <a:ahLst/>
            <a:cxnLst/>
            <a:rect l="l" t="t" r="r" b="b"/>
            <a:pathLst>
              <a:path w="14907316" h="4195881">
                <a:moveTo>
                  <a:pt x="0" y="0"/>
                </a:moveTo>
                <a:lnTo>
                  <a:pt x="14907316" y="0"/>
                </a:lnTo>
                <a:lnTo>
                  <a:pt x="14907316" y="4195880"/>
                </a:lnTo>
                <a:lnTo>
                  <a:pt x="0" y="4195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2922" y="4553929"/>
            <a:ext cx="1731953" cy="3909266"/>
          </a:xfrm>
          <a:custGeom>
            <a:avLst/>
            <a:gdLst/>
            <a:ahLst/>
            <a:cxnLst/>
            <a:rect l="l" t="t" r="r" b="b"/>
            <a:pathLst>
              <a:path w="1731953" h="3909266">
                <a:moveTo>
                  <a:pt x="0" y="0"/>
                </a:moveTo>
                <a:lnTo>
                  <a:pt x="1731953" y="0"/>
                </a:lnTo>
                <a:lnTo>
                  <a:pt x="1731953" y="3909266"/>
                </a:lnTo>
                <a:lnTo>
                  <a:pt x="0" y="3909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92722" y="6206409"/>
            <a:ext cx="604307" cy="604307"/>
          </a:xfrm>
          <a:custGeom>
            <a:avLst/>
            <a:gdLst/>
            <a:ahLst/>
            <a:cxnLst/>
            <a:rect l="l" t="t" r="r" b="b"/>
            <a:pathLst>
              <a:path w="604307" h="604307">
                <a:moveTo>
                  <a:pt x="0" y="0"/>
                </a:moveTo>
                <a:lnTo>
                  <a:pt x="604307" y="0"/>
                </a:lnTo>
                <a:lnTo>
                  <a:pt x="604307" y="604307"/>
                </a:lnTo>
                <a:lnTo>
                  <a:pt x="0" y="6043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26897" y="291715"/>
            <a:ext cx="12234205" cy="6381967"/>
          </a:xfrm>
          <a:custGeom>
            <a:avLst/>
            <a:gdLst/>
            <a:ahLst/>
            <a:cxnLst/>
            <a:rect l="l" t="t" r="r" b="b"/>
            <a:pathLst>
              <a:path w="12234205" h="6381967">
                <a:moveTo>
                  <a:pt x="0" y="0"/>
                </a:moveTo>
                <a:lnTo>
                  <a:pt x="12234206" y="0"/>
                </a:lnTo>
                <a:lnTo>
                  <a:pt x="12234206" y="6381967"/>
                </a:lnTo>
                <a:lnTo>
                  <a:pt x="0" y="63819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65134" y="7555596"/>
            <a:ext cx="1415773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1.Longitudinal          2. Lateral                 3. OEDR                   4.  Fullback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26897" y="291715"/>
            <a:ext cx="12234205" cy="6381967"/>
          </a:xfrm>
          <a:custGeom>
            <a:avLst/>
            <a:gdLst/>
            <a:ahLst/>
            <a:cxnLst/>
            <a:rect l="l" t="t" r="r" b="b"/>
            <a:pathLst>
              <a:path w="12234205" h="6381967">
                <a:moveTo>
                  <a:pt x="0" y="0"/>
                </a:moveTo>
                <a:lnTo>
                  <a:pt x="12234206" y="0"/>
                </a:lnTo>
                <a:lnTo>
                  <a:pt x="12234206" y="6381967"/>
                </a:lnTo>
                <a:lnTo>
                  <a:pt x="0" y="63819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65134" y="7555596"/>
            <a:ext cx="1415773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1.Longitudinal          2. Lateral                 3. OEDR                   4.  Fullback</a:t>
            </a:r>
          </a:p>
        </p:txBody>
      </p:sp>
      <p:sp>
        <p:nvSpPr>
          <p:cNvPr id="5" name="Freeform 5"/>
          <p:cNvSpPr/>
          <p:nvPr/>
        </p:nvSpPr>
        <p:spPr>
          <a:xfrm>
            <a:off x="3394654" y="8135986"/>
            <a:ext cx="604307" cy="604307"/>
          </a:xfrm>
          <a:custGeom>
            <a:avLst/>
            <a:gdLst/>
            <a:ahLst/>
            <a:cxnLst/>
            <a:rect l="l" t="t" r="r" b="b"/>
            <a:pathLst>
              <a:path w="604307" h="604307">
                <a:moveTo>
                  <a:pt x="0" y="0"/>
                </a:moveTo>
                <a:lnTo>
                  <a:pt x="604307" y="0"/>
                </a:lnTo>
                <a:lnTo>
                  <a:pt x="604307" y="604306"/>
                </a:lnTo>
                <a:lnTo>
                  <a:pt x="0" y="604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82169"/>
            <a:ext cx="15819082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"/>
              </a:rPr>
              <a:t>You decide to change  lanes  to pass the track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003550"/>
            <a:ext cx="5867519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Rule-based planning</a:t>
            </a:r>
          </a:p>
          <a:p>
            <a:pPr marL="863599" lvl="1" indent="-431800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Immediate</a:t>
            </a:r>
          </a:p>
          <a:p>
            <a:pPr marL="863599" lvl="1" indent="-431800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Long term planning</a:t>
            </a:r>
          </a:p>
          <a:p>
            <a:pPr marL="863599" lvl="1" indent="-431800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Short term planning</a:t>
            </a:r>
          </a:p>
          <a:p>
            <a:pPr marL="863599" lvl="1" indent="-431800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Reactive</a:t>
            </a:r>
          </a:p>
          <a:p>
            <a:pPr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82169"/>
            <a:ext cx="15819082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"/>
              </a:rPr>
              <a:t>You decide to change  lanes  to pass the track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003550"/>
            <a:ext cx="5867519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Rule-based planning</a:t>
            </a:r>
          </a:p>
          <a:p>
            <a:pPr marL="863599" lvl="1" indent="-431800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Immediate</a:t>
            </a:r>
          </a:p>
          <a:p>
            <a:pPr marL="863599" lvl="1" indent="-431800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Long term planning</a:t>
            </a:r>
          </a:p>
          <a:p>
            <a:pPr marL="863599" lvl="1" indent="-431800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Short term planning</a:t>
            </a:r>
          </a:p>
          <a:p>
            <a:pPr marL="863599" lvl="1" indent="-431800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</a:rPr>
              <a:t>Reactive</a:t>
            </a:r>
          </a:p>
          <a:p>
            <a:pPr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Canva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7355211" y="5143500"/>
            <a:ext cx="604307" cy="604307"/>
          </a:xfrm>
          <a:custGeom>
            <a:avLst/>
            <a:gdLst/>
            <a:ahLst/>
            <a:cxnLst/>
            <a:rect l="l" t="t" r="r" b="b"/>
            <a:pathLst>
              <a:path w="604307" h="604307">
                <a:moveTo>
                  <a:pt x="0" y="0"/>
                </a:moveTo>
                <a:lnTo>
                  <a:pt x="604306" y="0"/>
                </a:lnTo>
                <a:lnTo>
                  <a:pt x="604306" y="604307"/>
                </a:lnTo>
                <a:lnTo>
                  <a:pt x="0" y="604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78912" y="3586161"/>
            <a:ext cx="7130177" cy="2314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0399"/>
              </a:lnSpc>
            </a:pPr>
            <a:r>
              <a:rPr lang="en-US" sz="9999" spc="29">
                <a:solidFill>
                  <a:srgbClr val="000000"/>
                </a:solidFill>
                <a:latin typeface="Canva Sans Bold"/>
              </a:rPr>
              <a:t>Thanks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2 - Introduction to autonomous vehicles</dc:title>
  <cp:lastModifiedBy>Hussain Ahmed</cp:lastModifiedBy>
  <cp:revision>2</cp:revision>
  <dcterms:created xsi:type="dcterms:W3CDTF">2006-08-16T00:00:00Z</dcterms:created>
  <dcterms:modified xsi:type="dcterms:W3CDTF">2023-10-10T21:52:19Z</dcterms:modified>
  <dc:identifier>DAFvcMF1fmw</dc:identifier>
</cp:coreProperties>
</file>