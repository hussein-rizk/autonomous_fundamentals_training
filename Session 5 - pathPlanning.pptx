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2" r:id="rId8"/>
    <p:sldId id="263" r:id="rId9"/>
    <p:sldId id="268" r:id="rId10"/>
    <p:sldId id="270" r:id="rId11"/>
    <p:sldId id="302" r:id="rId12"/>
    <p:sldId id="276" r:id="rId13"/>
    <p:sldId id="295" r:id="rId14"/>
    <p:sldId id="294" r:id="rId15"/>
    <p:sldId id="281" r:id="rId16"/>
    <p:sldId id="293" r:id="rId17"/>
    <p:sldId id="303" r:id="rId18"/>
    <p:sldId id="267" r:id="rId19"/>
    <p:sldId id="269" r:id="rId20"/>
    <p:sldId id="291" r:id="rId21"/>
    <p:sldId id="296" r:id="rId22"/>
    <p:sldId id="292" r:id="rId23"/>
    <p:sldId id="274" r:id="rId24"/>
    <p:sldId id="282" r:id="rId25"/>
    <p:sldId id="297" r:id="rId26"/>
    <p:sldId id="300" r:id="rId27"/>
    <p:sldId id="299" r:id="rId28"/>
    <p:sldId id="286" r:id="rId29"/>
    <p:sldId id="288" r:id="rId30"/>
    <p:sldId id="289" r:id="rId31"/>
    <p:sldId id="290" r:id="rId32"/>
    <p:sldId id="287" r:id="rId33"/>
    <p:sldId id="301" r:id="rId34"/>
    <p:sldId id="284" r:id="rId35"/>
    <p:sldId id="275" r:id="rId36"/>
    <p:sldId id="262" r:id="rId37"/>
  </p:sldIdLst>
  <p:sldSz cx="18288000" cy="10287000"/>
  <p:notesSz cx="6858000" cy="9144000"/>
  <p:embeddedFontLst>
    <p:embeddedFont>
      <p:font typeface="Arial Nova" panose="020B0504020202020204" pitchFamily="34" charset="0"/>
      <p:regular r:id="rId38"/>
      <p:bold r:id="rId39"/>
      <p:italic r:id="rId40"/>
      <p:boldItalic r:id="rId41"/>
    </p:embeddedFont>
    <p:embeddedFont>
      <p:font typeface="Calibri" panose="020F0502020204030204" pitchFamily="34" charset="0"/>
      <p:regular r:id="rId42"/>
      <p:bold r:id="rId43"/>
      <p:italic r:id="rId44"/>
      <p:boldItalic r:id="rId45"/>
    </p:embeddedFont>
    <p:embeddedFont>
      <p:font typeface="Canva Sans Bold" panose="020B0604020202020204" charset="0"/>
      <p:regular r:id="rId46"/>
    </p:embeddedFont>
    <p:embeddedFont>
      <p:font typeface="Glacial Indifference" panose="020B0604020202020204" charset="0"/>
      <p:regular r:id="rId47"/>
    </p:embeddedFont>
    <p:embeddedFont>
      <p:font typeface="Glacial Indifference Bold" panose="020B0604020202020204" charset="0"/>
      <p:regular r:id="rId4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2C0425-88E0-D761-4385-432A4719E57B}" v="2294" dt="2023-09-29T18:28:33.165"/>
    <p1510:client id="{02C2FE22-EF91-F1DF-1C4E-D67AABDC89F0}" v="90" dt="2023-10-02T11:42:21.220"/>
    <p1510:client id="{1BBD2506-DAC6-ABD5-8B8B-646A551FBD5E}" v="63" dt="2023-10-05T09:59:42.538"/>
    <p1510:client id="{34ED97C7-A362-50B9-1775-15B28F3A08E5}" v="114" dt="2023-09-29T18:37:06.730"/>
    <p1510:client id="{3DF86C29-1BD3-ACCA-E503-9D292C881004}" v="1926" dt="2023-09-30T05:58:23.411"/>
    <p1510:client id="{5D6C3196-129A-63F8-FF47-77569C015DC1}" v="859" dt="2023-09-30T06:32:47.317"/>
    <p1510:client id="{93833636-4B72-4AAE-97AB-454794145F27}" v="121" dt="2023-10-02T13:38:34.664"/>
    <p1510:client id="{A9A8217D-D8F5-925E-5CDC-D50D0817D5B7}" v="775" dt="2023-09-30T09:22:43.291"/>
    <p1510:client id="{B808167F-D45E-B8C8-E42C-AEFCFF8F8E2D}" v="1612" dt="2023-10-03T16:20:50.1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4" d="100"/>
          <a:sy n="54" d="100"/>
        </p:scale>
        <p:origin x="754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5.fntdata"/><Relationship Id="rId47" Type="http://schemas.openxmlformats.org/officeDocument/2006/relationships/font" Target="fonts/font10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3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7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6.fntdata"/><Relationship Id="rId48" Type="http://schemas.openxmlformats.org/officeDocument/2006/relationships/font" Target="fonts/font11.fnt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46" Type="http://schemas.openxmlformats.org/officeDocument/2006/relationships/font" Target="fonts/font9.fntdata"/><Relationship Id="rId20" Type="http://schemas.openxmlformats.org/officeDocument/2006/relationships/slide" Target="slides/slide19.xml"/><Relationship Id="rId41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1.xml"/><Relationship Id="rId1" Type="http://schemas.openxmlformats.org/officeDocument/2006/relationships/video" Target="https://www.youtube.com/embed/m1BlAS-QPIo?feature=oembed" TargetMode="External"/><Relationship Id="rId4" Type="http://schemas.openxmlformats.org/officeDocument/2006/relationships/image" Target="../media/image10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1.xml"/><Relationship Id="rId1" Type="http://schemas.openxmlformats.org/officeDocument/2006/relationships/video" Target="https://www.youtube.com/embed/UTbiAu8IXas?feature=oembed" TargetMode="External"/><Relationship Id="rId4" Type="http://schemas.openxmlformats.org/officeDocument/2006/relationships/image" Target="../media/image12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gi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gif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gif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1" b="-23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5366048" y="1095510"/>
            <a:ext cx="7555903" cy="7555903"/>
          </a:xfrm>
          <a:custGeom>
            <a:avLst/>
            <a:gdLst/>
            <a:ahLst/>
            <a:cxnLst/>
            <a:rect l="l" t="t" r="r" b="b"/>
            <a:pathLst>
              <a:path w="7555903" h="7555903">
                <a:moveTo>
                  <a:pt x="0" y="0"/>
                </a:moveTo>
                <a:lnTo>
                  <a:pt x="7555904" y="0"/>
                </a:lnTo>
                <a:lnTo>
                  <a:pt x="7555904" y="7555904"/>
                </a:lnTo>
                <a:lnTo>
                  <a:pt x="0" y="75559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1" b="-23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404521" y="3519806"/>
            <a:ext cx="15478959" cy="4167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800"/>
              </a:lnSpc>
              <a:spcBef>
                <a:spcPct val="0"/>
              </a:spcBef>
            </a:pPr>
            <a:r>
              <a:rPr lang="en-US" sz="12000">
                <a:solidFill>
                  <a:srgbClr val="FF0000"/>
                </a:solidFill>
                <a:latin typeface="Canva Sans Bold"/>
              </a:rPr>
              <a:t>Autonomous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1" b="-231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028700" y="565778"/>
            <a:ext cx="16995737" cy="7295981"/>
            <a:chOff x="0" y="0"/>
            <a:chExt cx="22660983" cy="9727975"/>
          </a:xfrm>
        </p:grpSpPr>
        <p:sp>
          <p:nvSpPr>
            <p:cNvPr id="4" name="TextBox 4"/>
            <p:cNvSpPr txBox="1"/>
            <p:nvPr/>
          </p:nvSpPr>
          <p:spPr>
            <a:xfrm>
              <a:off x="0" y="-19050"/>
              <a:ext cx="22660983" cy="1644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600"/>
                </a:lnSpc>
              </a:pPr>
              <a:r>
                <a:rPr lang="en-US" sz="8000" spc="416">
                  <a:solidFill>
                    <a:srgbClr val="000000"/>
                  </a:solidFill>
                  <a:latin typeface="Glacial Indifference Bold"/>
                </a:rPr>
                <a:t>RULES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572711"/>
              <a:ext cx="22660983" cy="81552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928368" lvl="1" indent="-464184">
                <a:lnSpc>
                  <a:spcPts val="8298"/>
                </a:lnSpc>
                <a:buFont typeface="Arial"/>
                <a:buChar char="•"/>
              </a:pPr>
              <a:r>
                <a:rPr lang="en-US" sz="4299">
                  <a:solidFill>
                    <a:srgbClr val="000000"/>
                  </a:solidFill>
                  <a:latin typeface="Glacial Indifference"/>
                </a:rPr>
                <a:t>No side talks</a:t>
              </a:r>
            </a:p>
            <a:p>
              <a:pPr marL="928368" lvl="1" indent="-464184" algn="l">
                <a:lnSpc>
                  <a:spcPts val="8298"/>
                </a:lnSpc>
                <a:buFont typeface="Arial"/>
                <a:buChar char="•"/>
              </a:pPr>
              <a:r>
                <a:rPr lang="en-US" sz="4299">
                  <a:solidFill>
                    <a:srgbClr val="000000"/>
                  </a:solidFill>
                  <a:latin typeface="Glacial Indifference"/>
                </a:rPr>
                <a:t>Phones are in silent mode</a:t>
              </a:r>
            </a:p>
            <a:p>
              <a:pPr marL="928368" lvl="1" indent="-464184" algn="l">
                <a:lnSpc>
                  <a:spcPts val="8298"/>
                </a:lnSpc>
                <a:buFont typeface="Arial"/>
                <a:buChar char="•"/>
              </a:pPr>
              <a:r>
                <a:rPr lang="en-US" sz="4299">
                  <a:solidFill>
                    <a:srgbClr val="000000"/>
                  </a:solidFill>
                  <a:latin typeface="Glacial Indifference"/>
                </a:rPr>
                <a:t>Questions after each slide</a:t>
              </a:r>
            </a:p>
            <a:p>
              <a:pPr marL="928368" lvl="1" indent="-464184" algn="l">
                <a:lnSpc>
                  <a:spcPts val="8298"/>
                </a:lnSpc>
                <a:buFont typeface="Arial"/>
                <a:buChar char="•"/>
              </a:pPr>
              <a:r>
                <a:rPr lang="en-US" sz="4299">
                  <a:solidFill>
                    <a:srgbClr val="000000"/>
                  </a:solidFill>
                  <a:latin typeface="Glacial Indifference"/>
                </a:rPr>
                <a:t>Take permission before leaving</a:t>
              </a:r>
            </a:p>
            <a:p>
              <a:pPr marL="928368" lvl="1" indent="-464184" algn="l">
                <a:lnSpc>
                  <a:spcPts val="8298"/>
                </a:lnSpc>
                <a:buFont typeface="Arial"/>
                <a:buChar char="•"/>
              </a:pPr>
              <a:r>
                <a:rPr lang="en-US" sz="4299">
                  <a:solidFill>
                    <a:srgbClr val="000000"/>
                  </a:solidFill>
                  <a:latin typeface="Glacial Indifference"/>
                </a:rPr>
                <a:t>There will be a break during the session if you want to eat or drink</a:t>
              </a:r>
            </a:p>
            <a:p>
              <a:pPr marL="928368" lvl="1" indent="-464184" algn="l">
                <a:lnSpc>
                  <a:spcPts val="8298"/>
                </a:lnSpc>
                <a:buFont typeface="Arial"/>
                <a:buChar char="•"/>
              </a:pPr>
              <a:r>
                <a:rPr lang="en-US" sz="4299">
                  <a:solidFill>
                    <a:srgbClr val="000000"/>
                  </a:solidFill>
                  <a:latin typeface="Glacial Indifference"/>
                </a:rPr>
                <a:t>Make sure to take notes about what is discussed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1" b="-23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3325443" y="2572505"/>
            <a:ext cx="11637114" cy="31995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dirty="0">
                <a:solidFill>
                  <a:srgbClr val="FF0000"/>
                </a:solidFill>
                <a:latin typeface="Canva Sans Bold"/>
              </a:rPr>
              <a:t>Session 5</a:t>
            </a:r>
          </a:p>
          <a:p>
            <a:pPr algn="ctr">
              <a:lnSpc>
                <a:spcPts val="12880"/>
              </a:lnSpc>
              <a:spcBef>
                <a:spcPct val="0"/>
              </a:spcBef>
            </a:pPr>
            <a:r>
              <a:rPr lang="en-US" sz="9200" dirty="0">
                <a:solidFill>
                  <a:srgbClr val="FF0000"/>
                </a:solidFill>
                <a:latin typeface="Canva Sans Bold"/>
              </a:rPr>
              <a:t>“Motion planning”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1" b="-23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594062" y="933450"/>
            <a:ext cx="8392776" cy="9007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79"/>
              </a:lnSpc>
            </a:pPr>
            <a:r>
              <a:rPr lang="en-US" sz="6000" dirty="0">
                <a:solidFill>
                  <a:srgbClr val="C00000"/>
                </a:solidFill>
                <a:latin typeface="Canva Sans Bold"/>
              </a:rPr>
              <a:t>About</a:t>
            </a:r>
            <a:r>
              <a:rPr lang="en-US" sz="5199" dirty="0">
                <a:solidFill>
                  <a:srgbClr val="C00000"/>
                </a:solidFill>
                <a:latin typeface="Canva Sans Bold"/>
              </a:rPr>
              <a:t> the instructor</a:t>
            </a:r>
          </a:p>
        </p:txBody>
      </p:sp>
      <p:sp>
        <p:nvSpPr>
          <p:cNvPr id="4" name="AutoShape 4"/>
          <p:cNvSpPr/>
          <p:nvPr/>
        </p:nvSpPr>
        <p:spPr>
          <a:xfrm>
            <a:off x="0" y="2539021"/>
            <a:ext cx="1028700" cy="0"/>
          </a:xfrm>
          <a:prstGeom prst="line">
            <a:avLst/>
          </a:prstGeom>
          <a:ln w="371475" cap="flat">
            <a:solidFill>
              <a:srgbClr val="CF3D3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22FAE7-9FFE-2F0B-C268-BF53B1C7E1C4}"/>
              </a:ext>
            </a:extLst>
          </p:cNvPr>
          <p:cNvSpPr txBox="1"/>
          <p:nvPr/>
        </p:nvSpPr>
        <p:spPr>
          <a:xfrm>
            <a:off x="1527968" y="2214923"/>
            <a:ext cx="11911661" cy="61863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ea typeface="Calibri"/>
                <a:cs typeface="Calibri"/>
              </a:rPr>
              <a:t>Name :  Zaynab Ahmad </a:t>
            </a:r>
          </a:p>
          <a:p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sz="3600" b="1" dirty="0">
                <a:ea typeface="Calibri"/>
                <a:cs typeface="Calibri"/>
              </a:rPr>
              <a:t>Mechatronics </a:t>
            </a:r>
            <a:r>
              <a:rPr lang="en-US" sz="3600" b="1" dirty="0" err="1">
                <a:ea typeface="Calibri"/>
                <a:cs typeface="Calibri"/>
              </a:rPr>
              <a:t>lvl</a:t>
            </a:r>
            <a:r>
              <a:rPr lang="en-US" sz="3600" b="1" dirty="0">
                <a:ea typeface="Calibri"/>
                <a:cs typeface="Calibri"/>
              </a:rPr>
              <a:t> 200</a:t>
            </a:r>
          </a:p>
          <a:p>
            <a:endParaRPr lang="en-US" sz="3600" b="1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br>
              <a:rPr lang="en-US" dirty="0">
                <a:ea typeface="Calibri"/>
                <a:cs typeface="Calibri"/>
              </a:rPr>
            </a:b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sz="3600" b="1" dirty="0">
                <a:ea typeface="Calibri"/>
                <a:cs typeface="Calibri"/>
              </a:rPr>
              <a:t>Autonomous committee Member 2023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6E45710B-29AC-6247-4AAE-7330C4AFA6DF}"/>
              </a:ext>
            </a:extLst>
          </p:cNvPr>
          <p:cNvSpPr/>
          <p:nvPr/>
        </p:nvSpPr>
        <p:spPr>
          <a:xfrm>
            <a:off x="0" y="5277459"/>
            <a:ext cx="1028700" cy="0"/>
          </a:xfrm>
          <a:prstGeom prst="line">
            <a:avLst/>
          </a:prstGeom>
          <a:ln w="371475" cap="flat">
            <a:solidFill>
              <a:srgbClr val="CF3D3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4FE8B505-0D36-23C3-45E2-335F11FB03E7}"/>
              </a:ext>
            </a:extLst>
          </p:cNvPr>
          <p:cNvSpPr/>
          <p:nvPr/>
        </p:nvSpPr>
        <p:spPr>
          <a:xfrm>
            <a:off x="0" y="8015896"/>
            <a:ext cx="1028700" cy="0"/>
          </a:xfrm>
          <a:prstGeom prst="line">
            <a:avLst/>
          </a:prstGeom>
          <a:ln w="371475" cap="flat">
            <a:solidFill>
              <a:srgbClr val="CF3D3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1" b="-23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158587" y="3226378"/>
            <a:ext cx="5327938" cy="10264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600" dirty="0">
                <a:solidFill>
                  <a:srgbClr val="FF0000"/>
                </a:solidFill>
                <a:latin typeface="Canva Sans Bold"/>
              </a:rPr>
              <a:t>    Agenda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3035F4-8C78-6869-EB41-71BFEB10416C}"/>
              </a:ext>
            </a:extLst>
          </p:cNvPr>
          <p:cNvSpPr txBox="1"/>
          <p:nvPr/>
        </p:nvSpPr>
        <p:spPr>
          <a:xfrm>
            <a:off x="8641242" y="989097"/>
            <a:ext cx="9427360" cy="85561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800" b="1" dirty="0">
                <a:latin typeface="Arial Nova"/>
                <a:ea typeface="Calibri"/>
                <a:cs typeface="Calibri"/>
              </a:rPr>
              <a:t>Introduction to planning</a:t>
            </a:r>
          </a:p>
          <a:p>
            <a:pPr marL="285750" indent="-285750">
              <a:buFont typeface="Arial"/>
              <a:buChar char="•"/>
            </a:pPr>
            <a:endParaRPr lang="en-US" sz="2800" b="1" dirty="0">
              <a:latin typeface="Arial Nova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800" b="1" dirty="0">
                <a:latin typeface="Arial Nova"/>
                <a:ea typeface="Calibri"/>
                <a:cs typeface="Calibri"/>
              </a:rPr>
              <a:t>Why motion planning</a:t>
            </a:r>
            <a:r>
              <a:rPr lang="en-US" sz="2400" b="1" dirty="0">
                <a:latin typeface="Arial Nova"/>
                <a:ea typeface="Calibri"/>
                <a:cs typeface="Calibri"/>
              </a:rPr>
              <a:t>  </a:t>
            </a:r>
          </a:p>
          <a:p>
            <a:pPr marL="285750" indent="-285750">
              <a:buFont typeface="Arial"/>
              <a:buChar char="•"/>
            </a:pPr>
            <a:endParaRPr lang="en-US" sz="2800" b="1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800" b="1" dirty="0">
                <a:latin typeface="Arial Nova"/>
                <a:ea typeface="Calibri"/>
                <a:cs typeface="Calibri"/>
              </a:rPr>
              <a:t>Challenges in motion planning </a:t>
            </a:r>
            <a:br>
              <a:rPr lang="en-US" sz="2800" b="1" dirty="0">
                <a:latin typeface="Arial Nova"/>
                <a:ea typeface="Calibri"/>
                <a:cs typeface="Calibri"/>
              </a:rPr>
            </a:br>
            <a:endParaRPr lang="en-US" sz="2800" b="1" dirty="0">
              <a:latin typeface="Arial Nova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800" b="1" dirty="0">
                <a:latin typeface="Arial Nova"/>
                <a:ea typeface="Calibri"/>
                <a:cs typeface="Calibri"/>
              </a:rPr>
              <a:t>Basic concepts</a:t>
            </a:r>
            <a:r>
              <a:rPr lang="en-US" dirty="0">
                <a:latin typeface="Arial Nova"/>
                <a:ea typeface="Calibri"/>
                <a:cs typeface="Calibri"/>
              </a:rPr>
              <a:t> </a:t>
            </a:r>
            <a:br>
              <a:rPr lang="en-US" dirty="0">
                <a:latin typeface="Arial Nova"/>
                <a:ea typeface="Calibri"/>
                <a:cs typeface="Calibri"/>
              </a:rPr>
            </a:br>
            <a:r>
              <a:rPr lang="en-US" sz="2800" dirty="0">
                <a:solidFill>
                  <a:srgbClr val="FF0000"/>
                </a:solidFill>
                <a:latin typeface="Arial Nova"/>
                <a:ea typeface="Calibri"/>
                <a:cs typeface="Calibri"/>
              </a:rPr>
              <a:t>1-</a:t>
            </a:r>
            <a:r>
              <a:rPr lang="en-US" dirty="0">
                <a:latin typeface="Arial Nova"/>
                <a:ea typeface="Calibri"/>
                <a:cs typeface="Calibri"/>
              </a:rPr>
              <a:t> </a:t>
            </a:r>
            <a:r>
              <a:rPr lang="en-US" sz="2800" dirty="0">
                <a:latin typeface="Arial Nova"/>
                <a:ea typeface="Calibri"/>
                <a:cs typeface="Calibri"/>
              </a:rPr>
              <a:t>c- configuration space</a:t>
            </a:r>
            <a:r>
              <a:rPr lang="en-US" dirty="0">
                <a:latin typeface="Arial Nova"/>
                <a:ea typeface="Calibri"/>
                <a:cs typeface="Calibri"/>
              </a:rPr>
              <a:t> </a:t>
            </a:r>
            <a:br>
              <a:rPr lang="en-US" dirty="0">
                <a:latin typeface="Arial Nova"/>
                <a:ea typeface="Calibri"/>
                <a:cs typeface="Calibri"/>
              </a:rPr>
            </a:br>
            <a:r>
              <a:rPr lang="en-US" sz="2800" dirty="0">
                <a:solidFill>
                  <a:srgbClr val="FF0000"/>
                </a:solidFill>
                <a:latin typeface="Arial Nova"/>
                <a:ea typeface="Calibri"/>
                <a:cs typeface="Calibri"/>
              </a:rPr>
              <a:t>2-</a:t>
            </a:r>
            <a:r>
              <a:rPr lang="en-US" dirty="0">
                <a:latin typeface="Arial Nova"/>
                <a:ea typeface="Calibri"/>
                <a:cs typeface="Calibri"/>
              </a:rPr>
              <a:t> </a:t>
            </a:r>
            <a:r>
              <a:rPr lang="en-US" sz="2800" dirty="0">
                <a:latin typeface="Arial Nova"/>
                <a:ea typeface="Calibri"/>
                <a:cs typeface="Calibri"/>
              </a:rPr>
              <a:t>state space</a:t>
            </a:r>
            <a:r>
              <a:rPr lang="en-US" dirty="0">
                <a:latin typeface="Arial Nova"/>
                <a:ea typeface="Calibri"/>
                <a:cs typeface="Calibri"/>
              </a:rPr>
              <a:t>  </a:t>
            </a:r>
            <a:br>
              <a:rPr lang="en-US" dirty="0">
                <a:latin typeface="Arial Nova"/>
                <a:ea typeface="Calibri"/>
                <a:cs typeface="Calibri"/>
              </a:rPr>
            </a:br>
            <a:r>
              <a:rPr lang="en-US" sz="2800" dirty="0">
                <a:solidFill>
                  <a:srgbClr val="FF0000"/>
                </a:solidFill>
                <a:latin typeface="Arial Nova"/>
                <a:ea typeface="Calibri"/>
                <a:cs typeface="Calibri"/>
              </a:rPr>
              <a:t>3-</a:t>
            </a:r>
            <a:r>
              <a:rPr lang="en-US" dirty="0">
                <a:latin typeface="Arial Nova"/>
                <a:ea typeface="Calibri"/>
                <a:cs typeface="Calibri"/>
              </a:rPr>
              <a:t> </a:t>
            </a:r>
            <a:r>
              <a:rPr lang="en-US" sz="2800" dirty="0">
                <a:latin typeface="Arial Nova"/>
                <a:ea typeface="Calibri"/>
                <a:cs typeface="Calibri"/>
              </a:rPr>
              <a:t>degree of freedom (DOF)</a:t>
            </a:r>
          </a:p>
          <a:p>
            <a:r>
              <a:rPr lang="en-US" sz="2800" dirty="0">
                <a:latin typeface="Arial Nova"/>
                <a:ea typeface="Calibri"/>
                <a:cs typeface="Calibri"/>
              </a:rPr>
              <a:t>  </a:t>
            </a:r>
            <a:r>
              <a:rPr lang="en-US" sz="2800" dirty="0">
                <a:solidFill>
                  <a:srgbClr val="FF0000"/>
                </a:solidFill>
                <a:latin typeface="Arial Nova"/>
                <a:ea typeface="Calibri"/>
                <a:cs typeface="Calibri"/>
              </a:rPr>
              <a:t> 4-</a:t>
            </a:r>
            <a:r>
              <a:rPr lang="en-US" sz="2800" dirty="0">
                <a:latin typeface="Arial Nova"/>
                <a:ea typeface="Calibri"/>
                <a:cs typeface="Calibri"/>
              </a:rPr>
              <a:t> path vs trajectory </a:t>
            </a:r>
          </a:p>
          <a:p>
            <a:endParaRPr lang="en-US" sz="2800" dirty="0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800" b="1" dirty="0">
                <a:latin typeface="Arial Nova"/>
                <a:ea typeface="Calibri"/>
                <a:cs typeface="Calibri"/>
              </a:rPr>
              <a:t>Types of motion planning</a:t>
            </a:r>
            <a:r>
              <a:rPr lang="en-US" dirty="0">
                <a:latin typeface="Arial Nova"/>
                <a:ea typeface="Calibri"/>
                <a:cs typeface="Calibri"/>
              </a:rPr>
              <a:t> </a:t>
            </a:r>
          </a:p>
          <a:p>
            <a:pPr marL="285750" indent="-285750">
              <a:buFont typeface="Arial"/>
              <a:buChar char="•"/>
            </a:pPr>
            <a:endParaRPr lang="en-US" dirty="0">
              <a:latin typeface="Arial Nova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800" b="1" dirty="0">
                <a:latin typeface="Arial Nova"/>
                <a:ea typeface="Calibri"/>
                <a:cs typeface="Calibri"/>
              </a:rPr>
              <a:t>Recap on occupancy grid map and graph</a:t>
            </a:r>
            <a:r>
              <a:rPr lang="en-US" sz="3200" b="1" dirty="0">
                <a:latin typeface="Arial Nova"/>
                <a:ea typeface="Calibri"/>
                <a:cs typeface="Calibri"/>
              </a:rPr>
              <a:t> </a:t>
            </a:r>
          </a:p>
          <a:p>
            <a:pPr marL="285750" indent="-285750">
              <a:buFont typeface="Arial"/>
              <a:buChar char="•"/>
            </a:pPr>
            <a:endParaRPr lang="en-US" dirty="0">
              <a:latin typeface="Arial Nova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800" b="1" dirty="0">
                <a:latin typeface="Arial Nova"/>
                <a:ea typeface="Calibri"/>
                <a:cs typeface="Calibri"/>
              </a:rPr>
              <a:t>Algorithms used in each type motion planning </a:t>
            </a:r>
            <a:br>
              <a:rPr lang="en-US" dirty="0">
                <a:ea typeface="Calibri"/>
                <a:cs typeface="Calibri"/>
              </a:rPr>
            </a:b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 map&#10;&#10;Description automatically generated">
            <a:extLst>
              <a:ext uri="{FF2B5EF4-FFF2-40B4-BE49-F238E27FC236}">
                <a16:creationId xmlns:a16="http://schemas.microsoft.com/office/drawing/2014/main" id="{35E390E3-0208-5843-C71E-EF6CC8F98F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209" y="191413"/>
            <a:ext cx="15598034" cy="8761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4798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71353-C816-DFE4-4B74-ACC76D7C51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94356" y="696348"/>
            <a:ext cx="5897429" cy="1805041"/>
          </a:xfrm>
        </p:spPr>
        <p:txBody>
          <a:bodyPr>
            <a:normAutofit/>
          </a:bodyPr>
          <a:lstStyle/>
          <a:p>
            <a:pPr algn="l"/>
            <a:r>
              <a:rPr lang="en-US" sz="6000" b="1" dirty="0">
                <a:solidFill>
                  <a:srgbClr val="C00000"/>
                </a:solidFill>
                <a:ea typeface="Calibri"/>
                <a:cs typeface="Calibri"/>
              </a:rPr>
              <a:t>Motion planning 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F0CE5F-CB1B-FD26-9AFD-9DD20B7E4F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1001" y="3490002"/>
            <a:ext cx="16917631" cy="2717796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/>
            <a:r>
              <a:rPr lang="en-US" sz="5400" b="1" dirty="0">
                <a:solidFill>
                  <a:schemeClr val="tx1"/>
                </a:solidFill>
                <a:ea typeface="Calibri"/>
                <a:cs typeface="Calibri"/>
              </a:rPr>
              <a:t>Getting to the location, getting by any obstacles, following any rules</a:t>
            </a:r>
          </a:p>
        </p:txBody>
      </p:sp>
    </p:spTree>
    <p:extLst>
      <p:ext uri="{BB962C8B-B14F-4D97-AF65-F5344CB8AC3E}">
        <p14:creationId xmlns:p14="http://schemas.microsoft.com/office/powerpoint/2010/main" val="5046446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71353-C816-DFE4-4B74-ACC76D7C51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8573" y="369269"/>
            <a:ext cx="8836571" cy="1805041"/>
          </a:xfrm>
        </p:spPr>
        <p:txBody>
          <a:bodyPr>
            <a:normAutofit/>
          </a:bodyPr>
          <a:lstStyle/>
          <a:p>
            <a:pPr algn="l"/>
            <a:r>
              <a:rPr lang="en-US" sz="6000" b="1" dirty="0">
                <a:solidFill>
                  <a:srgbClr val="C00000"/>
                </a:solidFill>
                <a:ea typeface="Calibri"/>
                <a:cs typeface="Calibri"/>
              </a:rPr>
              <a:t>Motion planning </a:t>
            </a:r>
          </a:p>
        </p:txBody>
      </p:sp>
      <p:pic>
        <p:nvPicPr>
          <p:cNvPr id="5" name="Picture 4" descr="A map of a city&#10;&#10;Description automatically generated">
            <a:extLst>
              <a:ext uri="{FF2B5EF4-FFF2-40B4-BE49-F238E27FC236}">
                <a16:creationId xmlns:a16="http://schemas.microsoft.com/office/drawing/2014/main" id="{D11A8706-8FBE-31E1-85C9-FAB73C9137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9011" y="1873008"/>
            <a:ext cx="6527733" cy="5750331"/>
          </a:xfrm>
          <a:prstGeom prst="rect">
            <a:avLst/>
          </a:prstGeom>
        </p:spPr>
      </p:pic>
      <p:sp>
        <p:nvSpPr>
          <p:cNvPr id="6" name="Subtitle 5">
            <a:extLst>
              <a:ext uri="{FF2B5EF4-FFF2-40B4-BE49-F238E27FC236}">
                <a16:creationId xmlns:a16="http://schemas.microsoft.com/office/drawing/2014/main" id="{B207E5DC-8332-C025-3A00-1E441BE5D9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8573" y="2116900"/>
            <a:ext cx="8404963" cy="599579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 algn="l">
              <a:buFont typeface="Courier New" pitchFamily="34" charset="0"/>
              <a:buChar char="o"/>
            </a:pPr>
            <a:r>
              <a:rPr lang="en-US" sz="3600" dirty="0">
                <a:solidFill>
                  <a:schemeClr val="tx1"/>
                </a:solidFill>
                <a:ea typeface="Calibri"/>
                <a:cs typeface="Calibri"/>
              </a:rPr>
              <a:t>Navigating from S to G on the map </a:t>
            </a:r>
          </a:p>
          <a:p>
            <a:pPr marL="457200" indent="-457200" algn="l">
              <a:buFont typeface="Courier New" pitchFamily="34" charset="0"/>
              <a:buChar char="o"/>
            </a:pPr>
            <a:r>
              <a:rPr lang="en-US" sz="3600" dirty="0">
                <a:solidFill>
                  <a:schemeClr val="tx1"/>
                </a:solidFill>
                <a:ea typeface="Calibri"/>
                <a:cs typeface="Calibri"/>
              </a:rPr>
              <a:t>Low-level details are abstracted away</a:t>
            </a:r>
          </a:p>
          <a:p>
            <a:pPr marL="457200" indent="-457200" algn="l">
              <a:buFont typeface="Courier New" pitchFamily="34" charset="0"/>
              <a:buChar char="o"/>
            </a:pPr>
            <a:r>
              <a:rPr lang="en-US" sz="3600" dirty="0">
                <a:solidFill>
                  <a:schemeClr val="tx1"/>
                </a:solidFill>
                <a:ea typeface="Calibri"/>
                <a:cs typeface="Calibri"/>
              </a:rPr>
              <a:t>Ensure safe navigation by avoiding obstacles</a:t>
            </a:r>
            <a:r>
              <a:rPr lang="en-US" sz="3600" dirty="0">
                <a:ea typeface="Calibri"/>
                <a:cs typeface="Calibri"/>
              </a:rPr>
              <a:t> </a:t>
            </a:r>
          </a:p>
          <a:p>
            <a:pPr marL="457200" indent="-457200" algn="l">
              <a:buFont typeface="Courier New" pitchFamily="34" charset="0"/>
              <a:buChar char="o"/>
            </a:pPr>
            <a:r>
              <a:rPr lang="en-US" sz="3600" dirty="0">
                <a:solidFill>
                  <a:schemeClr val="tx1"/>
                </a:solidFill>
                <a:ea typeface="Calibri"/>
                <a:cs typeface="Calibri"/>
              </a:rPr>
              <a:t>Allows adaptation to dynamic and changing environments </a:t>
            </a:r>
          </a:p>
          <a:p>
            <a:pPr marL="457200" indent="-457200" algn="l">
              <a:buFont typeface="Courier New" pitchFamily="34" charset="0"/>
              <a:buChar char="o"/>
            </a:pPr>
            <a:r>
              <a:rPr lang="en-US" sz="3600" dirty="0">
                <a:solidFill>
                  <a:schemeClr val="tx1"/>
                </a:solidFill>
                <a:ea typeface="Calibri"/>
                <a:cs typeface="Calibri"/>
              </a:rPr>
              <a:t>The goal is to find the most efficient path (in terms of time and distance) </a:t>
            </a:r>
          </a:p>
          <a:p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589197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71353-C816-DFE4-4B74-ACC76D7C51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7101" y="282708"/>
            <a:ext cx="10254275" cy="1805041"/>
          </a:xfrm>
        </p:spPr>
        <p:txBody>
          <a:bodyPr>
            <a:noAutofit/>
          </a:bodyPr>
          <a:lstStyle/>
          <a:p>
            <a:pPr algn="l"/>
            <a:r>
              <a:rPr lang="en-US" sz="6000" b="1" dirty="0">
                <a:solidFill>
                  <a:srgbClr val="C00000"/>
                </a:solidFill>
                <a:ea typeface="Calibri"/>
                <a:cs typeface="Calibri"/>
              </a:rPr>
              <a:t>Motion planning challenges 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71FA33-52DB-6162-F850-FDDE4C0BC54C}"/>
              </a:ext>
            </a:extLst>
          </p:cNvPr>
          <p:cNvSpPr txBox="1"/>
          <p:nvPr/>
        </p:nvSpPr>
        <p:spPr>
          <a:xfrm>
            <a:off x="7340818" y="7833491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740F9A-EFEB-7DE2-E85D-3CB496C46B7C}"/>
              </a:ext>
            </a:extLst>
          </p:cNvPr>
          <p:cNvSpPr txBox="1"/>
          <p:nvPr/>
        </p:nvSpPr>
        <p:spPr>
          <a:xfrm>
            <a:off x="595312" y="1766094"/>
            <a:ext cx="8592343" cy="61555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endParaRPr lang="en-US" sz="4000" b="1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4000" b="1" dirty="0">
                <a:ea typeface="Calibri"/>
                <a:cs typeface="Calibri"/>
              </a:rPr>
              <a:t>Complex environment </a:t>
            </a:r>
            <a:br>
              <a:rPr lang="en-US" sz="4000" b="1" dirty="0">
                <a:ea typeface="Calibri"/>
                <a:cs typeface="Calibri"/>
              </a:rPr>
            </a:br>
            <a:r>
              <a:rPr lang="en-US" sz="4000" dirty="0">
                <a:ea typeface="Calibri"/>
                <a:cs typeface="Calibri"/>
              </a:rPr>
              <a:t> </a:t>
            </a:r>
            <a:r>
              <a:rPr lang="en-US" sz="3200" dirty="0">
                <a:ea typeface="Calibri"/>
                <a:cs typeface="Calibri"/>
              </a:rPr>
              <a:t>urban settings with traffic , pedestrians ,cyclists , and diverse road conditions</a:t>
            </a:r>
            <a:r>
              <a:rPr lang="en-US" sz="4000" dirty="0">
                <a:ea typeface="Calibri"/>
                <a:cs typeface="Calibri"/>
              </a:rPr>
              <a:t> </a:t>
            </a:r>
          </a:p>
          <a:p>
            <a:pPr marL="285750" indent="-285750">
              <a:buFont typeface="Arial"/>
              <a:buChar char="•"/>
            </a:pPr>
            <a:endParaRPr lang="en-US" sz="4000" dirty="0">
              <a:ea typeface="Calibri"/>
              <a:cs typeface="Calibri"/>
            </a:endParaRPr>
          </a:p>
          <a:p>
            <a:endParaRPr lang="en-US" sz="4000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4000" b="1" i="1" dirty="0">
                <a:ea typeface="Calibri"/>
                <a:cs typeface="Calibri"/>
              </a:rPr>
              <a:t>Real-time decision making</a:t>
            </a:r>
            <a:r>
              <a:rPr lang="en-US" sz="4000" dirty="0">
                <a:ea typeface="Calibri"/>
                <a:cs typeface="Calibri"/>
              </a:rPr>
              <a:t> </a:t>
            </a:r>
            <a:br>
              <a:rPr lang="en-US" sz="4000" dirty="0">
                <a:ea typeface="Calibri"/>
                <a:cs typeface="Calibri"/>
              </a:rPr>
            </a:br>
            <a:r>
              <a:rPr lang="en-US" sz="3200" dirty="0">
                <a:ea typeface="Calibri"/>
                <a:cs typeface="Calibri"/>
              </a:rPr>
              <a:t>respond to rapidly changing situations </a:t>
            </a:r>
            <a:br>
              <a:rPr lang="en-US" sz="3200" dirty="0">
                <a:ea typeface="Calibri"/>
                <a:cs typeface="Calibri"/>
              </a:rPr>
            </a:br>
            <a:r>
              <a:rPr lang="en-US" sz="3200" dirty="0">
                <a:ea typeface="Calibri"/>
                <a:cs typeface="Calibri"/>
              </a:rPr>
              <a:t>delays or inefficient planning can effect safety and smooth operation </a:t>
            </a:r>
          </a:p>
          <a:p>
            <a:endParaRPr lang="en-US" dirty="0">
              <a:ea typeface="Calibri"/>
              <a:cs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69DE78-E4E2-98F8-766E-ACCA9FE22CC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15813" y="2087749"/>
            <a:ext cx="3328988" cy="249674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C9794D7-ECD6-1EF0-EC58-65CE998DE0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0510" y="5545325"/>
            <a:ext cx="3439593" cy="2184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3012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71353-C816-DFE4-4B74-ACC76D7C51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7101" y="282708"/>
            <a:ext cx="10254275" cy="1805041"/>
          </a:xfrm>
        </p:spPr>
        <p:txBody>
          <a:bodyPr>
            <a:noAutofit/>
          </a:bodyPr>
          <a:lstStyle/>
          <a:p>
            <a:pPr algn="l"/>
            <a:r>
              <a:rPr lang="en-US" sz="6000" b="1" dirty="0">
                <a:solidFill>
                  <a:srgbClr val="C00000"/>
                </a:solidFill>
                <a:ea typeface="Calibri"/>
                <a:cs typeface="Calibri"/>
              </a:rPr>
              <a:t>Motion planning challenges 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71FA33-52DB-6162-F850-FDDE4C0BC54C}"/>
              </a:ext>
            </a:extLst>
          </p:cNvPr>
          <p:cNvSpPr txBox="1"/>
          <p:nvPr/>
        </p:nvSpPr>
        <p:spPr>
          <a:xfrm>
            <a:off x="7340818" y="7833491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740F9A-EFEB-7DE2-E85D-3CB496C46B7C}"/>
              </a:ext>
            </a:extLst>
          </p:cNvPr>
          <p:cNvSpPr txBox="1"/>
          <p:nvPr/>
        </p:nvSpPr>
        <p:spPr>
          <a:xfrm>
            <a:off x="747101" y="2087749"/>
            <a:ext cx="8592343" cy="56323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4000" b="1" i="1" dirty="0">
                <a:ea typeface="Calibri"/>
                <a:cs typeface="Calibri"/>
              </a:rPr>
              <a:t>Uncertainty and prediction </a:t>
            </a:r>
          </a:p>
          <a:p>
            <a:pPr marL="285750" indent="-285750">
              <a:buFont typeface="Arial"/>
              <a:buChar char="•"/>
            </a:pPr>
            <a:endParaRPr lang="en-US" sz="4000" b="1" i="1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4000" b="1" i="1" dirty="0">
                <a:ea typeface="Calibri"/>
                <a:cs typeface="Calibri"/>
              </a:rPr>
              <a:t>Optimality VS. Real time efficiency</a:t>
            </a:r>
          </a:p>
          <a:p>
            <a:pPr marL="285750" indent="-285750">
              <a:buFont typeface="Arial"/>
              <a:buChar char="•"/>
            </a:pPr>
            <a:endParaRPr lang="en-US" sz="4000" b="1" i="1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4000" b="1" i="1" dirty="0">
                <a:ea typeface="Calibri"/>
                <a:cs typeface="Calibri"/>
              </a:rPr>
              <a:t>Legal and ethical considerations </a:t>
            </a:r>
          </a:p>
          <a:p>
            <a:pPr marL="285750" indent="-285750">
              <a:buFont typeface="Arial"/>
              <a:buChar char="•"/>
            </a:pPr>
            <a:endParaRPr lang="en-US" sz="4000" b="1" i="1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4000" b="1" i="1" dirty="0">
                <a:ea typeface="Calibri"/>
                <a:cs typeface="Calibri"/>
              </a:rPr>
              <a:t>Sensor limitations </a:t>
            </a:r>
          </a:p>
          <a:p>
            <a:pPr marL="285750" indent="-285750">
              <a:buFont typeface="Arial"/>
              <a:buChar char="•"/>
            </a:pPr>
            <a:endParaRPr lang="en-US" sz="4000" b="1" i="1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4000" b="1" i="1" dirty="0">
                <a:ea typeface="Calibri"/>
                <a:cs typeface="Calibri"/>
              </a:rPr>
              <a:t>Human – robot interaction</a:t>
            </a:r>
            <a:r>
              <a:rPr lang="en-US" sz="4000" dirty="0">
                <a:ea typeface="Calibri"/>
                <a:cs typeface="Calibri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3832676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71353-C816-DFE4-4B74-ACC76D7C51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1062" y="444353"/>
            <a:ext cx="8836571" cy="1805041"/>
          </a:xfrm>
        </p:spPr>
        <p:txBody>
          <a:bodyPr>
            <a:normAutofit/>
          </a:bodyPr>
          <a:lstStyle/>
          <a:p>
            <a:pPr algn="l"/>
            <a:r>
              <a:rPr lang="en-US" sz="6000" b="1" dirty="0">
                <a:solidFill>
                  <a:srgbClr val="C00000"/>
                </a:solidFill>
                <a:ea typeface="Calibri"/>
                <a:cs typeface="Calibri"/>
              </a:rPr>
              <a:t>Basic concepts </a:t>
            </a:r>
            <a:endParaRPr lang="en-US" sz="6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A8E255-E69D-E5DE-3C38-DFB8EF5B4350}"/>
              </a:ext>
            </a:extLst>
          </p:cNvPr>
          <p:cNvSpPr txBox="1"/>
          <p:nvPr/>
        </p:nvSpPr>
        <p:spPr>
          <a:xfrm>
            <a:off x="881062" y="2527399"/>
            <a:ext cx="15815468" cy="52322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r>
              <a:rPr lang="en-US" sz="4000" b="1" dirty="0">
                <a:ea typeface="Calibri"/>
                <a:cs typeface="Calibri"/>
              </a:rPr>
              <a:t>C-configuration space </a:t>
            </a:r>
            <a:br>
              <a:rPr lang="en-US" sz="4000" b="1" dirty="0">
                <a:ea typeface="Calibri"/>
                <a:cs typeface="Calibri"/>
              </a:rPr>
            </a:br>
            <a:endParaRPr lang="en-US" sz="4000" b="1" dirty="0">
              <a:ea typeface="Calibri"/>
              <a:cs typeface="Calibri"/>
            </a:endParaRPr>
          </a:p>
          <a:p>
            <a:pPr marL="342900" indent="-342900">
              <a:buAutoNum type="arabicPeriod"/>
            </a:pPr>
            <a:r>
              <a:rPr lang="en-US" sz="4000" b="1" dirty="0">
                <a:ea typeface="Calibri"/>
                <a:cs typeface="Calibri"/>
              </a:rPr>
              <a:t>State space</a:t>
            </a:r>
            <a:br>
              <a:rPr lang="en-US" sz="4000" b="1" dirty="0">
                <a:ea typeface="Calibri"/>
                <a:cs typeface="Calibri"/>
              </a:rPr>
            </a:br>
            <a:r>
              <a:rPr lang="en-US" sz="4000" b="1" dirty="0">
                <a:ea typeface="Calibri"/>
                <a:cs typeface="Calibri"/>
              </a:rPr>
              <a:t> </a:t>
            </a:r>
          </a:p>
          <a:p>
            <a:pPr marL="342900" indent="-342900">
              <a:buAutoNum type="arabicPeriod"/>
            </a:pPr>
            <a:r>
              <a:rPr lang="en-US" sz="4000" b="1" dirty="0">
                <a:ea typeface="Calibri"/>
                <a:cs typeface="Calibri"/>
              </a:rPr>
              <a:t>Degree of freedom </a:t>
            </a:r>
            <a:br>
              <a:rPr lang="en-US" sz="4000" b="1" dirty="0">
                <a:ea typeface="Calibri"/>
                <a:cs typeface="Calibri"/>
              </a:rPr>
            </a:br>
            <a:endParaRPr lang="en-US" sz="4000" b="1" dirty="0">
              <a:ea typeface="Calibri"/>
              <a:cs typeface="Calibri"/>
            </a:endParaRPr>
          </a:p>
          <a:p>
            <a:pPr marL="342900" indent="-342900">
              <a:buAutoNum type="arabicPeriod"/>
            </a:pPr>
            <a:r>
              <a:rPr lang="en-US" sz="4000" b="1" dirty="0">
                <a:ea typeface="Calibri"/>
                <a:cs typeface="Calibri"/>
              </a:rPr>
              <a:t>Path VS trajectory </a:t>
            </a:r>
          </a:p>
          <a:p>
            <a:pPr marL="342900" indent="-342900">
              <a:buAutoNum type="arabicPeriod"/>
            </a:pPr>
            <a:endParaRPr lang="en-US" dirty="0">
              <a:ea typeface="Calibri"/>
              <a:cs typeface="Calibri"/>
            </a:endParaRPr>
          </a:p>
          <a:p>
            <a:pPr marL="342900" indent="-342900">
              <a:buAutoNum type="arabicPeriod"/>
            </a:pPr>
            <a:endParaRPr lang="en-US" dirty="0">
              <a:ea typeface="Calibri"/>
              <a:cs typeface="Calibri"/>
            </a:endParaRPr>
          </a:p>
          <a:p>
            <a:pPr marL="342900" indent="-342900">
              <a:buAutoNum type="arabicPeriod"/>
            </a:pPr>
            <a:endParaRPr lang="en-US" dirty="0">
              <a:ea typeface="Calibri"/>
              <a:cs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1ED299-07B3-7A4A-28C5-B85C92CFA0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8850" y="2527399"/>
            <a:ext cx="2419350" cy="39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9977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71353-C816-DFE4-4B74-ACC76D7C51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6048" y="233828"/>
            <a:ext cx="8836571" cy="1805041"/>
          </a:xfrm>
        </p:spPr>
        <p:txBody>
          <a:bodyPr>
            <a:normAutofit/>
          </a:bodyPr>
          <a:lstStyle/>
          <a:p>
            <a:pPr algn="l"/>
            <a:r>
              <a:rPr lang="en-US" sz="6000" b="1" dirty="0">
                <a:solidFill>
                  <a:srgbClr val="C00000"/>
                </a:solidFill>
                <a:ea typeface="Calibri"/>
                <a:cs typeface="Calibri"/>
              </a:rPr>
              <a:t>Basic concepts:  </a:t>
            </a:r>
            <a:endParaRPr lang="en-US" sz="6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A8E255-E69D-E5DE-3C38-DFB8EF5B4350}"/>
              </a:ext>
            </a:extLst>
          </p:cNvPr>
          <p:cNvSpPr txBox="1"/>
          <p:nvPr/>
        </p:nvSpPr>
        <p:spPr>
          <a:xfrm>
            <a:off x="5794894" y="786958"/>
            <a:ext cx="8492606" cy="178510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000" b="1" dirty="0">
                <a:solidFill>
                  <a:srgbClr val="FF0000"/>
                </a:solidFill>
                <a:ea typeface="Calibri"/>
                <a:cs typeface="Calibri"/>
              </a:rPr>
              <a:t>Degree of freedom (DOF) </a:t>
            </a:r>
            <a:br>
              <a:rPr lang="en-US" sz="6000" b="1" dirty="0">
                <a:solidFill>
                  <a:srgbClr val="FF0000"/>
                </a:solidFill>
                <a:ea typeface="Calibri"/>
                <a:cs typeface="Calibri"/>
              </a:rPr>
            </a:br>
            <a:r>
              <a:rPr lang="en-US" sz="6000" b="1" dirty="0">
                <a:solidFill>
                  <a:srgbClr val="FF0000"/>
                </a:solidFill>
                <a:ea typeface="Calibri"/>
                <a:cs typeface="Calibri"/>
              </a:rPr>
              <a:t>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70B4DE-AE98-5E89-9459-369568B456F6}"/>
              </a:ext>
            </a:extLst>
          </p:cNvPr>
          <p:cNvSpPr txBox="1"/>
          <p:nvPr/>
        </p:nvSpPr>
        <p:spPr>
          <a:xfrm>
            <a:off x="580533" y="2889283"/>
            <a:ext cx="9708604" cy="17081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3500" dirty="0">
                <a:ea typeface="Calibri"/>
                <a:cs typeface="Calibri"/>
              </a:rPr>
              <a:t>Numbers of independent parameters or variables required to fully describe the configuration or state of the system </a:t>
            </a:r>
          </a:p>
        </p:txBody>
      </p:sp>
      <p:pic>
        <p:nvPicPr>
          <p:cNvPr id="6" name="Picture 5" descr="A colorful arrows pointing to different directions&#10;&#10;Description automatically generated">
            <a:extLst>
              <a:ext uri="{FF2B5EF4-FFF2-40B4-BE49-F238E27FC236}">
                <a16:creationId xmlns:a16="http://schemas.microsoft.com/office/drawing/2014/main" id="{E0FF1E9C-53AB-8806-2536-A10BC32DD6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7654" y="1429983"/>
            <a:ext cx="6119813" cy="5830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4556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71353-C816-DFE4-4B74-ACC76D7C51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7429" y="0"/>
            <a:ext cx="8836571" cy="1805041"/>
          </a:xfrm>
        </p:spPr>
        <p:txBody>
          <a:bodyPr>
            <a:normAutofit/>
          </a:bodyPr>
          <a:lstStyle/>
          <a:p>
            <a:pPr algn="l"/>
            <a:r>
              <a:rPr lang="en-US" sz="6000" b="1" dirty="0">
                <a:solidFill>
                  <a:srgbClr val="C00000"/>
                </a:solidFill>
                <a:ea typeface="Calibri"/>
                <a:cs typeface="Calibri"/>
              </a:rPr>
              <a:t>Basic concepts: </a:t>
            </a:r>
            <a:endParaRPr lang="en-US" sz="6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A8E255-E69D-E5DE-3C38-DFB8EF5B4350}"/>
              </a:ext>
            </a:extLst>
          </p:cNvPr>
          <p:cNvSpPr txBox="1"/>
          <p:nvPr/>
        </p:nvSpPr>
        <p:spPr>
          <a:xfrm>
            <a:off x="5343033" y="571390"/>
            <a:ext cx="6362726" cy="29238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500" b="1" dirty="0">
                <a:solidFill>
                  <a:srgbClr val="FF0000"/>
                </a:solidFill>
                <a:ea typeface="Calibri"/>
                <a:cs typeface="Calibri"/>
              </a:rPr>
              <a:t>Degree of freedom (DOF) </a:t>
            </a:r>
            <a:br>
              <a:rPr lang="en-US" sz="4500" b="1" dirty="0">
                <a:solidFill>
                  <a:srgbClr val="FF0000"/>
                </a:solidFill>
                <a:ea typeface="Calibri"/>
                <a:cs typeface="Calibri"/>
              </a:rPr>
            </a:br>
            <a:r>
              <a:rPr lang="en-US" sz="4500" b="1" dirty="0">
                <a:solidFill>
                  <a:srgbClr val="FF0000"/>
                </a:solidFill>
                <a:ea typeface="Calibri"/>
                <a:cs typeface="Calibri"/>
              </a:rPr>
              <a:t> </a:t>
            </a:r>
          </a:p>
          <a:p>
            <a:endParaRPr lang="en-US" sz="4000" b="1" dirty="0">
              <a:ea typeface="Calibri"/>
              <a:cs typeface="Calibri"/>
            </a:endParaRPr>
          </a:p>
          <a:p>
            <a:pPr marL="342900" indent="-342900">
              <a:buAutoNum type="arabicPeriod"/>
            </a:pPr>
            <a:endParaRPr lang="en-US" dirty="0">
              <a:ea typeface="Calibri"/>
              <a:cs typeface="Calibri"/>
            </a:endParaRPr>
          </a:p>
          <a:p>
            <a:pPr marL="342900" indent="-342900">
              <a:buAutoNum type="arabicPeriod"/>
            </a:pPr>
            <a:endParaRPr lang="en-US" dirty="0">
              <a:ea typeface="Calibri"/>
              <a:cs typeface="Calibri"/>
            </a:endParaRPr>
          </a:p>
          <a:p>
            <a:pPr marL="342900" indent="-342900">
              <a:buAutoNum type="arabicPeriod"/>
            </a:pPr>
            <a:endParaRPr lang="en-US" dirty="0">
              <a:ea typeface="Calibri"/>
              <a:cs typeface="Calibri"/>
            </a:endParaRPr>
          </a:p>
        </p:txBody>
      </p:sp>
      <p:pic>
        <p:nvPicPr>
          <p:cNvPr id="8" name="Online Media 7" title="Six Degrees of Freedom 6 DoF for Vehicular Cognition">
            <a:hlinkClick r:id="" action="ppaction://media"/>
            <a:extLst>
              <a:ext uri="{FF2B5EF4-FFF2-40B4-BE49-F238E27FC236}">
                <a16:creationId xmlns:a16="http://schemas.microsoft.com/office/drawing/2014/main" id="{392A68A0-171D-AEE3-0093-0571401440CB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0" y="1473200"/>
            <a:ext cx="18288000" cy="861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4820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71353-C816-DFE4-4B74-ACC76D7C51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5172" y="252640"/>
            <a:ext cx="8836571" cy="1805041"/>
          </a:xfrm>
        </p:spPr>
        <p:txBody>
          <a:bodyPr>
            <a:normAutofit/>
          </a:bodyPr>
          <a:lstStyle/>
          <a:p>
            <a:pPr algn="l"/>
            <a:r>
              <a:rPr lang="en-US" sz="6000" b="1" dirty="0">
                <a:solidFill>
                  <a:srgbClr val="C00000"/>
                </a:solidFill>
                <a:ea typeface="Calibri"/>
                <a:cs typeface="Calibri"/>
              </a:rPr>
              <a:t>Basic concepts: </a:t>
            </a:r>
            <a:endParaRPr lang="en-US" sz="6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A8E255-E69D-E5DE-3C38-DFB8EF5B4350}"/>
              </a:ext>
            </a:extLst>
          </p:cNvPr>
          <p:cNvSpPr txBox="1"/>
          <p:nvPr/>
        </p:nvSpPr>
        <p:spPr>
          <a:xfrm>
            <a:off x="5614495" y="833984"/>
            <a:ext cx="2986279" cy="29238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500" b="1" dirty="0">
                <a:solidFill>
                  <a:srgbClr val="FF0000"/>
                </a:solidFill>
                <a:ea typeface="Calibri"/>
                <a:cs typeface="Calibri"/>
              </a:rPr>
              <a:t>State space</a:t>
            </a:r>
            <a:br>
              <a:rPr lang="en-US" sz="4500" b="1" dirty="0">
                <a:solidFill>
                  <a:srgbClr val="FF0000"/>
                </a:solidFill>
                <a:ea typeface="Calibri"/>
                <a:cs typeface="Calibri"/>
              </a:rPr>
            </a:br>
            <a:r>
              <a:rPr lang="en-US" sz="4500" b="1" dirty="0">
                <a:solidFill>
                  <a:srgbClr val="FF0000"/>
                </a:solidFill>
                <a:ea typeface="Calibri"/>
                <a:cs typeface="Calibri"/>
              </a:rPr>
              <a:t> </a:t>
            </a:r>
          </a:p>
          <a:p>
            <a:endParaRPr lang="en-US" sz="4000" b="1" dirty="0">
              <a:ea typeface="Calibri"/>
              <a:cs typeface="Calibri"/>
            </a:endParaRPr>
          </a:p>
          <a:p>
            <a:pPr marL="342900" indent="-342900">
              <a:buAutoNum type="arabicPeriod"/>
            </a:pPr>
            <a:endParaRPr lang="en-US" dirty="0">
              <a:ea typeface="Calibri"/>
              <a:cs typeface="Calibri"/>
            </a:endParaRPr>
          </a:p>
          <a:p>
            <a:pPr marL="342900" indent="-342900">
              <a:buAutoNum type="arabicPeriod"/>
            </a:pPr>
            <a:endParaRPr lang="en-US" dirty="0">
              <a:ea typeface="Calibri"/>
              <a:cs typeface="Calibri"/>
            </a:endParaRPr>
          </a:p>
          <a:p>
            <a:pPr marL="342900" indent="-342900">
              <a:buAutoNum type="arabicPeriod"/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70B4DE-AE98-5E89-9459-369568B456F6}"/>
              </a:ext>
            </a:extLst>
          </p:cNvPr>
          <p:cNvSpPr txBox="1"/>
          <p:nvPr/>
        </p:nvSpPr>
        <p:spPr>
          <a:xfrm>
            <a:off x="49267" y="3034861"/>
            <a:ext cx="10873280" cy="17081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71500" indent="-571500">
              <a:buFont typeface="Courier New"/>
              <a:buChar char="o"/>
            </a:pPr>
            <a:r>
              <a:rPr lang="en-US" sz="3500" dirty="0">
                <a:ea typeface="Calibri"/>
                <a:cs typeface="Calibri"/>
              </a:rPr>
              <a:t>A mathematical representation that describes all complete set of possible states or configurations of a system at a specific moment </a:t>
            </a:r>
          </a:p>
        </p:txBody>
      </p:sp>
      <p:pic>
        <p:nvPicPr>
          <p:cNvPr id="5" name="Picture 4" descr="A diagram of a graph&#10;&#10;Description automatically generated">
            <a:extLst>
              <a:ext uri="{FF2B5EF4-FFF2-40B4-BE49-F238E27FC236}">
                <a16:creationId xmlns:a16="http://schemas.microsoft.com/office/drawing/2014/main" id="{D4875E77-DD0B-954D-1CC3-9770F77857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9502" y="2057681"/>
            <a:ext cx="7228666" cy="625046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1804126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A8E255-E69D-E5DE-3C38-DFB8EF5B4350}"/>
              </a:ext>
            </a:extLst>
          </p:cNvPr>
          <p:cNvSpPr txBox="1"/>
          <p:nvPr/>
        </p:nvSpPr>
        <p:spPr>
          <a:xfrm>
            <a:off x="685800" y="553428"/>
            <a:ext cx="13006881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000" b="1" dirty="0">
                <a:solidFill>
                  <a:srgbClr val="C00000"/>
                </a:solidFill>
                <a:ea typeface="Calibri"/>
                <a:cs typeface="Calibri"/>
              </a:rPr>
              <a:t>Basic concepts: </a:t>
            </a:r>
            <a:r>
              <a:rPr lang="en-US" sz="4500" b="1" dirty="0">
                <a:solidFill>
                  <a:srgbClr val="FF0000"/>
                </a:solidFill>
                <a:ea typeface="Calibri"/>
                <a:cs typeface="Calibri"/>
              </a:rPr>
              <a:t>Configuration space</a:t>
            </a:r>
            <a:endParaRPr lang="en-US" sz="4500" dirty="0">
              <a:ea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70B4DE-AE98-5E89-9459-369568B456F6}"/>
              </a:ext>
            </a:extLst>
          </p:cNvPr>
          <p:cNvSpPr txBox="1"/>
          <p:nvPr/>
        </p:nvSpPr>
        <p:spPr>
          <a:xfrm>
            <a:off x="49267" y="3034861"/>
            <a:ext cx="10873280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71500" indent="-571500">
              <a:buFont typeface="Courier New"/>
              <a:buChar char="o"/>
            </a:pPr>
            <a:r>
              <a:rPr lang="en-US" sz="3500" dirty="0">
                <a:ea typeface="Calibri"/>
                <a:cs typeface="Calibri"/>
              </a:rPr>
              <a:t>A mathematical abstraction that represents all possible configurations or states that a system, such as a self-driving car can take, considering its degrees of freedom and constraints</a:t>
            </a:r>
          </a:p>
        </p:txBody>
      </p:sp>
      <p:pic>
        <p:nvPicPr>
          <p:cNvPr id="5" name="Picture 4" descr="A diagram of a graph&#10;&#10;Description automatically generated">
            <a:extLst>
              <a:ext uri="{FF2B5EF4-FFF2-40B4-BE49-F238E27FC236}">
                <a16:creationId xmlns:a16="http://schemas.microsoft.com/office/drawing/2014/main" id="{D4875E77-DD0B-954D-1CC3-9770F77857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9502" y="2057681"/>
            <a:ext cx="7228666" cy="625046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5833575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nline Media 1" title="Alpha Puzzle Benchmark">
            <a:hlinkClick r:id="" action="ppaction://media"/>
            <a:extLst>
              <a:ext uri="{FF2B5EF4-FFF2-40B4-BE49-F238E27FC236}">
                <a16:creationId xmlns:a16="http://schemas.microsoft.com/office/drawing/2014/main" id="{6D47EE6B-A7DB-36BF-8FFF-124538BA1DF7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428172" y="402772"/>
            <a:ext cx="17121412" cy="8518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7037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BA6DC6-48A3-6965-934C-D06D09A79D55}"/>
              </a:ext>
            </a:extLst>
          </p:cNvPr>
          <p:cNvSpPr txBox="1"/>
          <p:nvPr/>
        </p:nvSpPr>
        <p:spPr>
          <a:xfrm>
            <a:off x="369504" y="637889"/>
            <a:ext cx="6464335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000" b="1" dirty="0">
                <a:solidFill>
                  <a:srgbClr val="C00000"/>
                </a:solidFill>
                <a:ea typeface="Calibri"/>
                <a:cs typeface="Calibri"/>
              </a:rPr>
              <a:t>Path VS trajectory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B2C127-3929-71D1-0D7C-D633428B5FDA}"/>
              </a:ext>
            </a:extLst>
          </p:cNvPr>
          <p:cNvSpPr txBox="1"/>
          <p:nvPr/>
        </p:nvSpPr>
        <p:spPr>
          <a:xfrm>
            <a:off x="369504" y="1831864"/>
            <a:ext cx="8217284" cy="57708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500" b="1" dirty="0">
                <a:solidFill>
                  <a:srgbClr val="FF0000"/>
                </a:solidFill>
                <a:ea typeface="Calibri"/>
                <a:cs typeface="Calibri"/>
              </a:rPr>
              <a:t>Path</a:t>
            </a:r>
            <a:r>
              <a:rPr lang="en-US" sz="3600" dirty="0">
                <a:solidFill>
                  <a:srgbClr val="FF0000"/>
                </a:solidFill>
                <a:ea typeface="Calibri"/>
                <a:cs typeface="Calibri"/>
              </a:rPr>
              <a:t> </a:t>
            </a:r>
            <a:r>
              <a:rPr lang="en-US" sz="3600" dirty="0">
                <a:ea typeface="Calibri"/>
                <a:cs typeface="Calibri"/>
              </a:rPr>
              <a:t> </a:t>
            </a:r>
            <a:br>
              <a:rPr lang="en-US" sz="3600" dirty="0">
                <a:ea typeface="Calibri"/>
                <a:cs typeface="Calibri"/>
              </a:rPr>
            </a:br>
            <a:r>
              <a:rPr lang="en-US" sz="3600" dirty="0">
                <a:ea typeface="Calibri"/>
                <a:cs typeface="Calibri"/>
              </a:rPr>
              <a:t>a path represents a series of connected points in space that describe the desired route from the initial to the final position  </a:t>
            </a:r>
            <a:br>
              <a:rPr lang="en-US" sz="3600" dirty="0">
                <a:ea typeface="Calibri"/>
                <a:cs typeface="Calibri"/>
              </a:rPr>
            </a:br>
            <a:endParaRPr lang="en-US" sz="3600" dirty="0">
              <a:ea typeface="Calibri"/>
              <a:cs typeface="Calibri"/>
            </a:endParaRPr>
          </a:p>
          <a:p>
            <a:r>
              <a:rPr lang="en-US" sz="3600" dirty="0">
                <a:ea typeface="Calibri"/>
                <a:cs typeface="Calibri"/>
              </a:rPr>
              <a:t>Focus on geometry and do not include time or velocity data </a:t>
            </a:r>
            <a:br>
              <a:rPr lang="en-US" sz="3600" dirty="0">
                <a:ea typeface="Calibri"/>
                <a:cs typeface="Calibri"/>
              </a:rPr>
            </a:br>
            <a:br>
              <a:rPr lang="en-US" sz="3600" dirty="0">
                <a:ea typeface="Calibri"/>
                <a:cs typeface="Calibri"/>
              </a:rPr>
            </a:br>
            <a:r>
              <a:rPr lang="en-US" sz="3600" dirty="0">
                <a:ea typeface="Calibri"/>
                <a:cs typeface="Calibri"/>
              </a:rPr>
              <a:t>useful for high-level planning, providing a general route to follow </a:t>
            </a:r>
          </a:p>
        </p:txBody>
      </p:sp>
      <p:pic>
        <p:nvPicPr>
          <p:cNvPr id="4" name="Picture 3" descr="A diagram of a traffic light and a traffic light&#10;&#10;Description automatically generated">
            <a:extLst>
              <a:ext uri="{FF2B5EF4-FFF2-40B4-BE49-F238E27FC236}">
                <a16:creationId xmlns:a16="http://schemas.microsoft.com/office/drawing/2014/main" id="{59738590-25A0-3C72-9506-C2C3778EE20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2316" b="60279"/>
          <a:stretch/>
        </p:blipFill>
        <p:spPr>
          <a:xfrm>
            <a:off x="9050253" y="3496575"/>
            <a:ext cx="9181048" cy="381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9486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BA6DC6-48A3-6965-934C-D06D09A79D55}"/>
              </a:ext>
            </a:extLst>
          </p:cNvPr>
          <p:cNvSpPr txBox="1"/>
          <p:nvPr/>
        </p:nvSpPr>
        <p:spPr>
          <a:xfrm>
            <a:off x="369504" y="653000"/>
            <a:ext cx="6464335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000" b="1" dirty="0">
                <a:solidFill>
                  <a:srgbClr val="C00000"/>
                </a:solidFill>
                <a:ea typeface="Calibri"/>
                <a:cs typeface="Calibri"/>
              </a:rPr>
              <a:t>Path VS trajectory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B2C127-3929-71D1-0D7C-D633428B5FDA}"/>
              </a:ext>
            </a:extLst>
          </p:cNvPr>
          <p:cNvSpPr txBox="1"/>
          <p:nvPr/>
        </p:nvSpPr>
        <p:spPr>
          <a:xfrm>
            <a:off x="369504" y="1831864"/>
            <a:ext cx="9417434" cy="52168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500" b="1" dirty="0">
                <a:solidFill>
                  <a:srgbClr val="FF0000"/>
                </a:solidFill>
                <a:ea typeface="Calibri"/>
                <a:cs typeface="Calibri"/>
              </a:rPr>
              <a:t>Trajectory</a:t>
            </a:r>
            <a:r>
              <a:rPr lang="en-US" sz="3600" dirty="0">
                <a:ea typeface="Calibri"/>
                <a:cs typeface="Calibri"/>
              </a:rPr>
              <a:t> </a:t>
            </a:r>
            <a:br>
              <a:rPr lang="en-US" sz="3600" dirty="0">
                <a:ea typeface="Calibri"/>
                <a:cs typeface="Calibri"/>
              </a:rPr>
            </a:br>
            <a:r>
              <a:rPr lang="en-US" sz="3600" dirty="0">
                <a:ea typeface="Calibri"/>
                <a:cs typeface="Calibri"/>
              </a:rPr>
              <a:t>a trajectory extends the concepts of a path by adding time and velocity information to each point, resulting in a dynamic sequence of states </a:t>
            </a:r>
            <a:br>
              <a:rPr lang="en-US" sz="3600" dirty="0">
                <a:ea typeface="Calibri"/>
                <a:cs typeface="Calibri"/>
              </a:rPr>
            </a:br>
            <a:endParaRPr lang="en-US" sz="3600" dirty="0">
              <a:ea typeface="Calibri"/>
              <a:cs typeface="Calibri"/>
            </a:endParaRPr>
          </a:p>
          <a:p>
            <a:r>
              <a:rPr lang="en-US" sz="3600" dirty="0">
                <a:ea typeface="Calibri"/>
                <a:cs typeface="Calibri"/>
              </a:rPr>
              <a:t>Specify not only where the system should be but also how it should get there at what speed </a:t>
            </a:r>
            <a:br>
              <a:rPr lang="en-US" sz="3600" dirty="0">
                <a:ea typeface="Calibri"/>
                <a:cs typeface="Calibri"/>
              </a:rPr>
            </a:br>
            <a:endParaRPr lang="en-US" sz="3600" dirty="0">
              <a:ea typeface="Calibri"/>
              <a:cs typeface="Calibri"/>
            </a:endParaRPr>
          </a:p>
          <a:p>
            <a:r>
              <a:rPr lang="en-US" sz="3600" dirty="0">
                <a:ea typeface="Calibri"/>
                <a:cs typeface="Calibri"/>
              </a:rPr>
              <a:t>ensuring smooth and precise motion execution</a:t>
            </a:r>
          </a:p>
        </p:txBody>
      </p:sp>
      <p:pic>
        <p:nvPicPr>
          <p:cNvPr id="4" name="Picture 3" descr="A diagram of a traffic light and a traffic light&#10;&#10;Description automatically generated">
            <a:extLst>
              <a:ext uri="{FF2B5EF4-FFF2-40B4-BE49-F238E27FC236}">
                <a16:creationId xmlns:a16="http://schemas.microsoft.com/office/drawing/2014/main" id="{339A855A-977E-D988-52BC-6269D5C21B4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3578" r="-175" b="-292"/>
          <a:stretch/>
        </p:blipFill>
        <p:spPr>
          <a:xfrm>
            <a:off x="10142445" y="1835302"/>
            <a:ext cx="6825961" cy="6935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262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BA6DC6-48A3-6965-934C-D06D09A79D55}"/>
              </a:ext>
            </a:extLst>
          </p:cNvPr>
          <p:cNvSpPr txBox="1"/>
          <p:nvPr/>
        </p:nvSpPr>
        <p:spPr>
          <a:xfrm>
            <a:off x="5196066" y="489132"/>
            <a:ext cx="750648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400" b="1" dirty="0">
                <a:solidFill>
                  <a:srgbClr val="C00000"/>
                </a:solidFill>
                <a:ea typeface="Calibri"/>
                <a:cs typeface="Calibri"/>
              </a:rPr>
              <a:t>Recap on occupancy grid 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B2C127-3929-71D1-0D7C-D633428B5FDA}"/>
              </a:ext>
            </a:extLst>
          </p:cNvPr>
          <p:cNvSpPr txBox="1"/>
          <p:nvPr/>
        </p:nvSpPr>
        <p:spPr>
          <a:xfrm>
            <a:off x="229816" y="3170774"/>
            <a:ext cx="7497325" cy="57246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71500" indent="-571500">
              <a:buFont typeface="Courier New"/>
              <a:buChar char="o"/>
            </a:pPr>
            <a:r>
              <a:rPr lang="en-US" sz="3600" dirty="0">
                <a:ea typeface="Calibri"/>
                <a:cs typeface="Calibri"/>
              </a:rPr>
              <a:t>Is a 2D representation of the environment </a:t>
            </a:r>
            <a:br>
              <a:rPr lang="en-US" sz="3600" dirty="0">
                <a:ea typeface="Calibri"/>
                <a:cs typeface="Calibri"/>
              </a:rPr>
            </a:br>
            <a:endParaRPr lang="en-US"/>
          </a:p>
          <a:p>
            <a:pPr marL="571500" indent="-571500">
              <a:buFont typeface="Courier New"/>
              <a:buChar char="o"/>
            </a:pPr>
            <a:r>
              <a:rPr lang="en-US" sz="3600" dirty="0">
                <a:ea typeface="Calibri"/>
                <a:cs typeface="Calibri"/>
              </a:rPr>
              <a:t>It is very similar to the grayscale image </a:t>
            </a:r>
          </a:p>
          <a:p>
            <a:pPr marL="571500" indent="-571500">
              <a:buFont typeface="Courier New"/>
              <a:buChar char="o"/>
            </a:pPr>
            <a:r>
              <a:rPr lang="en-US" sz="3600" dirty="0">
                <a:ea typeface="Calibri"/>
                <a:cs typeface="Calibri"/>
              </a:rPr>
              <a:t>Occupancy probability </a:t>
            </a:r>
          </a:p>
          <a:p>
            <a:pPr marL="571500" indent="-571500">
              <a:buFont typeface="Courier New"/>
              <a:buChar char="o"/>
            </a:pPr>
            <a:r>
              <a:rPr lang="en-US" sz="3600" dirty="0">
                <a:ea typeface="Calibri"/>
                <a:cs typeface="Calibri"/>
              </a:rPr>
              <a:t>Assumptions </a:t>
            </a:r>
            <a:br>
              <a:rPr lang="en-US" sz="3600" dirty="0">
                <a:ea typeface="Calibri"/>
                <a:cs typeface="Calibri"/>
              </a:rPr>
            </a:br>
            <a:r>
              <a:rPr lang="en-US" sz="2800" dirty="0">
                <a:ea typeface="Calibri"/>
                <a:cs typeface="Calibri"/>
              </a:rPr>
              <a:t>1- static environment </a:t>
            </a:r>
            <a:br>
              <a:rPr lang="en-US" sz="2800" dirty="0">
                <a:ea typeface="Calibri"/>
                <a:cs typeface="Calibri"/>
              </a:rPr>
            </a:br>
            <a:r>
              <a:rPr lang="en-US" sz="2800" dirty="0">
                <a:ea typeface="Calibri"/>
                <a:cs typeface="Calibri"/>
              </a:rPr>
              <a:t>2- independent cells </a:t>
            </a:r>
            <a:br>
              <a:rPr lang="en-US" sz="2800" dirty="0">
                <a:ea typeface="Calibri"/>
                <a:cs typeface="Calibri"/>
              </a:rPr>
            </a:br>
            <a:r>
              <a:rPr lang="en-US" sz="2800" dirty="0">
                <a:ea typeface="Calibri"/>
                <a:cs typeface="Calibri"/>
              </a:rPr>
              <a:t>3- a place can be either occupied or free</a:t>
            </a:r>
            <a:r>
              <a:rPr lang="en-US" sz="3200" dirty="0">
                <a:ea typeface="Calibri"/>
                <a:cs typeface="Calibri"/>
              </a:rPr>
              <a:t> </a:t>
            </a:r>
          </a:p>
          <a:p>
            <a:pPr marL="571500" indent="-571500">
              <a:buFont typeface="Courier New"/>
              <a:buChar char="o"/>
            </a:pPr>
            <a:endParaRPr lang="en-US" sz="3600" dirty="0">
              <a:ea typeface="Calibri"/>
              <a:cs typeface="Calibri"/>
            </a:endParaRP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00F37E2E-ECA8-DC55-7A31-ED3254B0B6C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4818" t="28984" r="13392" b="17315"/>
          <a:stretch/>
        </p:blipFill>
        <p:spPr>
          <a:xfrm>
            <a:off x="10478621" y="2148169"/>
            <a:ext cx="7573758" cy="6422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9897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BA6DC6-48A3-6965-934C-D06D09A79D55}"/>
              </a:ext>
            </a:extLst>
          </p:cNvPr>
          <p:cNvSpPr txBox="1"/>
          <p:nvPr/>
        </p:nvSpPr>
        <p:spPr>
          <a:xfrm>
            <a:off x="781229" y="548932"/>
            <a:ext cx="897713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000" b="1" dirty="0">
                <a:solidFill>
                  <a:srgbClr val="C00000"/>
                </a:solidFill>
                <a:ea typeface="Calibri"/>
                <a:cs typeface="Calibri"/>
              </a:rPr>
              <a:t>Recap on occupancy grid </a:t>
            </a:r>
            <a:endParaRPr lang="en-US" sz="6000" dirty="0"/>
          </a:p>
        </p:txBody>
      </p:sp>
      <p:pic>
        <p:nvPicPr>
          <p:cNvPr id="5" name="Picture 4" descr="A map of a building&#10;&#10;Description automatically generated">
            <a:extLst>
              <a:ext uri="{FF2B5EF4-FFF2-40B4-BE49-F238E27FC236}">
                <a16:creationId xmlns:a16="http://schemas.microsoft.com/office/drawing/2014/main" id="{9B9EC39E-3F7F-B2A2-A52C-ACA4F881B5C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65" t="7642" r="2865" b="6332"/>
          <a:stretch/>
        </p:blipFill>
        <p:spPr>
          <a:xfrm>
            <a:off x="2897841" y="1564595"/>
            <a:ext cx="12441703" cy="7105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4732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BA6DC6-48A3-6965-934C-D06D09A79D55}"/>
              </a:ext>
            </a:extLst>
          </p:cNvPr>
          <p:cNvSpPr txBox="1"/>
          <p:nvPr/>
        </p:nvSpPr>
        <p:spPr>
          <a:xfrm>
            <a:off x="5801184" y="909352"/>
            <a:ext cx="6464335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400" b="1">
                <a:solidFill>
                  <a:srgbClr val="C00000"/>
                </a:solidFill>
                <a:ea typeface="Calibri"/>
                <a:cs typeface="Calibri"/>
              </a:rPr>
              <a:t>Recap on graph  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B2C127-3929-71D1-0D7C-D633428B5FDA}"/>
              </a:ext>
            </a:extLst>
          </p:cNvPr>
          <p:cNvSpPr txBox="1"/>
          <p:nvPr/>
        </p:nvSpPr>
        <p:spPr>
          <a:xfrm>
            <a:off x="599611" y="2195862"/>
            <a:ext cx="7514133" cy="59093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71500" indent="-571500">
              <a:buFont typeface="Courier New"/>
              <a:buChar char="o"/>
            </a:pPr>
            <a:r>
              <a:rPr lang="en-US" sz="3600" dirty="0">
                <a:ea typeface="Calibri"/>
                <a:cs typeface="Calibri"/>
              </a:rPr>
              <a:t>Concepts </a:t>
            </a:r>
            <a:br>
              <a:rPr lang="en-US" sz="3600" dirty="0">
                <a:ea typeface="Calibri"/>
                <a:cs typeface="Calibri"/>
              </a:rPr>
            </a:br>
            <a:endParaRPr lang="en-US" dirty="0">
              <a:ea typeface="Calibri"/>
              <a:cs typeface="Calibri"/>
            </a:endParaRPr>
          </a:p>
          <a:p>
            <a:pPr marL="571500" indent="-571500">
              <a:buFont typeface="Courier New"/>
              <a:buChar char="o"/>
            </a:pPr>
            <a:r>
              <a:rPr lang="en-US" sz="3600" dirty="0">
                <a:ea typeface="Calibri"/>
                <a:cs typeface="Calibri"/>
              </a:rPr>
              <a:t>Directed VS undirected graphs </a:t>
            </a:r>
            <a:br>
              <a:rPr lang="en-US" sz="3600" dirty="0">
                <a:ea typeface="Calibri"/>
                <a:cs typeface="Calibri"/>
              </a:rPr>
            </a:br>
            <a:endParaRPr lang="en-US" dirty="0"/>
          </a:p>
          <a:p>
            <a:pPr marL="571500" indent="-571500">
              <a:buFont typeface="Courier New"/>
              <a:buChar char="o"/>
            </a:pPr>
            <a:r>
              <a:rPr lang="en-US" sz="3600" dirty="0">
                <a:ea typeface="Calibri"/>
                <a:cs typeface="Calibri"/>
              </a:rPr>
              <a:t>Weighted graphs </a:t>
            </a:r>
            <a:br>
              <a:rPr lang="en-US" sz="3600" dirty="0">
                <a:ea typeface="Calibri"/>
                <a:cs typeface="Calibri"/>
              </a:rPr>
            </a:br>
            <a:endParaRPr lang="en-US" dirty="0"/>
          </a:p>
          <a:p>
            <a:pPr marL="571500" indent="-571500">
              <a:buFont typeface="Courier New"/>
              <a:buChar char="o"/>
            </a:pPr>
            <a:r>
              <a:rPr lang="en-US" sz="3600" dirty="0">
                <a:ea typeface="Calibri"/>
                <a:cs typeface="Calibri"/>
              </a:rPr>
              <a:t>Configuration space graphs </a:t>
            </a:r>
            <a:br>
              <a:rPr lang="en-US" sz="3600" dirty="0">
                <a:ea typeface="Calibri"/>
                <a:cs typeface="Calibri"/>
              </a:rPr>
            </a:br>
            <a:endParaRPr lang="en-US" sz="3600" dirty="0">
              <a:ea typeface="Calibri"/>
              <a:cs typeface="Calibri"/>
            </a:endParaRPr>
          </a:p>
          <a:p>
            <a:pPr marL="571500" indent="-571500">
              <a:buFont typeface="Courier New"/>
              <a:buChar char="o"/>
            </a:pPr>
            <a:r>
              <a:rPr lang="en-US" sz="3600" dirty="0">
                <a:ea typeface="Calibri"/>
                <a:cs typeface="Calibri"/>
              </a:rPr>
              <a:t>Graph search algorithms </a:t>
            </a:r>
            <a:br>
              <a:rPr lang="en-US" sz="3600" dirty="0">
                <a:ea typeface="Calibri"/>
                <a:cs typeface="Calibri"/>
              </a:rPr>
            </a:br>
            <a:endParaRPr lang="en-US" sz="3600" dirty="0">
              <a:ea typeface="Calibri"/>
              <a:cs typeface="Calibri"/>
            </a:endParaRPr>
          </a:p>
          <a:p>
            <a:pPr marL="571500" indent="-571500">
              <a:buFont typeface="Courier New"/>
              <a:buChar char="o"/>
            </a:pPr>
            <a:r>
              <a:rPr lang="en-US" sz="3600" dirty="0">
                <a:ea typeface="Calibri"/>
                <a:cs typeface="Calibri"/>
              </a:rPr>
              <a:t>Optimally VS completeness </a:t>
            </a:r>
          </a:p>
          <a:p>
            <a:endParaRPr lang="en-US" sz="3600" dirty="0">
              <a:ea typeface="Calibri"/>
              <a:cs typeface="Calibri"/>
            </a:endParaRPr>
          </a:p>
        </p:txBody>
      </p:sp>
      <p:pic>
        <p:nvPicPr>
          <p:cNvPr id="4" name="Picture 3" descr="A diagram of a number connected to a network&#10;&#10;Description automatically generated">
            <a:extLst>
              <a:ext uri="{FF2B5EF4-FFF2-40B4-BE49-F238E27FC236}">
                <a16:creationId xmlns:a16="http://schemas.microsoft.com/office/drawing/2014/main" id="{682EA029-8142-E37D-7EEA-6D947AD86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2854" y="1835387"/>
            <a:ext cx="6995832" cy="6061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1896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71353-C816-DFE4-4B74-ACC76D7C51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5919" y="71438"/>
            <a:ext cx="8836571" cy="1805041"/>
          </a:xfrm>
        </p:spPr>
        <p:txBody>
          <a:bodyPr>
            <a:normAutofit/>
          </a:bodyPr>
          <a:lstStyle/>
          <a:p>
            <a:r>
              <a:rPr lang="en-US" sz="6000" b="1" dirty="0">
                <a:solidFill>
                  <a:srgbClr val="C00000"/>
                </a:solidFill>
                <a:ea typeface="Calibri"/>
                <a:cs typeface="Calibri"/>
              </a:rPr>
              <a:t>Types of motion planning </a:t>
            </a:r>
          </a:p>
        </p:txBody>
      </p:sp>
      <p:pic>
        <p:nvPicPr>
          <p:cNvPr id="3" name="Picture 2" descr="A diagram of a planner&#10;&#10;Description automatically generated">
            <a:extLst>
              <a:ext uri="{FF2B5EF4-FFF2-40B4-BE49-F238E27FC236}">
                <a16:creationId xmlns:a16="http://schemas.microsoft.com/office/drawing/2014/main" id="{2F224BC3-B385-D8F0-DD69-034BD3ED7B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5241" y="899086"/>
            <a:ext cx="4796840" cy="791359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F70B9C7-5838-D2AF-F56C-7A218054EF06}"/>
              </a:ext>
            </a:extLst>
          </p:cNvPr>
          <p:cNvSpPr txBox="1"/>
          <p:nvPr/>
        </p:nvSpPr>
        <p:spPr>
          <a:xfrm>
            <a:off x="323570" y="2130517"/>
            <a:ext cx="11724154" cy="63248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71500" indent="-571500">
              <a:buFont typeface="Courier New"/>
              <a:buChar char="o"/>
            </a:pPr>
            <a:r>
              <a:rPr lang="en-US" sz="4500" dirty="0">
                <a:ea typeface="Calibri"/>
                <a:cs typeface="Calibri"/>
              </a:rPr>
              <a:t>Motion planning broke into hierarchy of some problems </a:t>
            </a:r>
            <a:endParaRPr lang="en-US" sz="4500" dirty="0"/>
          </a:p>
          <a:p>
            <a:pPr marL="571500" indent="-571500">
              <a:buFont typeface="Courier New"/>
              <a:buChar char="o"/>
            </a:pPr>
            <a:r>
              <a:rPr lang="en-US" sz="4500" dirty="0">
                <a:ea typeface="Calibri"/>
                <a:cs typeface="Calibri"/>
              </a:rPr>
              <a:t>Mission planners focuses on mop-level navigation</a:t>
            </a:r>
          </a:p>
          <a:p>
            <a:pPr marL="571500" indent="-571500">
              <a:buFont typeface="Courier New"/>
              <a:buChar char="o"/>
            </a:pPr>
            <a:r>
              <a:rPr lang="en-US" sz="4500" dirty="0">
                <a:ea typeface="Calibri"/>
                <a:cs typeface="Calibri"/>
              </a:rPr>
              <a:t>Behavioral planning focuses on other agents, rules of the road , driving behaviors </a:t>
            </a:r>
          </a:p>
          <a:p>
            <a:pPr marL="571500" indent="-571500">
              <a:buFont typeface="Courier New"/>
              <a:buChar char="o"/>
            </a:pPr>
            <a:r>
              <a:rPr lang="en-US" sz="4500" dirty="0">
                <a:ea typeface="Calibri"/>
                <a:cs typeface="Calibri"/>
              </a:rPr>
              <a:t>Local planner focuses on generating  feasible, collision-free path </a:t>
            </a:r>
          </a:p>
          <a:p>
            <a:endParaRPr lang="en-US" sz="45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041320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71353-C816-DFE4-4B74-ACC76D7C51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0563" y="271462"/>
            <a:ext cx="11255187" cy="1805041"/>
          </a:xfrm>
        </p:spPr>
        <p:txBody>
          <a:bodyPr>
            <a:noAutofit/>
          </a:bodyPr>
          <a:lstStyle/>
          <a:p>
            <a:pPr algn="l"/>
            <a:r>
              <a:rPr lang="en-US" sz="6000" b="1" dirty="0">
                <a:solidFill>
                  <a:srgbClr val="C00000"/>
                </a:solidFill>
                <a:ea typeface="Calibri"/>
                <a:cs typeface="Calibri"/>
              </a:rPr>
              <a:t>Mission planner(route selection)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70B9C7-5838-D2AF-F56C-7A218054EF06}"/>
              </a:ext>
            </a:extLst>
          </p:cNvPr>
          <p:cNvSpPr txBox="1"/>
          <p:nvPr/>
        </p:nvSpPr>
        <p:spPr>
          <a:xfrm>
            <a:off x="460563" y="2707341"/>
            <a:ext cx="11068610" cy="40318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dirty="0">
              <a:ea typeface="Calibri"/>
              <a:cs typeface="Calibri"/>
            </a:endParaRPr>
          </a:p>
          <a:p>
            <a:pPr marL="571500" indent="-571500">
              <a:buFont typeface="Courier New"/>
              <a:buChar char="o"/>
            </a:pPr>
            <a:r>
              <a:rPr lang="en-US" sz="4400" dirty="0">
                <a:ea typeface="Calibri"/>
                <a:cs typeface="Calibri"/>
              </a:rPr>
              <a:t>Mission planners focuses on mop-level navigation</a:t>
            </a:r>
          </a:p>
          <a:p>
            <a:pPr marL="571500" indent="-571500">
              <a:buFont typeface="Courier New"/>
              <a:buChar char="o"/>
            </a:pPr>
            <a:r>
              <a:rPr lang="en-US" sz="4400" dirty="0">
                <a:ea typeface="Calibri"/>
                <a:cs typeface="Calibri"/>
              </a:rPr>
              <a:t> can be solved with graph-based methods (A*, Dijkstra's)  </a:t>
            </a:r>
          </a:p>
          <a:p>
            <a:endParaRPr lang="en-US" sz="4400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pic>
        <p:nvPicPr>
          <p:cNvPr id="5" name="Picture 4" descr="A map of a city&#10;&#10;Description automatically generated">
            <a:extLst>
              <a:ext uri="{FF2B5EF4-FFF2-40B4-BE49-F238E27FC236}">
                <a16:creationId xmlns:a16="http://schemas.microsoft.com/office/drawing/2014/main" id="{D02DA00D-2D7B-4087-8706-D38FFF2EED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82" y="1797496"/>
            <a:ext cx="6659655" cy="5851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8906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F70B9C7-5838-D2AF-F56C-7A218054EF06}"/>
              </a:ext>
            </a:extLst>
          </p:cNvPr>
          <p:cNvSpPr txBox="1"/>
          <p:nvPr/>
        </p:nvSpPr>
        <p:spPr>
          <a:xfrm>
            <a:off x="1047610" y="1377477"/>
            <a:ext cx="11468660" cy="797417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endParaRPr lang="en-US" dirty="0">
              <a:ea typeface="Calibri"/>
              <a:cs typeface="Calibri"/>
            </a:endParaRPr>
          </a:p>
          <a:p>
            <a:pPr marL="571500" indent="-571500">
              <a:lnSpc>
                <a:spcPct val="150000"/>
              </a:lnSpc>
              <a:buFont typeface="Courier New"/>
              <a:buChar char="o"/>
            </a:pPr>
            <a:r>
              <a:rPr lang="en-US" sz="3600" dirty="0">
                <a:ea typeface="Calibri"/>
                <a:cs typeface="Calibri"/>
              </a:rPr>
              <a:t>Works on both directed and undirected graphs </a:t>
            </a:r>
          </a:p>
          <a:p>
            <a:pPr marL="571500" indent="-571500">
              <a:lnSpc>
                <a:spcPct val="150000"/>
              </a:lnSpc>
              <a:buFont typeface="Courier New"/>
              <a:buChar char="o"/>
            </a:pPr>
            <a:r>
              <a:rPr lang="en-US" sz="3600" dirty="0">
                <a:ea typeface="Calibri"/>
                <a:cs typeface="Calibri"/>
              </a:rPr>
              <a:t>Single source shortest path (SSSP)</a:t>
            </a:r>
          </a:p>
          <a:p>
            <a:pPr marL="571500" indent="-571500">
              <a:lnSpc>
                <a:spcPct val="150000"/>
              </a:lnSpc>
              <a:buFont typeface="Courier New"/>
              <a:buChar char="o"/>
            </a:pPr>
            <a:r>
              <a:rPr lang="en-US" sz="3600" dirty="0">
                <a:solidFill>
                  <a:srgbClr val="FF0000"/>
                </a:solidFill>
                <a:ea typeface="Calibri"/>
                <a:cs typeface="Calibri"/>
              </a:rPr>
              <a:t>Non-negative edge weights</a:t>
            </a:r>
          </a:p>
          <a:p>
            <a:pPr marL="571500" indent="-571500">
              <a:lnSpc>
                <a:spcPct val="150000"/>
              </a:lnSpc>
              <a:buFont typeface="Courier New"/>
              <a:buChar char="o"/>
            </a:pPr>
            <a:r>
              <a:rPr lang="en-US" sz="3600" dirty="0">
                <a:ea typeface="Calibri"/>
                <a:cs typeface="Calibri"/>
              </a:rPr>
              <a:t>Uses cost function(g(n))</a:t>
            </a:r>
          </a:p>
          <a:p>
            <a:pPr marL="285750" indent="-285750">
              <a:lnSpc>
                <a:spcPct val="150000"/>
              </a:lnSpc>
              <a:buFont typeface="Courier New"/>
              <a:buChar char="o"/>
            </a:pPr>
            <a:r>
              <a:rPr lang="en-US" sz="3600" dirty="0">
                <a:ea typeface="Calibri"/>
                <a:cs typeface="Calibri"/>
              </a:rPr>
              <a:t>  Time complexity: O(E*log(v))</a:t>
            </a:r>
          </a:p>
          <a:p>
            <a:pPr marL="285750" indent="-285750">
              <a:lnSpc>
                <a:spcPct val="150000"/>
              </a:lnSpc>
              <a:buFont typeface="Courier New"/>
              <a:buChar char="o"/>
            </a:pPr>
            <a:r>
              <a:rPr lang="en-US" sz="3600" dirty="0">
                <a:ea typeface="Calibri"/>
                <a:cs typeface="Calibri"/>
              </a:rPr>
              <a:t>Steps : </a:t>
            </a:r>
            <a:br>
              <a:rPr lang="en-US" sz="3600" dirty="0">
                <a:ea typeface="Calibri"/>
                <a:cs typeface="Calibri"/>
              </a:rPr>
            </a:br>
            <a:r>
              <a:rPr lang="en-US" sz="3200" dirty="0">
                <a:ea typeface="Calibri"/>
                <a:cs typeface="Calibri"/>
              </a:rPr>
              <a:t>1- update estimates </a:t>
            </a:r>
            <a:br>
              <a:rPr lang="en-US" sz="3200" dirty="0">
                <a:ea typeface="Calibri"/>
                <a:cs typeface="Calibri"/>
              </a:rPr>
            </a:br>
            <a:r>
              <a:rPr lang="en-US" sz="3200" dirty="0">
                <a:ea typeface="Calibri"/>
                <a:cs typeface="Calibri"/>
              </a:rPr>
              <a:t>2- choose the next vertex</a:t>
            </a:r>
            <a:r>
              <a:rPr lang="en-US" sz="3600" dirty="0">
                <a:ea typeface="Calibri"/>
                <a:cs typeface="Calibri"/>
              </a:rPr>
              <a:t> </a:t>
            </a:r>
            <a:br>
              <a:rPr lang="en-US" sz="4400" dirty="0">
                <a:ea typeface="Calibri"/>
                <a:cs typeface="Calibri"/>
              </a:rPr>
            </a:br>
            <a:endParaRPr lang="en-US" sz="4400" dirty="0"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237FAA-63C7-D79D-BBAE-902553ED2EA3}"/>
              </a:ext>
            </a:extLst>
          </p:cNvPr>
          <p:cNvSpPr txBox="1"/>
          <p:nvPr/>
        </p:nvSpPr>
        <p:spPr>
          <a:xfrm>
            <a:off x="732865" y="97971"/>
            <a:ext cx="12098150" cy="169277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en-US" sz="4400" b="1" dirty="0">
              <a:solidFill>
                <a:srgbClr val="C00000"/>
              </a:solidFill>
              <a:ea typeface="Calibri"/>
              <a:cs typeface="Calibri"/>
            </a:endParaRPr>
          </a:p>
          <a:p>
            <a:r>
              <a:rPr lang="en-US" sz="6000" b="1" dirty="0">
                <a:solidFill>
                  <a:srgbClr val="C00000"/>
                </a:solidFill>
                <a:latin typeface="Arial Nova"/>
                <a:ea typeface="Calibri"/>
                <a:cs typeface="Calibri"/>
              </a:rPr>
              <a:t>Mission planner –Dijkstra's</a:t>
            </a:r>
            <a:endParaRPr lang="en-US" sz="6000" dirty="0">
              <a:solidFill>
                <a:srgbClr val="C00000"/>
              </a:solidFill>
              <a:latin typeface="Arial Nov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2419AD-405C-22D8-E26B-F7F5A6C2E117}"/>
              </a:ext>
            </a:extLst>
          </p:cNvPr>
          <p:cNvSpPr txBox="1"/>
          <p:nvPr/>
        </p:nvSpPr>
        <p:spPr>
          <a:xfrm>
            <a:off x="11714067" y="1677823"/>
            <a:ext cx="6735535" cy="64325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 dirty="0">
                <a:solidFill>
                  <a:srgbClr val="C00000"/>
                </a:solidFill>
                <a:ea typeface="Calibri"/>
                <a:cs typeface="Calibri"/>
              </a:rPr>
              <a:t>Pseudo-code </a:t>
            </a:r>
          </a:p>
          <a:p>
            <a:endParaRPr lang="en-US" sz="3600" dirty="0">
              <a:solidFill>
                <a:srgbClr val="FF0000"/>
              </a:solidFill>
              <a:ea typeface="Calibri"/>
              <a:cs typeface="Calibri"/>
            </a:endParaRPr>
          </a:p>
          <a:p>
            <a:r>
              <a:rPr lang="en-US" sz="2800" dirty="0">
                <a:ea typeface="Calibri"/>
                <a:cs typeface="Calibri"/>
              </a:rPr>
              <a:t>For each vertex V :</a:t>
            </a:r>
            <a:endParaRPr lang="en-US" sz="1400" dirty="0"/>
          </a:p>
          <a:p>
            <a:r>
              <a:rPr lang="en-US" sz="2800" dirty="0">
                <a:ea typeface="Calibri"/>
                <a:cs typeface="Calibri"/>
              </a:rPr>
              <a:t>    </a:t>
            </a:r>
            <a:r>
              <a:rPr lang="en-US" sz="2800" dirty="0" err="1">
                <a:ea typeface="Calibri"/>
                <a:cs typeface="Calibri"/>
              </a:rPr>
              <a:t>Dist</a:t>
            </a:r>
            <a:r>
              <a:rPr lang="en-US" sz="2800" dirty="0">
                <a:ea typeface="Calibri"/>
                <a:cs typeface="Calibri"/>
              </a:rPr>
              <a:t>[V]=∞</a:t>
            </a:r>
            <a:br>
              <a:rPr lang="en-US" sz="2800" dirty="0">
                <a:ea typeface="Calibri"/>
                <a:cs typeface="Calibri"/>
              </a:rPr>
            </a:br>
            <a:r>
              <a:rPr lang="en-US" sz="2800" dirty="0">
                <a:ea typeface="Calibri"/>
                <a:cs typeface="Calibri"/>
              </a:rPr>
              <a:t>    </a:t>
            </a:r>
            <a:r>
              <a:rPr lang="en-US" sz="2800" dirty="0" err="1">
                <a:ea typeface="Calibri"/>
                <a:cs typeface="Calibri"/>
              </a:rPr>
              <a:t>prev</a:t>
            </a:r>
            <a:r>
              <a:rPr lang="en-US" sz="2800" dirty="0">
                <a:ea typeface="Calibri"/>
                <a:cs typeface="Calibri"/>
              </a:rPr>
              <a:t>[V]=none</a:t>
            </a:r>
          </a:p>
          <a:p>
            <a:r>
              <a:rPr lang="en-US" sz="2800" dirty="0" err="1">
                <a:ea typeface="Calibri"/>
                <a:cs typeface="Calibri"/>
              </a:rPr>
              <a:t>Dist</a:t>
            </a:r>
            <a:r>
              <a:rPr lang="en-US" sz="2800" dirty="0">
                <a:ea typeface="Calibri"/>
                <a:cs typeface="Calibri"/>
              </a:rPr>
              <a:t>[source]=0</a:t>
            </a:r>
          </a:p>
          <a:p>
            <a:r>
              <a:rPr lang="en-US" sz="2800" dirty="0">
                <a:ea typeface="Calibri"/>
                <a:cs typeface="Calibri"/>
              </a:rPr>
              <a:t>Set all vertices to unexplored </a:t>
            </a:r>
          </a:p>
          <a:p>
            <a:r>
              <a:rPr lang="en-US" sz="2800" dirty="0">
                <a:ea typeface="Calibri"/>
                <a:cs typeface="Calibri"/>
              </a:rPr>
              <a:t>While destination is not explored :</a:t>
            </a:r>
          </a:p>
          <a:p>
            <a:r>
              <a:rPr lang="en-US" sz="2800" dirty="0">
                <a:ea typeface="Calibri"/>
                <a:cs typeface="Calibri"/>
              </a:rPr>
              <a:t>    V = </a:t>
            </a:r>
            <a:r>
              <a:rPr lang="en-US" sz="2800" dirty="0" err="1">
                <a:ea typeface="Calibri"/>
                <a:cs typeface="Calibri"/>
              </a:rPr>
              <a:t>least_valued</a:t>
            </a:r>
            <a:r>
              <a:rPr lang="en-US" sz="2800" dirty="0">
                <a:ea typeface="Calibri"/>
                <a:cs typeface="Calibri"/>
              </a:rPr>
              <a:t> unexplored vertex </a:t>
            </a:r>
            <a:br>
              <a:rPr lang="en-US" sz="2800" dirty="0">
                <a:ea typeface="Calibri"/>
                <a:cs typeface="Calibri"/>
              </a:rPr>
            </a:br>
            <a:r>
              <a:rPr lang="en-US" sz="2800" dirty="0">
                <a:ea typeface="Calibri"/>
                <a:cs typeface="Calibri"/>
              </a:rPr>
              <a:t>    set V to explored </a:t>
            </a:r>
          </a:p>
          <a:p>
            <a:r>
              <a:rPr lang="en-US" sz="2800" dirty="0">
                <a:ea typeface="Calibri"/>
                <a:cs typeface="Calibri"/>
              </a:rPr>
              <a:t>    For each edge (V,W):</a:t>
            </a:r>
          </a:p>
          <a:p>
            <a:r>
              <a:rPr lang="en-US" sz="2800" dirty="0">
                <a:ea typeface="Calibri"/>
                <a:cs typeface="Calibri"/>
              </a:rPr>
              <a:t>        If </a:t>
            </a:r>
            <a:r>
              <a:rPr lang="en-US" sz="2800" dirty="0" err="1">
                <a:ea typeface="Calibri"/>
                <a:cs typeface="Calibri"/>
              </a:rPr>
              <a:t>dist</a:t>
            </a:r>
            <a:r>
              <a:rPr lang="en-US" sz="2800" dirty="0">
                <a:ea typeface="Calibri"/>
                <a:cs typeface="Calibri"/>
              </a:rPr>
              <a:t>[V]+</a:t>
            </a:r>
            <a:r>
              <a:rPr lang="en-US" sz="2800" dirty="0" err="1">
                <a:ea typeface="Calibri"/>
                <a:cs typeface="Calibri"/>
              </a:rPr>
              <a:t>len</a:t>
            </a:r>
            <a:r>
              <a:rPr lang="en-US" sz="2800" dirty="0">
                <a:ea typeface="Calibri"/>
                <a:cs typeface="Calibri"/>
              </a:rPr>
              <a:t>(V,W)&lt;</a:t>
            </a:r>
            <a:r>
              <a:rPr lang="en-US" sz="2800" dirty="0" err="1">
                <a:ea typeface="Calibri"/>
                <a:cs typeface="Calibri"/>
              </a:rPr>
              <a:t>dist</a:t>
            </a:r>
            <a:r>
              <a:rPr lang="en-US" sz="2800" dirty="0">
                <a:ea typeface="Calibri"/>
                <a:cs typeface="Calibri"/>
              </a:rPr>
              <a:t>[W]:</a:t>
            </a:r>
          </a:p>
          <a:p>
            <a:r>
              <a:rPr lang="en-US" sz="2800" dirty="0">
                <a:ea typeface="Calibri"/>
                <a:cs typeface="Calibri"/>
              </a:rPr>
              <a:t>            </a:t>
            </a:r>
            <a:r>
              <a:rPr lang="en-US" sz="2800" dirty="0" err="1">
                <a:ea typeface="Calibri"/>
                <a:cs typeface="Calibri"/>
              </a:rPr>
              <a:t>Dist</a:t>
            </a:r>
            <a:r>
              <a:rPr lang="en-US" sz="2800" dirty="0">
                <a:ea typeface="Calibri"/>
                <a:cs typeface="Calibri"/>
              </a:rPr>
              <a:t>[W] =</a:t>
            </a:r>
            <a:r>
              <a:rPr lang="en-US" sz="2800" dirty="0" err="1">
                <a:ea typeface="Calibri"/>
                <a:cs typeface="Calibri"/>
              </a:rPr>
              <a:t>Dist</a:t>
            </a:r>
            <a:r>
              <a:rPr lang="en-US" sz="2800" dirty="0">
                <a:ea typeface="Calibri"/>
                <a:cs typeface="Calibri"/>
              </a:rPr>
              <a:t>[V]+</a:t>
            </a:r>
            <a:r>
              <a:rPr lang="en-US" sz="2800" dirty="0" err="1">
                <a:ea typeface="Calibri"/>
                <a:cs typeface="Calibri"/>
              </a:rPr>
              <a:t>len</a:t>
            </a:r>
            <a:r>
              <a:rPr lang="en-US" sz="2800" dirty="0">
                <a:ea typeface="Calibri"/>
                <a:cs typeface="Calibri"/>
              </a:rPr>
              <a:t>(V,W)</a:t>
            </a:r>
            <a:br>
              <a:rPr lang="en-US" sz="2800" dirty="0">
                <a:ea typeface="Calibri"/>
                <a:cs typeface="Calibri"/>
              </a:rPr>
            </a:br>
            <a:r>
              <a:rPr lang="en-US" sz="2800" dirty="0">
                <a:ea typeface="Calibri"/>
                <a:cs typeface="Calibri"/>
              </a:rPr>
              <a:t>            </a:t>
            </a:r>
            <a:r>
              <a:rPr lang="en-US" sz="2800" dirty="0" err="1">
                <a:ea typeface="Calibri"/>
                <a:cs typeface="Calibri"/>
              </a:rPr>
              <a:t>prev</a:t>
            </a:r>
            <a:r>
              <a:rPr lang="en-US" sz="2800" dirty="0">
                <a:ea typeface="Calibri"/>
                <a:cs typeface="Calibri"/>
              </a:rPr>
              <a:t>[W]=V</a:t>
            </a:r>
          </a:p>
        </p:txBody>
      </p:sp>
    </p:spTree>
    <p:extLst>
      <p:ext uri="{BB962C8B-B14F-4D97-AF65-F5344CB8AC3E}">
        <p14:creationId xmlns:p14="http://schemas.microsoft.com/office/powerpoint/2010/main" val="36159655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F70B9C7-5838-D2AF-F56C-7A218054EF06}"/>
              </a:ext>
            </a:extLst>
          </p:cNvPr>
          <p:cNvSpPr txBox="1"/>
          <p:nvPr/>
        </p:nvSpPr>
        <p:spPr>
          <a:xfrm>
            <a:off x="748632" y="1229320"/>
            <a:ext cx="8859149" cy="8316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71500" indent="-571500">
              <a:lnSpc>
                <a:spcPct val="150000"/>
              </a:lnSpc>
              <a:buFont typeface="Courier New"/>
              <a:buChar char="o"/>
            </a:pPr>
            <a:r>
              <a:rPr lang="en-US" sz="3600" dirty="0">
                <a:ea typeface="Calibri"/>
                <a:cs typeface="Calibri"/>
              </a:rPr>
              <a:t>Works on both directed and undirected graphs </a:t>
            </a:r>
          </a:p>
          <a:p>
            <a:pPr marL="571500" indent="-571500">
              <a:lnSpc>
                <a:spcPct val="150000"/>
              </a:lnSpc>
              <a:buFont typeface="Courier New"/>
              <a:buChar char="o"/>
            </a:pPr>
            <a:r>
              <a:rPr lang="en-US" sz="3600" dirty="0">
                <a:ea typeface="Calibri"/>
                <a:cs typeface="Calibri"/>
              </a:rPr>
              <a:t>Single source shortest path (SSSP)</a:t>
            </a:r>
          </a:p>
          <a:p>
            <a:pPr marL="571500" indent="-571500">
              <a:lnSpc>
                <a:spcPct val="150000"/>
              </a:lnSpc>
              <a:buFont typeface="Courier New"/>
              <a:buChar char="o"/>
            </a:pPr>
            <a:r>
              <a:rPr lang="en-US" sz="3600" dirty="0">
                <a:solidFill>
                  <a:srgbClr val="FF0000"/>
                </a:solidFill>
                <a:ea typeface="Calibri"/>
                <a:cs typeface="Calibri"/>
              </a:rPr>
              <a:t>Non-negative edge weights</a:t>
            </a:r>
          </a:p>
          <a:p>
            <a:pPr marL="571500" indent="-571500">
              <a:lnSpc>
                <a:spcPct val="150000"/>
              </a:lnSpc>
              <a:buFont typeface="Courier New"/>
              <a:buChar char="o"/>
            </a:pPr>
            <a:r>
              <a:rPr lang="en-US" sz="3600" dirty="0">
                <a:ea typeface="Calibri"/>
                <a:cs typeface="Calibri"/>
              </a:rPr>
              <a:t>Uses cost function (g(n)) and heuristic (h(n))</a:t>
            </a:r>
          </a:p>
          <a:p>
            <a:pPr marL="285750" indent="-285750">
              <a:lnSpc>
                <a:spcPct val="150000"/>
              </a:lnSpc>
              <a:buFont typeface="Courier New"/>
              <a:buChar char="o"/>
            </a:pPr>
            <a:r>
              <a:rPr lang="en-US" sz="3600" dirty="0">
                <a:ea typeface="Calibri"/>
                <a:cs typeface="Calibri"/>
              </a:rPr>
              <a:t>  Time complexity: O(E*log(v))</a:t>
            </a:r>
          </a:p>
          <a:p>
            <a:pPr marL="285750" indent="-285750">
              <a:lnSpc>
                <a:spcPct val="150000"/>
              </a:lnSpc>
              <a:buFont typeface="Courier New"/>
              <a:buChar char="o"/>
            </a:pPr>
            <a:r>
              <a:rPr lang="en-US" sz="3600" dirty="0">
                <a:ea typeface="Calibri"/>
                <a:cs typeface="Calibri"/>
              </a:rPr>
              <a:t>Steps : </a:t>
            </a:r>
            <a:br>
              <a:rPr lang="en-US" sz="3600" dirty="0">
                <a:ea typeface="Calibri"/>
                <a:cs typeface="Calibri"/>
              </a:rPr>
            </a:br>
            <a:r>
              <a:rPr lang="en-US" sz="3600" dirty="0">
                <a:ea typeface="Calibri"/>
                <a:cs typeface="Calibri"/>
              </a:rPr>
              <a:t>1- update estimates </a:t>
            </a:r>
            <a:br>
              <a:rPr lang="en-US" sz="3600" dirty="0">
                <a:ea typeface="Calibri"/>
                <a:cs typeface="Calibri"/>
              </a:rPr>
            </a:br>
            <a:r>
              <a:rPr lang="en-US" sz="3600" dirty="0">
                <a:ea typeface="Calibri"/>
                <a:cs typeface="Calibri"/>
              </a:rPr>
              <a:t>2- choose the next vertex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237FAA-63C7-D79D-BBAE-902553ED2EA3}"/>
              </a:ext>
            </a:extLst>
          </p:cNvPr>
          <p:cNvSpPr txBox="1"/>
          <p:nvPr/>
        </p:nvSpPr>
        <p:spPr>
          <a:xfrm>
            <a:off x="632852" y="273968"/>
            <a:ext cx="12098150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000" b="1" dirty="0">
                <a:solidFill>
                  <a:srgbClr val="C00000"/>
                </a:solidFill>
                <a:latin typeface="Arial Nova"/>
                <a:ea typeface="Calibri"/>
                <a:cs typeface="Calibri"/>
              </a:rPr>
              <a:t>Mission planner –A*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2419AD-405C-22D8-E26B-F7F5A6C2E117}"/>
              </a:ext>
            </a:extLst>
          </p:cNvPr>
          <p:cNvSpPr txBox="1"/>
          <p:nvPr/>
        </p:nvSpPr>
        <p:spPr>
          <a:xfrm>
            <a:off x="9873855" y="1229320"/>
            <a:ext cx="8837515" cy="79098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ea typeface="Calibri"/>
                <a:cs typeface="Calibri"/>
              </a:rPr>
              <a:t>Pseudo-code </a:t>
            </a:r>
          </a:p>
          <a:p>
            <a:endParaRPr lang="en-US" sz="3200" dirty="0">
              <a:ea typeface="Calibri"/>
              <a:cs typeface="Calibri"/>
            </a:endParaRPr>
          </a:p>
          <a:p>
            <a:r>
              <a:rPr lang="en-US" sz="2800" dirty="0">
                <a:ea typeface="+mn-lt"/>
                <a:cs typeface="+mn-lt"/>
              </a:rPr>
              <a:t>For each vertex V:</a:t>
            </a:r>
            <a:endParaRPr lang="en-US" sz="2800" dirty="0">
              <a:ea typeface="Calibri"/>
              <a:cs typeface="Calibri"/>
            </a:endParaRPr>
          </a:p>
          <a:p>
            <a:r>
              <a:rPr lang="en-US" sz="2800" dirty="0">
                <a:ea typeface="+mn-lt"/>
                <a:cs typeface="+mn-lt"/>
              </a:rPr>
              <a:t>    </a:t>
            </a:r>
            <a:r>
              <a:rPr lang="en-US" sz="2800" dirty="0" err="1">
                <a:ea typeface="+mn-lt"/>
                <a:cs typeface="+mn-lt"/>
              </a:rPr>
              <a:t>dist</a:t>
            </a:r>
            <a:r>
              <a:rPr lang="en-US" sz="2800" dirty="0">
                <a:ea typeface="+mn-lt"/>
                <a:cs typeface="+mn-lt"/>
              </a:rPr>
              <a:t>[V] = ∞  # Cost </a:t>
            </a:r>
          </a:p>
          <a:p>
            <a:r>
              <a:rPr lang="en-US" sz="2800" dirty="0">
                <a:ea typeface="+mn-lt"/>
                <a:cs typeface="+mn-lt"/>
              </a:rPr>
              <a:t>    </a:t>
            </a:r>
            <a:r>
              <a:rPr lang="en-US" sz="2800" dirty="0" err="1">
                <a:ea typeface="+mn-lt"/>
                <a:cs typeface="+mn-lt"/>
              </a:rPr>
              <a:t>prev</a:t>
            </a:r>
            <a:r>
              <a:rPr lang="en-US" sz="2800" dirty="0">
                <a:ea typeface="+mn-lt"/>
                <a:cs typeface="+mn-lt"/>
              </a:rPr>
              <a:t>[V] = none</a:t>
            </a:r>
            <a:endParaRPr lang="en-US" sz="2800" dirty="0">
              <a:ea typeface="Calibri"/>
              <a:cs typeface="Calibri"/>
            </a:endParaRPr>
          </a:p>
          <a:p>
            <a:r>
              <a:rPr lang="en-US" sz="2800" dirty="0">
                <a:ea typeface="+mn-lt"/>
                <a:cs typeface="+mn-lt"/>
              </a:rPr>
              <a:t>    heuristic[V] = </a:t>
            </a:r>
            <a:r>
              <a:rPr lang="en-US" sz="2800" dirty="0" err="1">
                <a:ea typeface="+mn-lt"/>
                <a:cs typeface="+mn-lt"/>
              </a:rPr>
              <a:t>heuristic_estimate</a:t>
            </a:r>
            <a:r>
              <a:rPr lang="en-US" sz="2800" dirty="0">
                <a:ea typeface="+mn-lt"/>
                <a:cs typeface="+mn-lt"/>
              </a:rPr>
              <a:t>(V, goal)  # Heuristic </a:t>
            </a:r>
            <a:endParaRPr lang="en-US" sz="2800" dirty="0">
              <a:ea typeface="Calibri"/>
              <a:cs typeface="Calibri"/>
            </a:endParaRPr>
          </a:p>
          <a:p>
            <a:r>
              <a:rPr lang="en-US" sz="2800" dirty="0" err="1">
                <a:ea typeface="+mn-lt"/>
                <a:cs typeface="+mn-lt"/>
              </a:rPr>
              <a:t>dist</a:t>
            </a:r>
            <a:r>
              <a:rPr lang="en-US" sz="2800" dirty="0">
                <a:ea typeface="+mn-lt"/>
                <a:cs typeface="+mn-lt"/>
              </a:rPr>
              <a:t>[source] = 0  </a:t>
            </a:r>
            <a:endParaRPr lang="en-US" sz="2800" dirty="0">
              <a:ea typeface="Calibri"/>
              <a:cs typeface="Calibri"/>
            </a:endParaRPr>
          </a:p>
          <a:p>
            <a:r>
              <a:rPr lang="en-US" sz="2800" dirty="0">
                <a:ea typeface="+mn-lt"/>
                <a:cs typeface="+mn-lt"/>
              </a:rPr>
              <a:t>Set all vertices to unexplored</a:t>
            </a:r>
            <a:endParaRPr lang="en-US" sz="2800" dirty="0">
              <a:ea typeface="Calibri"/>
              <a:cs typeface="Calibri"/>
            </a:endParaRPr>
          </a:p>
          <a:p>
            <a:r>
              <a:rPr lang="en-US" sz="2800" dirty="0">
                <a:ea typeface="+mn-lt"/>
                <a:cs typeface="+mn-lt"/>
              </a:rPr>
              <a:t>While destination is not explored:</a:t>
            </a:r>
            <a:endParaRPr lang="en-US" sz="2800" dirty="0">
              <a:ea typeface="Calibri"/>
              <a:cs typeface="Calibri"/>
            </a:endParaRPr>
          </a:p>
          <a:p>
            <a:r>
              <a:rPr lang="en-US" sz="2800" dirty="0">
                <a:ea typeface="+mn-lt"/>
                <a:cs typeface="+mn-lt"/>
              </a:rPr>
              <a:t>    V = unexplored vertex with the lowest </a:t>
            </a:r>
            <a:r>
              <a:rPr lang="en-US" sz="2800" dirty="0" err="1">
                <a:ea typeface="+mn-lt"/>
                <a:cs typeface="+mn-lt"/>
              </a:rPr>
              <a:t>dist</a:t>
            </a:r>
            <a:r>
              <a:rPr lang="en-US" sz="2800" dirty="0">
                <a:ea typeface="+mn-lt"/>
                <a:cs typeface="+mn-lt"/>
              </a:rPr>
              <a:t>[V] + heuristic[V] value</a:t>
            </a:r>
            <a:endParaRPr lang="en-US" sz="2800" dirty="0">
              <a:ea typeface="Calibri"/>
              <a:cs typeface="Calibri"/>
            </a:endParaRPr>
          </a:p>
          <a:p>
            <a:r>
              <a:rPr lang="en-US" sz="2800" dirty="0">
                <a:ea typeface="+mn-lt"/>
                <a:cs typeface="+mn-lt"/>
              </a:rPr>
              <a:t>    Set V to explored</a:t>
            </a:r>
            <a:endParaRPr lang="en-US" sz="2800" dirty="0">
              <a:ea typeface="Calibri"/>
              <a:cs typeface="Calibri"/>
            </a:endParaRPr>
          </a:p>
          <a:p>
            <a:r>
              <a:rPr lang="en-US" sz="2800" dirty="0">
                <a:ea typeface="+mn-lt"/>
                <a:cs typeface="+mn-lt"/>
              </a:rPr>
              <a:t>    For each edge (V, W):</a:t>
            </a:r>
            <a:endParaRPr lang="en-US" sz="2800" dirty="0">
              <a:ea typeface="Calibri"/>
              <a:cs typeface="Calibri"/>
            </a:endParaRPr>
          </a:p>
          <a:p>
            <a:r>
              <a:rPr lang="en-US" sz="2800" dirty="0">
                <a:ea typeface="+mn-lt"/>
                <a:cs typeface="+mn-lt"/>
              </a:rPr>
              <a:t>        </a:t>
            </a:r>
            <a:r>
              <a:rPr lang="en-US" sz="2800" dirty="0" err="1">
                <a:ea typeface="+mn-lt"/>
                <a:cs typeface="+mn-lt"/>
              </a:rPr>
              <a:t>tentative_dist</a:t>
            </a:r>
            <a:r>
              <a:rPr lang="en-US" sz="2800" dirty="0">
                <a:ea typeface="+mn-lt"/>
                <a:cs typeface="+mn-lt"/>
              </a:rPr>
              <a:t> = </a:t>
            </a:r>
            <a:r>
              <a:rPr lang="en-US" sz="2800" dirty="0" err="1">
                <a:ea typeface="+mn-lt"/>
                <a:cs typeface="+mn-lt"/>
              </a:rPr>
              <a:t>dist</a:t>
            </a:r>
            <a:r>
              <a:rPr lang="en-US" sz="2800" dirty="0">
                <a:ea typeface="+mn-lt"/>
                <a:cs typeface="+mn-lt"/>
              </a:rPr>
              <a:t>[V] + </a:t>
            </a:r>
            <a:r>
              <a:rPr lang="en-US" sz="2800" dirty="0" err="1">
                <a:ea typeface="+mn-lt"/>
                <a:cs typeface="+mn-lt"/>
              </a:rPr>
              <a:t>len</a:t>
            </a:r>
            <a:r>
              <a:rPr lang="en-US" sz="2800" dirty="0">
                <a:ea typeface="+mn-lt"/>
                <a:cs typeface="+mn-lt"/>
              </a:rPr>
              <a:t>(V, W)  </a:t>
            </a:r>
          </a:p>
          <a:p>
            <a:r>
              <a:rPr lang="en-US" sz="2800" dirty="0">
                <a:ea typeface="+mn-lt"/>
                <a:cs typeface="+mn-lt"/>
              </a:rPr>
              <a:t>        if </a:t>
            </a:r>
            <a:r>
              <a:rPr lang="en-US" sz="2800" dirty="0" err="1">
                <a:ea typeface="+mn-lt"/>
                <a:cs typeface="+mn-lt"/>
              </a:rPr>
              <a:t>tentative_dist</a:t>
            </a:r>
            <a:r>
              <a:rPr lang="en-US" sz="2800" dirty="0">
                <a:ea typeface="+mn-lt"/>
                <a:cs typeface="+mn-lt"/>
              </a:rPr>
              <a:t> &lt; </a:t>
            </a:r>
            <a:r>
              <a:rPr lang="en-US" sz="2800" dirty="0" err="1">
                <a:ea typeface="+mn-lt"/>
                <a:cs typeface="+mn-lt"/>
              </a:rPr>
              <a:t>dist</a:t>
            </a:r>
            <a:r>
              <a:rPr lang="en-US" sz="2800" dirty="0">
                <a:ea typeface="+mn-lt"/>
                <a:cs typeface="+mn-lt"/>
              </a:rPr>
              <a:t>[W]:  </a:t>
            </a:r>
            <a:endParaRPr lang="en-US" sz="2800" dirty="0">
              <a:ea typeface="Calibri"/>
              <a:cs typeface="Calibri"/>
            </a:endParaRPr>
          </a:p>
          <a:p>
            <a:r>
              <a:rPr lang="en-US" sz="2800" dirty="0">
                <a:ea typeface="+mn-lt"/>
                <a:cs typeface="+mn-lt"/>
              </a:rPr>
              <a:t>            </a:t>
            </a:r>
            <a:r>
              <a:rPr lang="en-US" sz="2800" dirty="0" err="1">
                <a:ea typeface="+mn-lt"/>
                <a:cs typeface="+mn-lt"/>
              </a:rPr>
              <a:t>dist</a:t>
            </a:r>
            <a:r>
              <a:rPr lang="en-US" sz="2800" dirty="0">
                <a:ea typeface="+mn-lt"/>
                <a:cs typeface="+mn-lt"/>
              </a:rPr>
              <a:t>[W] = </a:t>
            </a:r>
            <a:r>
              <a:rPr lang="en-US" sz="2800" dirty="0" err="1">
                <a:ea typeface="+mn-lt"/>
                <a:cs typeface="+mn-lt"/>
              </a:rPr>
              <a:t>tentative_dist</a:t>
            </a:r>
            <a:r>
              <a:rPr lang="en-US" sz="2800" dirty="0">
                <a:ea typeface="+mn-lt"/>
                <a:cs typeface="+mn-lt"/>
              </a:rPr>
              <a:t>  </a:t>
            </a:r>
            <a:endParaRPr lang="en-US" sz="2800" dirty="0">
              <a:ea typeface="Calibri"/>
              <a:cs typeface="Calibri"/>
            </a:endParaRPr>
          </a:p>
          <a:p>
            <a:r>
              <a:rPr lang="en-US" sz="2800" dirty="0">
                <a:ea typeface="+mn-lt"/>
                <a:cs typeface="+mn-lt"/>
              </a:rPr>
              <a:t>            </a:t>
            </a:r>
            <a:r>
              <a:rPr lang="en-US" sz="2800" dirty="0" err="1">
                <a:ea typeface="+mn-lt"/>
                <a:cs typeface="+mn-lt"/>
              </a:rPr>
              <a:t>prev</a:t>
            </a:r>
            <a:r>
              <a:rPr lang="en-US" sz="2800" dirty="0">
                <a:ea typeface="+mn-lt"/>
                <a:cs typeface="+mn-lt"/>
              </a:rPr>
              <a:t>[W] = V</a:t>
            </a:r>
            <a:endParaRPr lang="en-US" sz="2800" dirty="0">
              <a:ea typeface="Calibri"/>
              <a:cs typeface="Calibri"/>
            </a:endParaRPr>
          </a:p>
          <a:p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317571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8237FAA-63C7-D79D-BBAE-902553ED2EA3}"/>
              </a:ext>
            </a:extLst>
          </p:cNvPr>
          <p:cNvSpPr txBox="1"/>
          <p:nvPr/>
        </p:nvSpPr>
        <p:spPr>
          <a:xfrm>
            <a:off x="461401" y="305063"/>
            <a:ext cx="17004321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000" b="1" dirty="0">
                <a:solidFill>
                  <a:srgbClr val="C00000"/>
                </a:solidFill>
                <a:latin typeface="Arial Nova"/>
                <a:ea typeface="Calibri"/>
                <a:cs typeface="Calibri"/>
              </a:rPr>
              <a:t>Mission planner –optimization of algorithms </a:t>
            </a:r>
            <a:endParaRPr lang="en-US" sz="6000" b="1" dirty="0">
              <a:ea typeface="Calibri"/>
              <a:cs typeface="Calibri"/>
            </a:endParaRPr>
          </a:p>
        </p:txBody>
      </p:sp>
      <p:pic>
        <p:nvPicPr>
          <p:cNvPr id="2" name="Picture 1" descr="A grey square with red and green dots&#10;&#10;Description automatically generated">
            <a:extLst>
              <a:ext uri="{FF2B5EF4-FFF2-40B4-BE49-F238E27FC236}">
                <a16:creationId xmlns:a16="http://schemas.microsoft.com/office/drawing/2014/main" id="{3AE569BE-8D74-7946-FC82-C30E869F15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3012" y="1999662"/>
            <a:ext cx="5172533" cy="5189761"/>
          </a:xfrm>
          <a:prstGeom prst="rect">
            <a:avLst/>
          </a:prstGeom>
        </p:spPr>
      </p:pic>
      <p:pic>
        <p:nvPicPr>
          <p:cNvPr id="6" name="Picture 5" descr="A grey square with red and green dots&#10;&#10;Description automatically generated">
            <a:extLst>
              <a:ext uri="{FF2B5EF4-FFF2-40B4-BE49-F238E27FC236}">
                <a16:creationId xmlns:a16="http://schemas.microsoft.com/office/drawing/2014/main" id="{EC975C01-D518-2BE8-613B-4D0426C6C0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89382" y="1727296"/>
            <a:ext cx="5002757" cy="49856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572BB02-D276-74DF-9247-5EAC81FF3918}"/>
              </a:ext>
            </a:extLst>
          </p:cNvPr>
          <p:cNvSpPr txBox="1"/>
          <p:nvPr/>
        </p:nvSpPr>
        <p:spPr>
          <a:xfrm>
            <a:off x="3672925" y="7868360"/>
            <a:ext cx="443552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ea typeface="Calibri"/>
                <a:cs typeface="Calibri"/>
              </a:rPr>
              <a:t>A* algo</a:t>
            </a:r>
            <a:endParaRPr lang="en-US" sz="3600" dirty="0">
              <a:ea typeface="Calibri"/>
              <a:cs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84DFF3-3C34-23E0-BDA2-EA975EF64505}"/>
              </a:ext>
            </a:extLst>
          </p:cNvPr>
          <p:cNvSpPr txBox="1"/>
          <p:nvPr/>
        </p:nvSpPr>
        <p:spPr>
          <a:xfrm>
            <a:off x="12573000" y="7591360"/>
            <a:ext cx="4435522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ea typeface="Calibri"/>
                <a:cs typeface="Calibri"/>
              </a:rPr>
              <a:t>A* optimization with epsilon</a:t>
            </a:r>
            <a:endParaRPr lang="en-US" sz="3600" dirty="0" err="1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134290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71353-C816-DFE4-4B74-ACC76D7C51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6029" y="279476"/>
            <a:ext cx="8836571" cy="1805041"/>
          </a:xfrm>
        </p:spPr>
        <p:txBody>
          <a:bodyPr>
            <a:normAutofit/>
          </a:bodyPr>
          <a:lstStyle/>
          <a:p>
            <a:pPr algn="l"/>
            <a:r>
              <a:rPr lang="en-US" sz="6000" b="1" dirty="0">
                <a:solidFill>
                  <a:srgbClr val="C00000"/>
                </a:solidFill>
                <a:ea typeface="Calibri"/>
                <a:cs typeface="Calibri"/>
              </a:rPr>
              <a:t>Behavior planner 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70B9C7-5838-D2AF-F56C-7A218054EF06}"/>
              </a:ext>
            </a:extLst>
          </p:cNvPr>
          <p:cNvSpPr txBox="1"/>
          <p:nvPr/>
        </p:nvSpPr>
        <p:spPr>
          <a:xfrm>
            <a:off x="412627" y="2361204"/>
            <a:ext cx="8959973" cy="427809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1600" dirty="0">
              <a:ea typeface="Calibri"/>
              <a:cs typeface="Calibri"/>
            </a:endParaRPr>
          </a:p>
          <a:p>
            <a:pPr marL="571500" indent="-571500">
              <a:buFont typeface="Courier New"/>
              <a:buChar char="o"/>
            </a:pPr>
            <a:r>
              <a:rPr lang="en-US" sz="4000" dirty="0">
                <a:ea typeface="Calibri"/>
                <a:cs typeface="Calibri"/>
              </a:rPr>
              <a:t>The behavior planner decides when it is safe to proceed </a:t>
            </a:r>
          </a:p>
          <a:p>
            <a:pPr marL="571500" indent="-571500">
              <a:buFont typeface="Courier New"/>
              <a:buChar char="o"/>
            </a:pPr>
            <a:r>
              <a:rPr lang="en-US" sz="4000" dirty="0">
                <a:ea typeface="Calibri"/>
                <a:cs typeface="Calibri"/>
              </a:rPr>
              <a:t> Takes pedestrians, vehicles, cyclists into consideration </a:t>
            </a:r>
          </a:p>
          <a:p>
            <a:pPr marL="571500" indent="-571500">
              <a:buFont typeface="Courier New"/>
              <a:buChar char="o"/>
            </a:pPr>
            <a:r>
              <a:rPr lang="en-US" sz="4000" dirty="0">
                <a:ea typeface="Calibri"/>
                <a:cs typeface="Calibri"/>
              </a:rPr>
              <a:t>Also looks at regulatory elements, such as traffic lights and stop signs </a:t>
            </a:r>
          </a:p>
          <a:p>
            <a:endParaRPr lang="en-US" sz="1600" dirty="0">
              <a:ea typeface="Calibri"/>
              <a:cs typeface="Calibri"/>
            </a:endParaRPr>
          </a:p>
        </p:txBody>
      </p:sp>
      <p:pic>
        <p:nvPicPr>
          <p:cNvPr id="5" name="Picture 4" descr="A blue and yellow car driving on a road&#10;&#10;Description automatically generated">
            <a:extLst>
              <a:ext uri="{FF2B5EF4-FFF2-40B4-BE49-F238E27FC236}">
                <a16:creationId xmlns:a16="http://schemas.microsoft.com/office/drawing/2014/main" id="{D02DA00D-2D7B-4087-8706-D38FFF2EED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5521" y="2757487"/>
            <a:ext cx="7093492" cy="451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3109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F70B9C7-5838-D2AF-F56C-7A218054EF06}"/>
              </a:ext>
            </a:extLst>
          </p:cNvPr>
          <p:cNvSpPr txBox="1"/>
          <p:nvPr/>
        </p:nvSpPr>
        <p:spPr>
          <a:xfrm>
            <a:off x="618565" y="2506601"/>
            <a:ext cx="11152652" cy="526297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1600" dirty="0">
              <a:ea typeface="Calibri"/>
              <a:cs typeface="Calibri"/>
            </a:endParaRPr>
          </a:p>
          <a:p>
            <a:pPr marL="571500" indent="-571500">
              <a:buFont typeface="Courier New"/>
              <a:buChar char="o"/>
            </a:pPr>
            <a:r>
              <a:rPr lang="en-US" sz="4000" dirty="0">
                <a:ea typeface="Calibri"/>
                <a:cs typeface="Calibri"/>
              </a:rPr>
              <a:t>Composed of states and transitions </a:t>
            </a:r>
          </a:p>
          <a:p>
            <a:pPr marL="1485900" lvl="2" indent="-571500">
              <a:buFont typeface="Courier New"/>
              <a:buChar char="o"/>
            </a:pPr>
            <a:r>
              <a:rPr lang="en-US" sz="4000" dirty="0">
                <a:ea typeface="Calibri"/>
                <a:cs typeface="Calibri"/>
              </a:rPr>
              <a:t>States are based on perception of surroundings </a:t>
            </a:r>
          </a:p>
          <a:p>
            <a:pPr marL="1485900" lvl="2" indent="-571500">
              <a:buFont typeface="Courier New"/>
              <a:buChar char="o"/>
            </a:pPr>
            <a:r>
              <a:rPr lang="en-US" sz="4000" dirty="0">
                <a:ea typeface="Calibri"/>
                <a:cs typeface="Calibri"/>
              </a:rPr>
              <a:t>Transitions are based on inputs from the driving scenario </a:t>
            </a:r>
            <a:r>
              <a:rPr lang="en-US" sz="4000" dirty="0" err="1">
                <a:ea typeface="Calibri"/>
                <a:cs typeface="Calibri"/>
              </a:rPr>
              <a:t>eg</a:t>
            </a:r>
            <a:r>
              <a:rPr lang="en-US" sz="4000" dirty="0">
                <a:ea typeface="Calibri"/>
                <a:cs typeface="Calibri"/>
              </a:rPr>
              <a:t>, stop lights changing color</a:t>
            </a:r>
          </a:p>
          <a:p>
            <a:pPr marL="285750" indent="-285750">
              <a:buFont typeface="Courier New"/>
              <a:buChar char="o"/>
            </a:pPr>
            <a:r>
              <a:rPr lang="en-US" sz="4000" dirty="0">
                <a:ea typeface="Calibri"/>
                <a:cs typeface="Calibri"/>
              </a:rPr>
              <a:t>FSM is memoryless </a:t>
            </a:r>
          </a:p>
          <a:p>
            <a:pPr marL="742950" lvl="1" indent="-285750">
              <a:buFont typeface="Courier New"/>
              <a:buChar char="o"/>
            </a:pPr>
            <a:r>
              <a:rPr lang="en-US" sz="4000" dirty="0">
                <a:ea typeface="Calibri"/>
                <a:cs typeface="Calibri"/>
              </a:rPr>
              <a:t>Transition only depend on input and current state, and not past state sequence</a:t>
            </a:r>
          </a:p>
        </p:txBody>
      </p:sp>
      <p:pic>
        <p:nvPicPr>
          <p:cNvPr id="5" name="Picture 4" descr="A diagram of a process&#10;&#10;Description automatically generated">
            <a:extLst>
              <a:ext uri="{FF2B5EF4-FFF2-40B4-BE49-F238E27FC236}">
                <a16:creationId xmlns:a16="http://schemas.microsoft.com/office/drawing/2014/main" id="{D02DA00D-2D7B-4087-8706-D38FFF2EEDB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168" t="6213" r="18805" b="24556"/>
          <a:stretch/>
        </p:blipFill>
        <p:spPr>
          <a:xfrm>
            <a:off x="11503278" y="2957513"/>
            <a:ext cx="6421204" cy="481206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8237FAA-63C7-D79D-BBAE-902553ED2EA3}"/>
              </a:ext>
            </a:extLst>
          </p:cNvPr>
          <p:cNvSpPr txBox="1"/>
          <p:nvPr/>
        </p:nvSpPr>
        <p:spPr>
          <a:xfrm>
            <a:off x="618565" y="578428"/>
            <a:ext cx="12098150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000" b="1" dirty="0">
                <a:solidFill>
                  <a:srgbClr val="C00000"/>
                </a:solidFill>
                <a:latin typeface="Arial Nova"/>
                <a:ea typeface="Calibri"/>
                <a:cs typeface="Calibri"/>
              </a:rPr>
              <a:t>Behavioral planner -Finite state machines </a:t>
            </a:r>
            <a:endParaRPr lang="en-US" sz="6000" dirty="0">
              <a:solidFill>
                <a:srgbClr val="C00000"/>
              </a:solidFill>
              <a:latin typeface="Arial Nova"/>
            </a:endParaRPr>
          </a:p>
        </p:txBody>
      </p:sp>
    </p:spTree>
    <p:extLst>
      <p:ext uri="{BB962C8B-B14F-4D97-AF65-F5344CB8AC3E}">
        <p14:creationId xmlns:p14="http://schemas.microsoft.com/office/powerpoint/2010/main" val="18746810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F70B9C7-5838-D2AF-F56C-7A218054EF06}"/>
              </a:ext>
            </a:extLst>
          </p:cNvPr>
          <p:cNvSpPr txBox="1"/>
          <p:nvPr/>
        </p:nvSpPr>
        <p:spPr>
          <a:xfrm>
            <a:off x="790014" y="1898787"/>
            <a:ext cx="16094445" cy="30777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dirty="0">
              <a:ea typeface="Calibri"/>
              <a:cs typeface="Calibri"/>
            </a:endParaRPr>
          </a:p>
          <a:p>
            <a:pPr marL="571500" indent="-571500">
              <a:buFont typeface="Courier New"/>
              <a:buChar char="o"/>
            </a:pPr>
            <a:r>
              <a:rPr lang="en-US" sz="4400" dirty="0">
                <a:ea typeface="Calibri"/>
                <a:cs typeface="Calibri"/>
              </a:rPr>
              <a:t>Rule based system use a hierarchy of rules to determine output behavior </a:t>
            </a:r>
          </a:p>
          <a:p>
            <a:pPr marL="571500" indent="-571500">
              <a:buFont typeface="Courier New"/>
              <a:buChar char="o"/>
            </a:pPr>
            <a:r>
              <a:rPr lang="en-US" sz="4400" dirty="0">
                <a:ea typeface="Calibri"/>
                <a:cs typeface="Calibri"/>
              </a:rPr>
              <a:t>Rules are evaluated based on logical predicates </a:t>
            </a:r>
          </a:p>
          <a:p>
            <a:pPr marL="571500" indent="-571500">
              <a:buFont typeface="Courier New"/>
              <a:buChar char="o"/>
            </a:pPr>
            <a:r>
              <a:rPr lang="en-US" sz="4400" dirty="0">
                <a:ea typeface="Calibri"/>
                <a:cs typeface="Calibri"/>
              </a:rPr>
              <a:t>Higher priority rules have precedence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237FAA-63C7-D79D-BBAE-902553ED2EA3}"/>
              </a:ext>
            </a:extLst>
          </p:cNvPr>
          <p:cNvSpPr txBox="1"/>
          <p:nvPr/>
        </p:nvSpPr>
        <p:spPr>
          <a:xfrm>
            <a:off x="790014" y="563094"/>
            <a:ext cx="12098150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000" b="1" dirty="0">
                <a:solidFill>
                  <a:srgbClr val="C00000"/>
                </a:solidFill>
                <a:latin typeface="Arial Nova"/>
                <a:ea typeface="Calibri"/>
                <a:cs typeface="Calibri"/>
              </a:rPr>
              <a:t>Behavioral planner –rule based </a:t>
            </a:r>
          </a:p>
        </p:txBody>
      </p:sp>
      <p:pic>
        <p:nvPicPr>
          <p:cNvPr id="2" name="Picture 1" descr="A diagram of a problem&#10;&#10;Description automatically generated">
            <a:extLst>
              <a:ext uri="{FF2B5EF4-FFF2-40B4-BE49-F238E27FC236}">
                <a16:creationId xmlns:a16="http://schemas.microsoft.com/office/drawing/2014/main" id="{D8CC0C58-B2F2-5DEB-FF22-7D4298EB12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7621" y="5684491"/>
            <a:ext cx="13332757" cy="2439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0168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8237FAA-63C7-D79D-BBAE-902553ED2EA3}"/>
              </a:ext>
            </a:extLst>
          </p:cNvPr>
          <p:cNvSpPr txBox="1"/>
          <p:nvPr/>
        </p:nvSpPr>
        <p:spPr>
          <a:xfrm>
            <a:off x="804302" y="534519"/>
            <a:ext cx="14797648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b="1" dirty="0">
                <a:solidFill>
                  <a:srgbClr val="C00000"/>
                </a:solidFill>
                <a:latin typeface="Arial Nova"/>
                <a:ea typeface="Calibri"/>
                <a:cs typeface="Calibri"/>
              </a:rPr>
              <a:t>Behavioral planner –Reindorsement learning  </a:t>
            </a:r>
          </a:p>
        </p:txBody>
      </p:sp>
      <p:pic>
        <p:nvPicPr>
          <p:cNvPr id="2" name="Picture 1" descr="A diagram of a car&#10;&#10;Description automatically generated">
            <a:extLst>
              <a:ext uri="{FF2B5EF4-FFF2-40B4-BE49-F238E27FC236}">
                <a16:creationId xmlns:a16="http://schemas.microsoft.com/office/drawing/2014/main" id="{D1E25A7F-A961-201C-DD88-90247F0434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617" y="1975714"/>
            <a:ext cx="7113493" cy="6335571"/>
          </a:xfrm>
          <a:prstGeom prst="rect">
            <a:avLst/>
          </a:prstGeom>
        </p:spPr>
      </p:pic>
      <p:pic>
        <p:nvPicPr>
          <p:cNvPr id="6" name="Picture 5" descr="A diagram of a number of mathematical equations&#10;&#10;Description automatically generated">
            <a:extLst>
              <a:ext uri="{FF2B5EF4-FFF2-40B4-BE49-F238E27FC236}">
                <a16:creationId xmlns:a16="http://schemas.microsoft.com/office/drawing/2014/main" id="{C076D044-3438-CCBD-6446-40ED833511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0906" y="1821092"/>
            <a:ext cx="7113494" cy="6173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7166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71353-C816-DFE4-4B74-ACC76D7C51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7344" y="228465"/>
            <a:ext cx="8836571" cy="1805041"/>
          </a:xfrm>
        </p:spPr>
        <p:txBody>
          <a:bodyPr>
            <a:noAutofit/>
          </a:bodyPr>
          <a:lstStyle/>
          <a:p>
            <a:pPr algn="l"/>
            <a:r>
              <a:rPr lang="en-US" sz="6000" b="1" dirty="0">
                <a:solidFill>
                  <a:srgbClr val="C00000"/>
                </a:solidFill>
                <a:ea typeface="Calibri"/>
                <a:cs typeface="Calibri"/>
              </a:rPr>
              <a:t>Local planner 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70B9C7-5838-D2AF-F56C-7A218054EF06}"/>
              </a:ext>
            </a:extLst>
          </p:cNvPr>
          <p:cNvSpPr txBox="1"/>
          <p:nvPr/>
        </p:nvSpPr>
        <p:spPr>
          <a:xfrm>
            <a:off x="6603" y="2033506"/>
            <a:ext cx="8970267" cy="617083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>
              <a:ea typeface="Calibri"/>
              <a:cs typeface="Calibri"/>
            </a:endParaRPr>
          </a:p>
          <a:p>
            <a:pPr marL="571500" indent="-571500">
              <a:buFont typeface="Courier New"/>
              <a:buChar char="o"/>
            </a:pPr>
            <a:r>
              <a:rPr lang="en-US" sz="4400" dirty="0">
                <a:ea typeface="Calibri"/>
                <a:cs typeface="Calibri"/>
              </a:rPr>
              <a:t>Local planning focuses on generating feasible, collision-free paths and comfortable velocity profiles</a:t>
            </a:r>
            <a:br>
              <a:rPr lang="en-US" sz="4400" dirty="0">
                <a:ea typeface="Calibri"/>
                <a:cs typeface="Calibri"/>
              </a:rPr>
            </a:br>
            <a:endParaRPr lang="en-US" sz="4400" dirty="0">
              <a:ea typeface="Calibri"/>
              <a:cs typeface="Calibri"/>
            </a:endParaRPr>
          </a:p>
          <a:p>
            <a:pPr marL="571500" indent="-571500">
              <a:buFont typeface="Courier New"/>
              <a:buChar char="o"/>
            </a:pPr>
            <a:r>
              <a:rPr lang="en-US" sz="4400" dirty="0">
                <a:ea typeface="Calibri"/>
                <a:cs typeface="Calibri"/>
              </a:rPr>
              <a:t> Decomposed into path planning and velocity profile generation </a:t>
            </a:r>
          </a:p>
          <a:p>
            <a:endParaRPr lang="en-US" sz="4400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2DA00D-2D7B-4087-8706-D38FFF2EED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6468" y="2507309"/>
            <a:ext cx="9389207" cy="5365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2088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F70B9C7-5838-D2AF-F56C-7A218054EF06}"/>
              </a:ext>
            </a:extLst>
          </p:cNvPr>
          <p:cNvSpPr txBox="1"/>
          <p:nvPr/>
        </p:nvSpPr>
        <p:spPr>
          <a:xfrm>
            <a:off x="465004" y="1846115"/>
            <a:ext cx="8678996" cy="73558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1600" dirty="0">
              <a:ea typeface="Calibri"/>
              <a:cs typeface="Calibri"/>
            </a:endParaRPr>
          </a:p>
          <a:p>
            <a:pPr marL="571500" indent="-571500">
              <a:buFont typeface="Courier New"/>
              <a:buChar char="o"/>
            </a:pPr>
            <a:r>
              <a:rPr lang="en-US" sz="4000" dirty="0">
                <a:ea typeface="Calibri"/>
                <a:cs typeface="Calibri"/>
              </a:rPr>
              <a:t>Rapidly exploring the state space to find feasible trajectories. </a:t>
            </a:r>
            <a:endParaRPr lang="en-US" sz="1600" dirty="0"/>
          </a:p>
          <a:p>
            <a:pPr marL="571500" indent="-571500">
              <a:buFont typeface="Courier New"/>
              <a:buChar char="o"/>
            </a:pPr>
            <a:r>
              <a:rPr lang="en-US" sz="4000" dirty="0">
                <a:ea typeface="Calibri"/>
                <a:cs typeface="Calibri"/>
              </a:rPr>
              <a:t>Handling dynamic environments and real-time decision-making</a:t>
            </a:r>
            <a:endParaRPr lang="en-US" sz="1600" dirty="0">
              <a:ea typeface="Calibri"/>
              <a:cs typeface="Calibri"/>
            </a:endParaRPr>
          </a:p>
          <a:p>
            <a:pPr marL="571500" indent="-571500">
              <a:buFont typeface="Courier New"/>
              <a:buChar char="o"/>
            </a:pPr>
            <a:r>
              <a:rPr lang="en-US" sz="4000" dirty="0">
                <a:solidFill>
                  <a:srgbClr val="FF0000"/>
                </a:solidFill>
                <a:ea typeface="Calibri"/>
                <a:cs typeface="Calibri"/>
              </a:rPr>
              <a:t>There are two approaches (single-query and multiple-Query</a:t>
            </a:r>
            <a:r>
              <a:rPr lang="en-US" sz="4000" dirty="0">
                <a:ea typeface="Calibri"/>
                <a:cs typeface="Calibri"/>
              </a:rPr>
              <a:t>)</a:t>
            </a:r>
            <a:br>
              <a:rPr lang="en-US" sz="4000" dirty="0">
                <a:ea typeface="Calibri"/>
                <a:cs typeface="Calibri"/>
              </a:rPr>
            </a:br>
            <a:endParaRPr lang="en-US" sz="1600" dirty="0"/>
          </a:p>
          <a:p>
            <a:pPr marL="571500" indent="-571500">
              <a:buFont typeface="Courier New"/>
              <a:buChar char="o"/>
            </a:pPr>
            <a:r>
              <a:rPr lang="en-US" sz="4000" dirty="0">
                <a:ea typeface="Calibri"/>
                <a:cs typeface="Calibri"/>
              </a:rPr>
              <a:t>Balancing exploration (finding new paths) and exploitation (refining known paths).</a:t>
            </a:r>
            <a:endParaRPr lang="en-US" sz="1600" dirty="0">
              <a:ea typeface="Calibri"/>
              <a:cs typeface="Calibri"/>
            </a:endParaRPr>
          </a:p>
          <a:p>
            <a:br>
              <a:rPr lang="en-US" sz="4000" dirty="0">
                <a:ea typeface="Calibri"/>
                <a:cs typeface="Calibri"/>
              </a:rPr>
            </a:br>
            <a:endParaRPr lang="en-US" sz="4000" dirty="0"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237FAA-63C7-D79D-BBAE-902553ED2EA3}"/>
              </a:ext>
            </a:extLst>
          </p:cNvPr>
          <p:cNvSpPr txBox="1"/>
          <p:nvPr/>
        </p:nvSpPr>
        <p:spPr>
          <a:xfrm>
            <a:off x="547128" y="506062"/>
            <a:ext cx="12098150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000" b="1" dirty="0">
                <a:solidFill>
                  <a:srgbClr val="C00000"/>
                </a:solidFill>
                <a:latin typeface="Arial Nova"/>
                <a:ea typeface="Calibri"/>
                <a:cs typeface="Calibri"/>
              </a:rPr>
              <a:t>Sampling based </a:t>
            </a:r>
            <a:endParaRPr lang="en-US" sz="6000" dirty="0">
              <a:solidFill>
                <a:srgbClr val="C00000"/>
              </a:solidFill>
            </a:endParaRPr>
          </a:p>
        </p:txBody>
      </p:sp>
      <p:pic>
        <p:nvPicPr>
          <p:cNvPr id="5" name="Picture 4" descr="A diagram of a person&amp;#39;s body&#10;&#10;Description automatically generated">
            <a:extLst>
              <a:ext uri="{FF2B5EF4-FFF2-40B4-BE49-F238E27FC236}">
                <a16:creationId xmlns:a16="http://schemas.microsoft.com/office/drawing/2014/main" id="{4892DF32-55E9-08AC-769F-5E473E82F0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3017" y="1326045"/>
            <a:ext cx="4638320" cy="3488628"/>
          </a:xfrm>
          <a:prstGeom prst="rect">
            <a:avLst/>
          </a:prstGeom>
        </p:spPr>
      </p:pic>
      <p:pic>
        <p:nvPicPr>
          <p:cNvPr id="6" name="Picture 5" descr="A map of a multi-query sampling strategies&#10;&#10;Description automatically generated">
            <a:extLst>
              <a:ext uri="{FF2B5EF4-FFF2-40B4-BE49-F238E27FC236}">
                <a16:creationId xmlns:a16="http://schemas.microsoft.com/office/drawing/2014/main" id="{2B154175-2158-87B4-A3CC-D8645E246F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1525" y="5020058"/>
            <a:ext cx="4421304" cy="333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1659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71353-C816-DFE4-4B74-ACC76D7C51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4183" y="-159158"/>
            <a:ext cx="8836571" cy="1805041"/>
          </a:xfrm>
        </p:spPr>
        <p:txBody>
          <a:bodyPr>
            <a:normAutofit/>
          </a:bodyPr>
          <a:lstStyle/>
          <a:p>
            <a:pPr algn="l"/>
            <a:r>
              <a:rPr lang="en-US" sz="6000" b="1" dirty="0">
                <a:solidFill>
                  <a:srgbClr val="C00000"/>
                </a:solidFill>
                <a:ea typeface="Calibri"/>
                <a:cs typeface="Calibri"/>
              </a:rPr>
              <a:t>RRT</a:t>
            </a:r>
            <a:endParaRPr lang="en-US" sz="6000" dirty="0">
              <a:solidFill>
                <a:srgbClr val="C00000"/>
              </a:solidFill>
              <a:ea typeface="Calibri"/>
              <a:cs typeface="Calibri"/>
            </a:endParaRPr>
          </a:p>
        </p:txBody>
      </p:sp>
      <p:pic>
        <p:nvPicPr>
          <p:cNvPr id="3" name="Picture 2" descr="A black lines on a white background&#10;&#10;Description automatically generated">
            <a:extLst>
              <a:ext uri="{FF2B5EF4-FFF2-40B4-BE49-F238E27FC236}">
                <a16:creationId xmlns:a16="http://schemas.microsoft.com/office/drawing/2014/main" id="{DFA4E992-ACC7-46A2-D0E6-E95FAF0B4B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2694" y="1917345"/>
            <a:ext cx="10322612" cy="6021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1283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16B76D-5CE8-EF54-AE5E-97C54C42D8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4768" y="604391"/>
            <a:ext cx="13927295" cy="7967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2914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1" b="-23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2794726" y="1297106"/>
            <a:ext cx="11875576" cy="38463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3976"/>
              </a:lnSpc>
            </a:pPr>
            <a:r>
              <a:rPr lang="en-US" sz="16655" spc="49" dirty="0">
                <a:solidFill>
                  <a:srgbClr val="000000"/>
                </a:solidFill>
                <a:latin typeface="Canva Sans Bold"/>
              </a:rPr>
              <a:t> Thank You</a:t>
            </a:r>
          </a:p>
        </p:txBody>
      </p:sp>
      <p:sp>
        <p:nvSpPr>
          <p:cNvPr id="4" name="Freeform 4"/>
          <p:cNvSpPr/>
          <p:nvPr/>
        </p:nvSpPr>
        <p:spPr>
          <a:xfrm>
            <a:off x="7470055" y="5632140"/>
            <a:ext cx="3013856" cy="3013856"/>
          </a:xfrm>
          <a:custGeom>
            <a:avLst/>
            <a:gdLst/>
            <a:ahLst/>
            <a:cxnLst/>
            <a:rect l="l" t="t" r="r" b="b"/>
            <a:pathLst>
              <a:path w="3013856" h="3013856">
                <a:moveTo>
                  <a:pt x="0" y="0"/>
                </a:moveTo>
                <a:lnTo>
                  <a:pt x="3013856" y="0"/>
                </a:lnTo>
                <a:lnTo>
                  <a:pt x="3013856" y="3013856"/>
                </a:lnTo>
                <a:lnTo>
                  <a:pt x="0" y="30138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1145</Words>
  <Application>Microsoft Office PowerPoint</Application>
  <PresentationFormat>Custom</PresentationFormat>
  <Paragraphs>195</Paragraphs>
  <Slides>36</Slides>
  <Notes>0</Notes>
  <HiddenSlides>0</HiddenSlides>
  <MMClips>1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Motion planning </vt:lpstr>
      <vt:lpstr>Motion planning </vt:lpstr>
      <vt:lpstr>Motion planning challenges  </vt:lpstr>
      <vt:lpstr>Motion planning challenges  </vt:lpstr>
      <vt:lpstr>Basic concepts </vt:lpstr>
      <vt:lpstr>Basic concepts:  </vt:lpstr>
      <vt:lpstr>Basic concepts: </vt:lpstr>
      <vt:lpstr>Basic concepts: 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Types of motion planning </vt:lpstr>
      <vt:lpstr>Mission planner(route selection)</vt:lpstr>
      <vt:lpstr>PowerPoint Presentation</vt:lpstr>
      <vt:lpstr>PowerPoint Presentation</vt:lpstr>
      <vt:lpstr>PowerPoint Presentation</vt:lpstr>
      <vt:lpstr>Behavior planner  </vt:lpstr>
      <vt:lpstr>PowerPoint Presentation</vt:lpstr>
      <vt:lpstr>PowerPoint Presentation</vt:lpstr>
      <vt:lpstr>PowerPoint Presentation</vt:lpstr>
      <vt:lpstr>Local planner  </vt:lpstr>
      <vt:lpstr>PowerPoint Presentation</vt:lpstr>
      <vt:lpstr>RRT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</dc:title>
  <dc:creator>lenovo</dc:creator>
  <cp:lastModifiedBy>Kato Farah</cp:lastModifiedBy>
  <cp:revision>418</cp:revision>
  <dcterms:created xsi:type="dcterms:W3CDTF">2006-08-16T00:00:00Z</dcterms:created>
  <dcterms:modified xsi:type="dcterms:W3CDTF">2023-10-05T09:59:47Z</dcterms:modified>
  <dc:identifier>DAFvwaC-MgE</dc:identifier>
</cp:coreProperties>
</file>