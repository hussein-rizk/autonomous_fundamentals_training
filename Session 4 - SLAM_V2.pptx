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9"/>
  </p:notesMasterIdLst>
  <p:handoutMasterIdLst>
    <p:handoutMasterId r:id="rId40"/>
  </p:handoutMasterIdLst>
  <p:sldIdLst>
    <p:sldId id="311" r:id="rId5"/>
    <p:sldId id="257" r:id="rId6"/>
    <p:sldId id="312" r:id="rId7"/>
    <p:sldId id="259" r:id="rId8"/>
    <p:sldId id="260" r:id="rId9"/>
    <p:sldId id="313" r:id="rId10"/>
    <p:sldId id="256" r:id="rId11"/>
    <p:sldId id="258" r:id="rId12"/>
    <p:sldId id="261" r:id="rId13"/>
    <p:sldId id="287" r:id="rId14"/>
    <p:sldId id="262" r:id="rId15"/>
    <p:sldId id="288" r:id="rId16"/>
    <p:sldId id="290" r:id="rId17"/>
    <p:sldId id="291" r:id="rId18"/>
    <p:sldId id="295" r:id="rId19"/>
    <p:sldId id="292" r:id="rId20"/>
    <p:sldId id="293" r:id="rId21"/>
    <p:sldId id="296" r:id="rId22"/>
    <p:sldId id="294" r:id="rId23"/>
    <p:sldId id="297" r:id="rId24"/>
    <p:sldId id="298" r:id="rId25"/>
    <p:sldId id="299" r:id="rId26"/>
    <p:sldId id="300" r:id="rId27"/>
    <p:sldId id="285" r:id="rId28"/>
    <p:sldId id="301" r:id="rId29"/>
    <p:sldId id="302" r:id="rId30"/>
    <p:sldId id="304" r:id="rId31"/>
    <p:sldId id="305" r:id="rId32"/>
    <p:sldId id="307" r:id="rId33"/>
    <p:sldId id="308" r:id="rId34"/>
    <p:sldId id="310" r:id="rId35"/>
    <p:sldId id="309" r:id="rId36"/>
    <p:sldId id="269" r:id="rId37"/>
    <p:sldId id="26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3" autoAdjust="0"/>
    <p:restoredTop sz="94660"/>
  </p:normalViewPr>
  <p:slideViewPr>
    <p:cSldViewPr snapToGrid="0">
      <p:cViewPr varScale="1">
        <p:scale>
          <a:sx n="89" d="100"/>
          <a:sy n="89" d="100"/>
        </p:scale>
        <p:origin x="782" y="72"/>
      </p:cViewPr>
      <p:guideLst>
        <p:guide orient="horz" pos="2160"/>
        <p:guide pos="3840"/>
      </p:guideLst>
    </p:cSldViewPr>
  </p:slideViewPr>
  <p:outlineViewPr>
    <p:cViewPr>
      <p:scale>
        <a:sx n="33" d="100"/>
        <a:sy n="33" d="100"/>
      </p:scale>
      <p:origin x="0" y="-3024"/>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9" d="100"/>
          <a:sy n="69" d="100"/>
        </p:scale>
        <p:origin x="3082"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9/28/2023</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9/28/2023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8</a:t>
            </a:fld>
            <a:endParaRPr lang="en-US" noProof="0" dirty="0"/>
          </a:p>
        </p:txBody>
      </p:sp>
    </p:spTree>
    <p:extLst>
      <p:ext uri="{BB962C8B-B14F-4D97-AF65-F5344CB8AC3E}">
        <p14:creationId xmlns:p14="http://schemas.microsoft.com/office/powerpoint/2010/main" val="2177739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9</a:t>
            </a:fld>
            <a:endParaRPr lang="en-US" noProof="0" dirty="0"/>
          </a:p>
        </p:txBody>
      </p:sp>
    </p:spTree>
    <p:extLst>
      <p:ext uri="{BB962C8B-B14F-4D97-AF65-F5344CB8AC3E}">
        <p14:creationId xmlns:p14="http://schemas.microsoft.com/office/powerpoint/2010/main" val="1414434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11</a:t>
            </a:fld>
            <a:endParaRPr lang="en-US" noProof="0" dirty="0"/>
          </a:p>
        </p:txBody>
      </p:sp>
    </p:spTree>
    <p:extLst>
      <p:ext uri="{BB962C8B-B14F-4D97-AF65-F5344CB8AC3E}">
        <p14:creationId xmlns:p14="http://schemas.microsoft.com/office/powerpoint/2010/main" val="2793617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13</a:t>
            </a:fld>
            <a:endParaRPr lang="en-US" noProof="0" dirty="0"/>
          </a:p>
        </p:txBody>
      </p:sp>
    </p:spTree>
    <p:extLst>
      <p:ext uri="{BB962C8B-B14F-4D97-AF65-F5344CB8AC3E}">
        <p14:creationId xmlns:p14="http://schemas.microsoft.com/office/powerpoint/2010/main" val="1049003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14</a:t>
            </a:fld>
            <a:endParaRPr lang="en-US" noProof="0" dirty="0"/>
          </a:p>
        </p:txBody>
      </p:sp>
    </p:spTree>
    <p:extLst>
      <p:ext uri="{BB962C8B-B14F-4D97-AF65-F5344CB8AC3E}">
        <p14:creationId xmlns:p14="http://schemas.microsoft.com/office/powerpoint/2010/main" val="1472706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16</a:t>
            </a:fld>
            <a:endParaRPr lang="en-US" noProof="0" dirty="0"/>
          </a:p>
        </p:txBody>
      </p:sp>
    </p:spTree>
    <p:extLst>
      <p:ext uri="{BB962C8B-B14F-4D97-AF65-F5344CB8AC3E}">
        <p14:creationId xmlns:p14="http://schemas.microsoft.com/office/powerpoint/2010/main" val="3245202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17</a:t>
            </a:fld>
            <a:endParaRPr lang="en-US" noProof="0" dirty="0"/>
          </a:p>
        </p:txBody>
      </p:sp>
    </p:spTree>
    <p:extLst>
      <p:ext uri="{BB962C8B-B14F-4D97-AF65-F5344CB8AC3E}">
        <p14:creationId xmlns:p14="http://schemas.microsoft.com/office/powerpoint/2010/main" val="2155164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19</a:t>
            </a:fld>
            <a:endParaRPr lang="en-US" noProof="0" dirty="0"/>
          </a:p>
        </p:txBody>
      </p:sp>
    </p:spTree>
    <p:extLst>
      <p:ext uri="{BB962C8B-B14F-4D97-AF65-F5344CB8AC3E}">
        <p14:creationId xmlns:p14="http://schemas.microsoft.com/office/powerpoint/2010/main" val="675668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20</a:t>
            </a:fld>
            <a:endParaRPr lang="en-US" noProof="0" dirty="0"/>
          </a:p>
        </p:txBody>
      </p:sp>
    </p:spTree>
    <p:extLst>
      <p:ext uri="{BB962C8B-B14F-4D97-AF65-F5344CB8AC3E}">
        <p14:creationId xmlns:p14="http://schemas.microsoft.com/office/powerpoint/2010/main" val="2120192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21</a:t>
            </a:fld>
            <a:endParaRPr lang="en-US" noProof="0" dirty="0"/>
          </a:p>
        </p:txBody>
      </p:sp>
    </p:spTree>
    <p:extLst>
      <p:ext uri="{BB962C8B-B14F-4D97-AF65-F5344CB8AC3E}">
        <p14:creationId xmlns:p14="http://schemas.microsoft.com/office/powerpoint/2010/main" val="2223797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22</a:t>
            </a:fld>
            <a:endParaRPr lang="en-US" noProof="0" dirty="0"/>
          </a:p>
        </p:txBody>
      </p:sp>
    </p:spTree>
    <p:extLst>
      <p:ext uri="{BB962C8B-B14F-4D97-AF65-F5344CB8AC3E}">
        <p14:creationId xmlns:p14="http://schemas.microsoft.com/office/powerpoint/2010/main" val="27452851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23</a:t>
            </a:fld>
            <a:endParaRPr lang="en-US" noProof="0" dirty="0"/>
          </a:p>
        </p:txBody>
      </p:sp>
    </p:spTree>
    <p:extLst>
      <p:ext uri="{BB962C8B-B14F-4D97-AF65-F5344CB8AC3E}">
        <p14:creationId xmlns:p14="http://schemas.microsoft.com/office/powerpoint/2010/main" val="11208212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25</a:t>
            </a:fld>
            <a:endParaRPr lang="en-US" noProof="0" dirty="0"/>
          </a:p>
        </p:txBody>
      </p:sp>
    </p:spTree>
    <p:extLst>
      <p:ext uri="{BB962C8B-B14F-4D97-AF65-F5344CB8AC3E}">
        <p14:creationId xmlns:p14="http://schemas.microsoft.com/office/powerpoint/2010/main" val="1390644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27</a:t>
            </a:fld>
            <a:endParaRPr lang="en-US" noProof="0" dirty="0"/>
          </a:p>
        </p:txBody>
      </p:sp>
    </p:spTree>
    <p:extLst>
      <p:ext uri="{BB962C8B-B14F-4D97-AF65-F5344CB8AC3E}">
        <p14:creationId xmlns:p14="http://schemas.microsoft.com/office/powerpoint/2010/main" val="625730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28</a:t>
            </a:fld>
            <a:endParaRPr lang="en-US" noProof="0" dirty="0"/>
          </a:p>
        </p:txBody>
      </p:sp>
    </p:spTree>
    <p:extLst>
      <p:ext uri="{BB962C8B-B14F-4D97-AF65-F5344CB8AC3E}">
        <p14:creationId xmlns:p14="http://schemas.microsoft.com/office/powerpoint/2010/main" val="40539577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29</a:t>
            </a:fld>
            <a:endParaRPr lang="en-US" noProof="0" dirty="0"/>
          </a:p>
        </p:txBody>
      </p:sp>
    </p:spTree>
    <p:extLst>
      <p:ext uri="{BB962C8B-B14F-4D97-AF65-F5344CB8AC3E}">
        <p14:creationId xmlns:p14="http://schemas.microsoft.com/office/powerpoint/2010/main" val="2504485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30</a:t>
            </a:fld>
            <a:endParaRPr lang="en-US" noProof="0" dirty="0"/>
          </a:p>
        </p:txBody>
      </p:sp>
    </p:spTree>
    <p:extLst>
      <p:ext uri="{BB962C8B-B14F-4D97-AF65-F5344CB8AC3E}">
        <p14:creationId xmlns:p14="http://schemas.microsoft.com/office/powerpoint/2010/main" val="12769912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34D747-9380-41EE-9946-EC9EC0CA5D1E}" type="slidenum">
              <a:rPr lang="en-US" noProof="0" smtClean="0"/>
              <a:t>32</a:t>
            </a:fld>
            <a:endParaRPr lang="en-US" noProof="0" dirty="0"/>
          </a:p>
        </p:txBody>
      </p:sp>
    </p:spTree>
    <p:extLst>
      <p:ext uri="{BB962C8B-B14F-4D97-AF65-F5344CB8AC3E}">
        <p14:creationId xmlns:p14="http://schemas.microsoft.com/office/powerpoint/2010/main" val="2355026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849495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5" name="Title 4">
            <a:extLst>
              <a:ext uri="{FF2B5EF4-FFF2-40B4-BE49-F238E27FC236}">
                <a16:creationId xmlns:a16="http://schemas.microsoft.com/office/drawing/2014/main" id="{82E5442D-7BA0-D726-8055-872D0A9FB5A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751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3365" y="277161"/>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dirty="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3364" y="1254449"/>
            <a:ext cx="10037730" cy="4464864"/>
          </a:xfrm>
        </p:spPr>
        <p:txBody>
          <a:bodyPr>
            <a:noAutofit/>
          </a:bodyPr>
          <a:lstStyle>
            <a:lvl1pPr>
              <a:lnSpc>
                <a:spcPct val="100000"/>
              </a:lnSpc>
              <a:spcBef>
                <a:spcPts val="600"/>
              </a:spcBef>
              <a:spcAft>
                <a:spcPts val="400"/>
              </a:spcAft>
              <a:buClr>
                <a:srgbClr val="FF0000"/>
              </a:buClr>
              <a:defRPr sz="1600">
                <a:solidFill>
                  <a:schemeClr val="bg1"/>
                </a:solidFill>
                <a:latin typeface="+mn-lt"/>
                <a:cs typeface="Arial" panose="020B0604020202020204" pitchFamily="34" charset="0"/>
              </a:defRPr>
            </a:lvl1pPr>
            <a:lvl2pPr>
              <a:lnSpc>
                <a:spcPct val="100000"/>
              </a:lnSpc>
              <a:spcBef>
                <a:spcPts val="600"/>
              </a:spcBef>
              <a:spcAft>
                <a:spcPts val="400"/>
              </a:spcAft>
              <a:buClr>
                <a:srgbClr val="FF0000"/>
              </a:buClr>
              <a:defRPr sz="1400">
                <a:solidFill>
                  <a:schemeClr val="bg1"/>
                </a:solidFill>
                <a:latin typeface="+mn-lt"/>
                <a:cs typeface="Arial" panose="020B0604020202020204" pitchFamily="34" charset="0"/>
              </a:defRPr>
            </a:lvl2pPr>
            <a:lvl3pPr>
              <a:lnSpc>
                <a:spcPct val="100000"/>
              </a:lnSpc>
              <a:spcBef>
                <a:spcPts val="600"/>
              </a:spcBef>
              <a:spcAft>
                <a:spcPts val="400"/>
              </a:spcAft>
              <a:buClr>
                <a:srgbClr val="FF0000"/>
              </a:buClr>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 Categor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3 Sec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 +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dk1" tx1="lt1" bg2="dk2" tx2="lt2" accent1="accent1" accent2="accent2" accent3="accent3" accent4="accent4" accent5="accent5" accent6="accent6" hlink="hlink" folHlink="folHlink"/>
  <p:sldLayoutIdLst>
    <p:sldLayoutId id="2147483649" r:id="rId1"/>
    <p:sldLayoutId id="2147483678" r:id="rId2"/>
    <p:sldLayoutId id="2147483651" r:id="rId3"/>
    <p:sldLayoutId id="2147483660" r:id="rId4"/>
    <p:sldLayoutId id="2147483666" r:id="rId5"/>
    <p:sldLayoutId id="2147483654" r:id="rId6"/>
    <p:sldLayoutId id="2147483661" r:id="rId7"/>
    <p:sldLayoutId id="2147483677" r:id="rId8"/>
    <p:sldLayoutId id="2147483674" r:id="rId9"/>
    <p:sldLayoutId id="2147483665" r:id="rId10"/>
    <p:sldLayoutId id="2147483673" r:id="rId11"/>
    <p:sldLayoutId id="2147483662" r:id="rId12"/>
    <p:sldLayoutId id="2147483663" r:id="rId13"/>
    <p:sldLayoutId id="2147483664" r:id="rId14"/>
    <p:sldLayoutId id="2147483675" r:id="rId15"/>
    <p:sldLayoutId id="2147483676" r:id="rId16"/>
    <p:sldLayoutId id="2147483672" r:id="rId17"/>
    <p:sldLayoutId id="2147483667" r:id="rId18"/>
    <p:sldLayoutId id="2147483668"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36">
          <p15:clr>
            <a:srgbClr val="F26B43"/>
          </p15:clr>
        </p15:guide>
        <p15:guide id="4" orient="horz" pos="336">
          <p15:clr>
            <a:srgbClr val="F26B43"/>
          </p15:clr>
        </p15:guide>
        <p15:guide id="5" pos="7344">
          <p15:clr>
            <a:srgbClr val="F26B43"/>
          </p15:clr>
        </p15:guide>
        <p15:guide id="6" orient="horz" pos="39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11.png"/><Relationship Id="rId5" Type="http://schemas.openxmlformats.org/officeDocument/2006/relationships/image" Target="../media/image10.jp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5.png"/><Relationship Id="rId4" Type="http://schemas.openxmlformats.org/officeDocument/2006/relationships/image" Target="../media/image1.jpe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sz="1200"/>
          </a:p>
        </p:txBody>
      </p:sp>
      <p:sp>
        <p:nvSpPr>
          <p:cNvPr id="3" name="Freeform 3"/>
          <p:cNvSpPr/>
          <p:nvPr/>
        </p:nvSpPr>
        <p:spPr>
          <a:xfrm>
            <a:off x="3577366" y="730340"/>
            <a:ext cx="5037269" cy="5037269"/>
          </a:xfrm>
          <a:custGeom>
            <a:avLst/>
            <a:gdLst/>
            <a:ahLst/>
            <a:cxnLst/>
            <a:rect l="l" t="t" r="r" b="b"/>
            <a:pathLst>
              <a:path w="7555903" h="7555903">
                <a:moveTo>
                  <a:pt x="0" y="0"/>
                </a:moveTo>
                <a:lnTo>
                  <a:pt x="7555904" y="0"/>
                </a:lnTo>
                <a:lnTo>
                  <a:pt x="7555904" y="7555904"/>
                </a:lnTo>
                <a:lnTo>
                  <a:pt x="0" y="7555904"/>
                </a:lnTo>
                <a:lnTo>
                  <a:pt x="0" y="0"/>
                </a:lnTo>
                <a:close/>
              </a:path>
            </a:pathLst>
          </a:custGeom>
          <a:blipFill>
            <a:blip r:embed="rId3"/>
            <a:stretch>
              <a:fillRect/>
            </a:stretch>
          </a:blipFill>
        </p:spPr>
        <p:txBody>
          <a:bodyPr/>
          <a:lstStyle/>
          <a:p>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sz="1200"/>
          </a:p>
        </p:txBody>
      </p:sp>
      <p:sp>
        <p:nvSpPr>
          <p:cNvPr id="3" name="TextBox 3"/>
          <p:cNvSpPr txBox="1"/>
          <p:nvPr/>
        </p:nvSpPr>
        <p:spPr>
          <a:xfrm>
            <a:off x="936348" y="2346538"/>
            <a:ext cx="10319306" cy="1310743"/>
          </a:xfrm>
          <a:prstGeom prst="rect">
            <a:avLst/>
          </a:prstGeom>
        </p:spPr>
        <p:txBody>
          <a:bodyPr lIns="0" tIns="0" rIns="0" bIns="0" rtlCol="0" anchor="t">
            <a:spAutoFit/>
          </a:bodyPr>
          <a:lstStyle/>
          <a:p>
            <a:pPr algn="ctr">
              <a:lnSpc>
                <a:spcPts val="11201"/>
              </a:lnSpc>
              <a:spcBef>
                <a:spcPct val="0"/>
              </a:spcBef>
            </a:pPr>
            <a:r>
              <a:rPr lang="en-US" sz="8000" dirty="0">
                <a:solidFill>
                  <a:srgbClr val="FF0000"/>
                </a:solidFill>
                <a:latin typeface="Canva Sans Bold"/>
              </a:rPr>
              <a:t>Autonomous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sz="1200"/>
          </a:p>
        </p:txBody>
      </p:sp>
      <p:grpSp>
        <p:nvGrpSpPr>
          <p:cNvPr id="3" name="Group 3"/>
          <p:cNvGrpSpPr/>
          <p:nvPr/>
        </p:nvGrpSpPr>
        <p:grpSpPr>
          <a:xfrm>
            <a:off x="685801" y="367661"/>
            <a:ext cx="11330491" cy="4935155"/>
            <a:chOff x="0" y="-19049"/>
            <a:chExt cx="22660983" cy="9870309"/>
          </a:xfrm>
        </p:grpSpPr>
        <p:sp>
          <p:nvSpPr>
            <p:cNvPr id="4" name="TextBox 4"/>
            <p:cNvSpPr txBox="1"/>
            <p:nvPr/>
          </p:nvSpPr>
          <p:spPr>
            <a:xfrm>
              <a:off x="0" y="-19049"/>
              <a:ext cx="22660983" cy="1641476"/>
            </a:xfrm>
            <a:prstGeom prst="rect">
              <a:avLst/>
            </a:prstGeom>
          </p:spPr>
          <p:txBody>
            <a:bodyPr lIns="0" tIns="0" rIns="0" bIns="0" rtlCol="0" anchor="t">
              <a:spAutoFit/>
            </a:bodyPr>
            <a:lstStyle/>
            <a:p>
              <a:pPr>
                <a:lnSpc>
                  <a:spcPts val="6400"/>
                </a:lnSpc>
              </a:pPr>
              <a:r>
                <a:rPr lang="en-US" sz="6000" b="1" spc="277" dirty="0">
                  <a:solidFill>
                    <a:srgbClr val="FF0000"/>
                  </a:solidFill>
                  <a:latin typeface="Glacial Indifference Bold"/>
                </a:rPr>
                <a:t>RULES</a:t>
              </a:r>
            </a:p>
          </p:txBody>
        </p:sp>
        <p:sp>
          <p:nvSpPr>
            <p:cNvPr id="5" name="TextBox 5"/>
            <p:cNvSpPr txBox="1"/>
            <p:nvPr/>
          </p:nvSpPr>
          <p:spPr>
            <a:xfrm>
              <a:off x="0" y="1572711"/>
              <a:ext cx="22660983" cy="8278549"/>
            </a:xfrm>
            <a:prstGeom prst="rect">
              <a:avLst/>
            </a:prstGeom>
          </p:spPr>
          <p:txBody>
            <a:bodyPr lIns="0" tIns="0" rIns="0" bIns="0" rtlCol="0" anchor="t">
              <a:spAutoFit/>
            </a:bodyPr>
            <a:lstStyle/>
            <a:p>
              <a:pPr marL="618943" lvl="1" indent="-309471">
                <a:lnSpc>
                  <a:spcPts val="5532"/>
                </a:lnSpc>
                <a:buFont typeface="Arial"/>
                <a:buChar char="•"/>
              </a:pPr>
              <a:r>
                <a:rPr lang="en-US" sz="2866" dirty="0">
                  <a:solidFill>
                    <a:srgbClr val="000000"/>
                  </a:solidFill>
                  <a:latin typeface="Glacial Indifference"/>
                </a:rPr>
                <a:t>No side talks</a:t>
              </a:r>
            </a:p>
            <a:p>
              <a:pPr marL="618943" lvl="1" indent="-309471">
                <a:lnSpc>
                  <a:spcPts val="5532"/>
                </a:lnSpc>
                <a:buFont typeface="Arial"/>
                <a:buChar char="•"/>
              </a:pPr>
              <a:r>
                <a:rPr lang="en-US" sz="2866" dirty="0">
                  <a:solidFill>
                    <a:srgbClr val="000000"/>
                  </a:solidFill>
                  <a:latin typeface="Glacial Indifference"/>
                </a:rPr>
                <a:t>Phones are in silent mode</a:t>
              </a:r>
            </a:p>
            <a:p>
              <a:pPr marL="618943" lvl="1" indent="-309471">
                <a:lnSpc>
                  <a:spcPts val="5532"/>
                </a:lnSpc>
                <a:buFont typeface="Arial"/>
                <a:buChar char="•"/>
              </a:pPr>
              <a:r>
                <a:rPr lang="en-US" sz="2866" dirty="0">
                  <a:solidFill>
                    <a:srgbClr val="000000"/>
                  </a:solidFill>
                  <a:latin typeface="Glacial Indifference"/>
                </a:rPr>
                <a:t>Questions after each slide</a:t>
              </a:r>
            </a:p>
            <a:p>
              <a:pPr marL="618943" lvl="1" indent="-309471">
                <a:lnSpc>
                  <a:spcPts val="5532"/>
                </a:lnSpc>
                <a:buFont typeface="Arial"/>
                <a:buChar char="•"/>
              </a:pPr>
              <a:r>
                <a:rPr lang="en-US" sz="2866" dirty="0">
                  <a:solidFill>
                    <a:srgbClr val="000000"/>
                  </a:solidFill>
                  <a:latin typeface="Glacial Indifference"/>
                </a:rPr>
                <a:t>Take permission before leaving</a:t>
              </a:r>
            </a:p>
            <a:p>
              <a:pPr marL="618943" lvl="1" indent="-309471">
                <a:lnSpc>
                  <a:spcPts val="5532"/>
                </a:lnSpc>
                <a:buFont typeface="Arial"/>
                <a:buChar char="•"/>
              </a:pPr>
              <a:r>
                <a:rPr lang="en-US" sz="2866" dirty="0">
                  <a:solidFill>
                    <a:srgbClr val="000000"/>
                  </a:solidFill>
                  <a:latin typeface="Glacial Indifference"/>
                </a:rPr>
                <a:t>There will be a break during the session if you want to eat or drink</a:t>
              </a:r>
            </a:p>
            <a:p>
              <a:pPr marL="618943" lvl="1" indent="-309471">
                <a:lnSpc>
                  <a:spcPts val="5532"/>
                </a:lnSpc>
                <a:buFont typeface="Arial"/>
                <a:buChar char="•"/>
              </a:pPr>
              <a:r>
                <a:rPr lang="en-US" sz="2866" dirty="0">
                  <a:solidFill>
                    <a:srgbClr val="000000"/>
                  </a:solidFill>
                  <a:latin typeface="Glacial Indifference"/>
                </a:rPr>
                <a:t>Make sure to take notes about what is discussed</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sz="1200"/>
          </a:p>
        </p:txBody>
      </p:sp>
      <p:sp>
        <p:nvSpPr>
          <p:cNvPr id="3" name="TextBox 3"/>
          <p:cNvSpPr txBox="1"/>
          <p:nvPr/>
        </p:nvSpPr>
        <p:spPr>
          <a:xfrm>
            <a:off x="4023099" y="2295053"/>
            <a:ext cx="4145801" cy="2267894"/>
          </a:xfrm>
          <a:prstGeom prst="rect">
            <a:avLst/>
          </a:prstGeom>
        </p:spPr>
        <p:txBody>
          <a:bodyPr wrap="square" lIns="0" tIns="0" rIns="0" bIns="0" rtlCol="0" anchor="t">
            <a:spAutoFit/>
          </a:bodyPr>
          <a:lstStyle/>
          <a:p>
            <a:pPr algn="ctr">
              <a:lnSpc>
                <a:spcPts val="8587"/>
              </a:lnSpc>
            </a:pPr>
            <a:r>
              <a:rPr lang="en-US" sz="7200" dirty="0">
                <a:solidFill>
                  <a:srgbClr val="FF0000"/>
                </a:solidFill>
                <a:latin typeface="Canva Sans Bold"/>
              </a:rPr>
              <a:t>Session 4</a:t>
            </a:r>
          </a:p>
          <a:p>
            <a:pPr algn="ctr">
              <a:lnSpc>
                <a:spcPts val="8587"/>
              </a:lnSpc>
              <a:spcBef>
                <a:spcPct val="0"/>
              </a:spcBef>
            </a:pPr>
            <a:r>
              <a:rPr lang="en-US" sz="7200" dirty="0">
                <a:solidFill>
                  <a:srgbClr val="FF0000"/>
                </a:solidFill>
                <a:latin typeface="Canva Sans Bold"/>
              </a:rPr>
              <a:t>“SLAM”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sz="1200"/>
          </a:p>
        </p:txBody>
      </p:sp>
      <p:sp>
        <p:nvSpPr>
          <p:cNvPr id="3" name="TextBox 3"/>
          <p:cNvSpPr txBox="1"/>
          <p:nvPr/>
        </p:nvSpPr>
        <p:spPr>
          <a:xfrm>
            <a:off x="396042" y="622300"/>
            <a:ext cx="5004094" cy="588046"/>
          </a:xfrm>
          <a:prstGeom prst="rect">
            <a:avLst/>
          </a:prstGeom>
        </p:spPr>
        <p:txBody>
          <a:bodyPr wrap="square" lIns="0" tIns="0" rIns="0" bIns="0" rtlCol="0" anchor="t">
            <a:spAutoFit/>
          </a:bodyPr>
          <a:lstStyle/>
          <a:p>
            <a:pPr>
              <a:lnSpc>
                <a:spcPts val="4853"/>
              </a:lnSpc>
            </a:pPr>
            <a:r>
              <a:rPr lang="en-US" sz="4000" b="1" dirty="0">
                <a:solidFill>
                  <a:srgbClr val="FF0000"/>
                </a:solidFill>
                <a:latin typeface="Canva Sans Bold"/>
              </a:rPr>
              <a:t>About the instructor</a:t>
            </a:r>
          </a:p>
        </p:txBody>
      </p:sp>
      <p:sp>
        <p:nvSpPr>
          <p:cNvPr id="4" name="AutoShape 4"/>
          <p:cNvSpPr/>
          <p:nvPr/>
        </p:nvSpPr>
        <p:spPr>
          <a:xfrm>
            <a:off x="-3642360" y="1787931"/>
            <a:ext cx="4328160" cy="0"/>
          </a:xfrm>
          <a:prstGeom prst="line">
            <a:avLst/>
          </a:prstGeom>
          <a:ln w="371475" cap="flat">
            <a:solidFill>
              <a:srgbClr val="CF3D33"/>
            </a:solidFill>
            <a:prstDash val="solid"/>
            <a:headEnd type="none" w="sm" len="sm"/>
            <a:tailEnd type="none" w="sm" len="sm"/>
          </a:ln>
        </p:spPr>
        <p:txBody>
          <a:bodyPr/>
          <a:lstStyle/>
          <a:p>
            <a:endParaRPr lang="en-US" sz="1200"/>
          </a:p>
        </p:txBody>
      </p:sp>
      <p:sp>
        <p:nvSpPr>
          <p:cNvPr id="7" name="AutoShape 7"/>
          <p:cNvSpPr/>
          <p:nvPr/>
        </p:nvSpPr>
        <p:spPr>
          <a:xfrm>
            <a:off x="-3584245" y="5394843"/>
            <a:ext cx="4328160" cy="0"/>
          </a:xfrm>
          <a:prstGeom prst="line">
            <a:avLst/>
          </a:prstGeom>
          <a:ln w="371475" cap="flat">
            <a:solidFill>
              <a:srgbClr val="CF3D33"/>
            </a:solidFill>
            <a:prstDash val="solid"/>
            <a:headEnd type="none" w="sm" len="sm"/>
            <a:tailEnd type="none" w="sm" len="sm"/>
          </a:ln>
        </p:spPr>
        <p:txBody>
          <a:bodyPr/>
          <a:lstStyle/>
          <a:p>
            <a:endParaRPr lang="en-US" sz="1200"/>
          </a:p>
        </p:txBody>
      </p:sp>
      <p:sp>
        <p:nvSpPr>
          <p:cNvPr id="8" name="AutoShape 8"/>
          <p:cNvSpPr/>
          <p:nvPr/>
        </p:nvSpPr>
        <p:spPr>
          <a:xfrm>
            <a:off x="-3584245" y="3576877"/>
            <a:ext cx="4328160" cy="0"/>
          </a:xfrm>
          <a:prstGeom prst="line">
            <a:avLst/>
          </a:prstGeom>
          <a:ln w="371475" cap="flat">
            <a:solidFill>
              <a:srgbClr val="CF3D33"/>
            </a:solidFill>
            <a:prstDash val="solid"/>
            <a:headEnd type="none" w="sm" len="sm"/>
            <a:tailEnd type="none" w="sm" len="sm"/>
          </a:ln>
        </p:spPr>
        <p:txBody>
          <a:bodyPr/>
          <a:lstStyle/>
          <a:p>
            <a:endParaRPr lang="en-US" sz="1200"/>
          </a:p>
        </p:txBody>
      </p:sp>
      <p:sp>
        <p:nvSpPr>
          <p:cNvPr id="9" name="TextBox 8">
            <a:extLst>
              <a:ext uri="{FF2B5EF4-FFF2-40B4-BE49-F238E27FC236}">
                <a16:creationId xmlns:a16="http://schemas.microsoft.com/office/drawing/2014/main" id="{8A93C371-21E6-9315-E641-6DC700CF918B}"/>
              </a:ext>
            </a:extLst>
          </p:cNvPr>
          <p:cNvSpPr txBox="1"/>
          <p:nvPr/>
        </p:nvSpPr>
        <p:spPr>
          <a:xfrm>
            <a:off x="1061048" y="1487028"/>
            <a:ext cx="5272597" cy="523220"/>
          </a:xfrm>
          <a:prstGeom prst="rect">
            <a:avLst/>
          </a:prstGeom>
          <a:noFill/>
        </p:spPr>
        <p:txBody>
          <a:bodyPr wrap="none" rtlCol="0">
            <a:spAutoFit/>
          </a:bodyPr>
          <a:lstStyle/>
          <a:p>
            <a:r>
              <a:rPr lang="en-US" sz="2800" b="1" dirty="0">
                <a:solidFill>
                  <a:schemeClr val="bg1"/>
                </a:solidFill>
              </a:rPr>
              <a:t>Name : Yousef Mohamed Asal</a:t>
            </a:r>
          </a:p>
        </p:txBody>
      </p:sp>
      <p:sp>
        <p:nvSpPr>
          <p:cNvPr id="11" name="TextBox 10">
            <a:extLst>
              <a:ext uri="{FF2B5EF4-FFF2-40B4-BE49-F238E27FC236}">
                <a16:creationId xmlns:a16="http://schemas.microsoft.com/office/drawing/2014/main" id="{271750FD-DD63-30BF-9E9B-E8A52DC1EA45}"/>
              </a:ext>
            </a:extLst>
          </p:cNvPr>
          <p:cNvSpPr txBox="1"/>
          <p:nvPr/>
        </p:nvSpPr>
        <p:spPr>
          <a:xfrm>
            <a:off x="1061048" y="5109362"/>
            <a:ext cx="6397905" cy="523220"/>
          </a:xfrm>
          <a:prstGeom prst="rect">
            <a:avLst/>
          </a:prstGeom>
          <a:noFill/>
        </p:spPr>
        <p:txBody>
          <a:bodyPr wrap="none" rtlCol="0">
            <a:spAutoFit/>
          </a:bodyPr>
          <a:lstStyle/>
          <a:p>
            <a:r>
              <a:rPr lang="en-US" sz="2800" b="1" dirty="0">
                <a:solidFill>
                  <a:schemeClr val="bg1"/>
                </a:solidFill>
              </a:rPr>
              <a:t>Autonomous </a:t>
            </a:r>
            <a:r>
              <a:rPr lang="en-US" sz="2800" b="1" dirty="0" err="1">
                <a:solidFill>
                  <a:schemeClr val="bg1"/>
                </a:solidFill>
              </a:rPr>
              <a:t>Subteam</a:t>
            </a:r>
            <a:r>
              <a:rPr lang="en-US" sz="2800" b="1" dirty="0">
                <a:solidFill>
                  <a:schemeClr val="bg1"/>
                </a:solidFill>
              </a:rPr>
              <a:t> Member 2023</a:t>
            </a:r>
          </a:p>
        </p:txBody>
      </p:sp>
      <p:sp>
        <p:nvSpPr>
          <p:cNvPr id="12" name="TextBox 11">
            <a:extLst>
              <a:ext uri="{FF2B5EF4-FFF2-40B4-BE49-F238E27FC236}">
                <a16:creationId xmlns:a16="http://schemas.microsoft.com/office/drawing/2014/main" id="{E26D743E-251C-4CE2-00D4-07C1025F21D5}"/>
              </a:ext>
            </a:extLst>
          </p:cNvPr>
          <p:cNvSpPr txBox="1"/>
          <p:nvPr/>
        </p:nvSpPr>
        <p:spPr>
          <a:xfrm>
            <a:off x="1061048" y="3318352"/>
            <a:ext cx="4224233" cy="523220"/>
          </a:xfrm>
          <a:prstGeom prst="rect">
            <a:avLst/>
          </a:prstGeom>
          <a:noFill/>
        </p:spPr>
        <p:txBody>
          <a:bodyPr wrap="none" rtlCol="0">
            <a:spAutoFit/>
          </a:bodyPr>
          <a:lstStyle/>
          <a:p>
            <a:r>
              <a:rPr lang="en-US" sz="2800" b="1" dirty="0">
                <a:solidFill>
                  <a:schemeClr val="bg1"/>
                </a:solidFill>
              </a:rPr>
              <a:t>Mechatronics Level 200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sz="1200" dirty="0"/>
          </a:p>
        </p:txBody>
      </p:sp>
      <p:sp>
        <p:nvSpPr>
          <p:cNvPr id="3" name="TextBox 3"/>
          <p:cNvSpPr txBox="1"/>
          <p:nvPr/>
        </p:nvSpPr>
        <p:spPr>
          <a:xfrm>
            <a:off x="727745" y="383098"/>
            <a:ext cx="2102572" cy="655372"/>
          </a:xfrm>
          <a:prstGeom prst="rect">
            <a:avLst/>
          </a:prstGeom>
        </p:spPr>
        <p:txBody>
          <a:bodyPr lIns="0" tIns="0" rIns="0" bIns="0" rtlCol="0" anchor="t">
            <a:spAutoFit/>
          </a:bodyPr>
          <a:lstStyle/>
          <a:p>
            <a:pPr>
              <a:lnSpc>
                <a:spcPts val="5600"/>
              </a:lnSpc>
            </a:pPr>
            <a:r>
              <a:rPr lang="en-US" sz="4000" b="1" dirty="0">
                <a:solidFill>
                  <a:srgbClr val="FF0000"/>
                </a:solidFill>
                <a:latin typeface="Canva Sans Bold"/>
              </a:rPr>
              <a:t>Agenda</a:t>
            </a:r>
          </a:p>
        </p:txBody>
      </p:sp>
      <p:sp>
        <p:nvSpPr>
          <p:cNvPr id="4" name="TextBox 3">
            <a:extLst>
              <a:ext uri="{FF2B5EF4-FFF2-40B4-BE49-F238E27FC236}">
                <a16:creationId xmlns:a16="http://schemas.microsoft.com/office/drawing/2014/main" id="{90D14374-4C4F-6154-3ADF-AA16839C12E1}"/>
              </a:ext>
            </a:extLst>
          </p:cNvPr>
          <p:cNvSpPr txBox="1"/>
          <p:nvPr/>
        </p:nvSpPr>
        <p:spPr>
          <a:xfrm>
            <a:off x="805343" y="1193635"/>
            <a:ext cx="9882231" cy="5509200"/>
          </a:xfrm>
          <a:prstGeom prst="rect">
            <a:avLst/>
          </a:prstGeom>
          <a:noFill/>
        </p:spPr>
        <p:txBody>
          <a:bodyPr wrap="square" rtlCol="0">
            <a:spAutoFit/>
          </a:bodyPr>
          <a:lstStyle/>
          <a:p>
            <a:pPr marL="457200" indent="-457200">
              <a:buClr>
                <a:srgbClr val="FF0000"/>
              </a:buClr>
              <a:buFont typeface="Arial" panose="020B0604020202020204" pitchFamily="34" charset="0"/>
              <a:buChar char="•"/>
            </a:pPr>
            <a:r>
              <a:rPr lang="en-US" sz="2800" dirty="0">
                <a:solidFill>
                  <a:schemeClr val="bg1"/>
                </a:solidFill>
              </a:rPr>
              <a:t>Introduction To SLAM</a:t>
            </a:r>
          </a:p>
          <a:p>
            <a:pPr marL="457200" indent="-457200">
              <a:buClr>
                <a:srgbClr val="FF0000"/>
              </a:buClr>
              <a:buFont typeface="Arial" panose="020B0604020202020204" pitchFamily="34" charset="0"/>
              <a:buChar char="•"/>
            </a:pPr>
            <a:r>
              <a:rPr lang="en-US" sz="2800" dirty="0">
                <a:solidFill>
                  <a:schemeClr val="bg1"/>
                </a:solidFill>
              </a:rPr>
              <a:t>Workflow</a:t>
            </a:r>
          </a:p>
          <a:p>
            <a:pPr marL="457200" indent="-457200">
              <a:buClr>
                <a:srgbClr val="FF0000"/>
              </a:buClr>
              <a:buFont typeface="Arial" panose="020B0604020202020204" pitchFamily="34" charset="0"/>
              <a:buChar char="•"/>
            </a:pPr>
            <a:r>
              <a:rPr lang="en-US" sz="2800" dirty="0">
                <a:solidFill>
                  <a:schemeClr val="bg1"/>
                </a:solidFill>
              </a:rPr>
              <a:t>Sensor fusion</a:t>
            </a:r>
          </a:p>
          <a:p>
            <a:pPr marL="457200" indent="-457200">
              <a:buClr>
                <a:srgbClr val="FF0000"/>
              </a:buClr>
              <a:buFont typeface="Arial" panose="020B0604020202020204" pitchFamily="34" charset="0"/>
              <a:buChar char="•"/>
            </a:pPr>
            <a:r>
              <a:rPr lang="en-US" sz="2800" dirty="0">
                <a:solidFill>
                  <a:schemeClr val="bg1"/>
                </a:solidFill>
              </a:rPr>
              <a:t>Mapping</a:t>
            </a:r>
          </a:p>
          <a:p>
            <a:pPr marL="457200" indent="-457200">
              <a:buClr>
                <a:srgbClr val="FF0000"/>
              </a:buClr>
              <a:buFont typeface="Arial" panose="020B0604020202020204" pitchFamily="34" charset="0"/>
              <a:buChar char="•"/>
            </a:pPr>
            <a:r>
              <a:rPr lang="en-US" sz="2800" dirty="0">
                <a:solidFill>
                  <a:srgbClr val="FF0000"/>
                </a:solidFill>
              </a:rPr>
              <a:t>Break</a:t>
            </a:r>
          </a:p>
          <a:p>
            <a:pPr marL="457200" indent="-457200">
              <a:buClr>
                <a:srgbClr val="FF0000"/>
              </a:buClr>
              <a:buFont typeface="Arial" panose="020B0604020202020204" pitchFamily="34" charset="0"/>
              <a:buChar char="•"/>
            </a:pPr>
            <a:r>
              <a:rPr lang="en-US" sz="2800" dirty="0">
                <a:solidFill>
                  <a:schemeClr val="bg1"/>
                </a:solidFill>
              </a:rPr>
              <a:t>Localization</a:t>
            </a:r>
          </a:p>
          <a:p>
            <a:pPr marL="457200" indent="-457200">
              <a:buClr>
                <a:srgbClr val="FF0000"/>
              </a:buClr>
              <a:buFont typeface="Arial" panose="020B0604020202020204" pitchFamily="34" charset="0"/>
              <a:buChar char="•"/>
            </a:pPr>
            <a:r>
              <a:rPr lang="en-US" sz="2800" dirty="0">
                <a:solidFill>
                  <a:schemeClr val="bg1"/>
                </a:solidFill>
              </a:rPr>
              <a:t>Loop Closure &amp; Optimization</a:t>
            </a:r>
          </a:p>
          <a:p>
            <a:pPr marL="457200" indent="-457200">
              <a:buClr>
                <a:srgbClr val="FF0000"/>
              </a:buClr>
              <a:buFont typeface="Arial" panose="020B0604020202020204" pitchFamily="34" charset="0"/>
              <a:buChar char="•"/>
            </a:pPr>
            <a:r>
              <a:rPr lang="en-US" sz="2800" dirty="0">
                <a:solidFill>
                  <a:schemeClr val="bg1"/>
                </a:solidFill>
              </a:rPr>
              <a:t>Algorithms</a:t>
            </a:r>
          </a:p>
          <a:p>
            <a:pPr marL="457200" indent="-457200">
              <a:buClr>
                <a:srgbClr val="FF0000"/>
              </a:buClr>
              <a:buFont typeface="Arial" panose="020B0604020202020204" pitchFamily="34" charset="0"/>
              <a:buChar char="•"/>
            </a:pPr>
            <a:r>
              <a:rPr lang="en-US" sz="2800" dirty="0">
                <a:solidFill>
                  <a:schemeClr val="bg1"/>
                </a:solidFill>
              </a:rPr>
              <a:t>Challenges</a:t>
            </a:r>
          </a:p>
          <a:p>
            <a:pPr marL="457200" indent="-457200">
              <a:buClr>
                <a:srgbClr val="FF0000"/>
              </a:buClr>
              <a:buFont typeface="Arial" panose="020B0604020202020204" pitchFamily="34" charset="0"/>
              <a:buChar char="•"/>
            </a:pPr>
            <a:r>
              <a:rPr lang="en-US" sz="2800" dirty="0">
                <a:solidFill>
                  <a:schemeClr val="bg1"/>
                </a:solidFill>
              </a:rPr>
              <a:t>Applications</a:t>
            </a: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5AA2A343-553A-D2B3-4004-A8B0073B4EBD}"/>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dirty="0"/>
          </a:p>
        </p:txBody>
      </p:sp>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1410860" y="1205456"/>
            <a:ext cx="7077456" cy="1243584"/>
          </a:xfrm>
        </p:spPr>
        <p:txBody>
          <a:bodyPr/>
          <a:lstStyle/>
          <a:p>
            <a:r>
              <a:rPr lang="en-US" sz="8000" dirty="0">
                <a:solidFill>
                  <a:srgbClr val="FF0000"/>
                </a:solidFill>
              </a:rPr>
              <a:t>SLAM</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1469583" y="2449040"/>
            <a:ext cx="9939445" cy="868680"/>
          </a:xfrm>
        </p:spPr>
        <p:txBody>
          <a:bodyPr>
            <a:normAutofit fontScale="85000" lnSpcReduction="20000"/>
          </a:bodyPr>
          <a:lstStyle/>
          <a:p>
            <a:pPr marL="0" indent="0">
              <a:buNone/>
            </a:pPr>
            <a:endParaRPr lang="en-US" sz="3500" b="1" dirty="0">
              <a:solidFill>
                <a:srgbClr val="FF0000"/>
              </a:solidFill>
            </a:endParaRPr>
          </a:p>
          <a:p>
            <a:pPr marL="0" indent="0">
              <a:buNone/>
            </a:pPr>
            <a:r>
              <a:rPr lang="en-US" sz="3500" b="1" dirty="0">
                <a:solidFill>
                  <a:srgbClr val="FF0000"/>
                </a:solidFill>
              </a:rPr>
              <a:t>(Simultaneous Localization and Mapping)</a:t>
            </a:r>
          </a:p>
          <a:p>
            <a:pPr marL="0" indent="0">
              <a:buNone/>
            </a:pPr>
            <a:endParaRPr lang="en-US" b="1" dirty="0">
              <a:solidFill>
                <a:schemeClr val="tx1">
                  <a:lumMod val="95000"/>
                  <a:lumOff val="5000"/>
                </a:schemeClr>
              </a:solidFill>
            </a:endParaRP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B6A0CBB9-93CF-5BA0-B57B-E7A206C41BCF}"/>
              </a:ext>
            </a:extLst>
          </p:cNvPr>
          <p:cNvSpPr/>
          <p:nvPr/>
        </p:nvSpPr>
        <p:spPr>
          <a:xfrm>
            <a:off x="-67112" y="-67112"/>
            <a:ext cx="12259112" cy="7029974"/>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284555"/>
            <a:ext cx="11214100" cy="605350"/>
          </a:xfrm>
        </p:spPr>
        <p:txBody>
          <a:bodyPr/>
          <a:lstStyle/>
          <a:p>
            <a:r>
              <a:rPr lang="en-US" sz="3600" dirty="0">
                <a:solidFill>
                  <a:srgbClr val="FF0000"/>
                </a:solidFill>
              </a:rPr>
              <a:t>Introduction to SLAM</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499" y="1015068"/>
            <a:ext cx="9337063" cy="4477057"/>
          </a:xfrm>
        </p:spPr>
        <p:txBody>
          <a:bodyPr/>
          <a:lstStyle/>
          <a:p>
            <a:r>
              <a:rPr lang="en-US" sz="2800" b="1" i="0" dirty="0">
                <a:solidFill>
                  <a:srgbClr val="FF0000"/>
                </a:solidFill>
                <a:effectLst/>
              </a:rPr>
              <a:t>Definition</a:t>
            </a:r>
            <a:r>
              <a:rPr lang="en-US" sz="2800" b="1" i="0" dirty="0">
                <a:effectLst/>
              </a:rPr>
              <a:t> : </a:t>
            </a:r>
            <a:r>
              <a:rPr lang="en-US" sz="2000" b="0" i="0" dirty="0">
                <a:effectLst/>
              </a:rPr>
              <a:t>SLAM (simultaneous localization and mapping) is a method used for autonomous vehicles that lets you build a map and localize your vehicle in that map at the same time</a:t>
            </a:r>
          </a:p>
          <a:p>
            <a:endParaRPr lang="en-US" sz="2000" dirty="0"/>
          </a:p>
          <a:p>
            <a:r>
              <a:rPr lang="en-US" sz="2000" b="0" i="0" dirty="0">
                <a:effectLst/>
              </a:rPr>
              <a:t>SLAM is difficult — it suffers from the “chicken or egg problem.” In order to accurately localize, we need good maps, but to have good maps, we need to accurately localize</a:t>
            </a:r>
          </a:p>
          <a:p>
            <a:pPr marL="0" indent="0">
              <a:buNone/>
            </a:pPr>
            <a:endParaRPr lang="en-US" sz="2000" b="0" i="0" dirty="0">
              <a:effectLst/>
            </a:endParaRPr>
          </a:p>
          <a:p>
            <a:r>
              <a:rPr lang="en-US" sz="2800" b="1" dirty="0">
                <a:solidFill>
                  <a:srgbClr val="FF0000"/>
                </a:solidFill>
              </a:rPr>
              <a:t>Importance</a:t>
            </a:r>
            <a:r>
              <a:rPr lang="en-US" sz="2800" b="1" dirty="0"/>
              <a:t> : </a:t>
            </a:r>
            <a:r>
              <a:rPr lang="en-US" sz="2000" dirty="0"/>
              <a:t>SLAM is crucial in autonomous systems for precise navigation, real-time adaptation to dynamic environments, and the creation of detailed maps, enhancing safety and efficiency</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ABAE2C3-6612-0BB6-BB0C-E1D89FBE1B78}"/>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177800"/>
            <a:ext cx="11214100" cy="535531"/>
          </a:xfrm>
        </p:spPr>
        <p:txBody>
          <a:bodyPr/>
          <a:lstStyle/>
          <a:p>
            <a:r>
              <a:rPr lang="en-US" dirty="0">
                <a:solidFill>
                  <a:srgbClr val="FF0000"/>
                </a:solidFill>
              </a:rPr>
              <a:t>SLAM Examples</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a:xfrm>
            <a:off x="444500" y="1161045"/>
            <a:ext cx="5157787" cy="1356095"/>
          </a:xfrm>
        </p:spPr>
        <p:txBody>
          <a:bodyPr>
            <a:normAutofit lnSpcReduction="10000"/>
          </a:bodyPr>
          <a:lstStyle/>
          <a:p>
            <a:r>
              <a:rPr lang="en-US" sz="2800" dirty="0"/>
              <a:t>Without SLAM</a:t>
            </a:r>
          </a:p>
          <a:p>
            <a:endParaRPr lang="en-US" sz="2800" dirty="0"/>
          </a:p>
          <a:p>
            <a:r>
              <a:rPr lang="en-US" dirty="0"/>
              <a:t>Cleaning Randomly</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a:xfrm>
            <a:off x="6375633" y="1098348"/>
            <a:ext cx="5282967" cy="1481488"/>
          </a:xfrm>
        </p:spPr>
        <p:txBody>
          <a:bodyPr>
            <a:normAutofit fontScale="92500" lnSpcReduction="10000"/>
          </a:bodyPr>
          <a:lstStyle/>
          <a:p>
            <a:pPr rtl="1"/>
            <a:r>
              <a:rPr lang="en-US" sz="2800" dirty="0"/>
              <a:t>With SLAM</a:t>
            </a:r>
          </a:p>
          <a:p>
            <a:pPr rtl="1"/>
            <a:endParaRPr lang="en-US" sz="2800" dirty="0"/>
          </a:p>
          <a:p>
            <a:pPr rtl="1"/>
            <a:r>
              <a:rPr lang="en-US" dirty="0"/>
              <a:t>Cleaning while understanding the room layout</a:t>
            </a:r>
          </a:p>
        </p:txBody>
      </p:sp>
      <p:pic>
        <p:nvPicPr>
          <p:cNvPr id="16" name="Picture 15" descr="A white background with black and white clouds&#10;&#10;Description automatically generated">
            <a:extLst>
              <a:ext uri="{FF2B5EF4-FFF2-40B4-BE49-F238E27FC236}">
                <a16:creationId xmlns:a16="http://schemas.microsoft.com/office/drawing/2014/main" id="{338579A7-A706-EED9-61A1-AAF717FDBAE9}"/>
              </a:ext>
            </a:extLst>
          </p:cNvPr>
          <p:cNvPicPr>
            <a:picLocks noChangeAspect="1"/>
          </p:cNvPicPr>
          <p:nvPr/>
        </p:nvPicPr>
        <p:blipFill>
          <a:blip r:embed="rId4"/>
          <a:stretch>
            <a:fillRect/>
          </a:stretch>
        </p:blipFill>
        <p:spPr>
          <a:xfrm>
            <a:off x="1722594" y="2670232"/>
            <a:ext cx="8864313" cy="2925803"/>
          </a:xfrm>
          <a:prstGeom prst="rect">
            <a:avLst/>
          </a:prstGeom>
        </p:spPr>
      </p:pic>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2">
            <a:extLst>
              <a:ext uri="{FF2B5EF4-FFF2-40B4-BE49-F238E27FC236}">
                <a16:creationId xmlns:a16="http://schemas.microsoft.com/office/drawing/2014/main" id="{54809E9D-CFFF-1611-8DA8-BA41B59ED78C}"/>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dirty="0"/>
          </a:p>
        </p:txBody>
      </p:sp>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306474"/>
            <a:ext cx="11214100" cy="535531"/>
          </a:xfrm>
        </p:spPr>
        <p:txBody>
          <a:bodyPr/>
          <a:lstStyle/>
          <a:p>
            <a:r>
              <a:rPr lang="en-US" dirty="0">
                <a:solidFill>
                  <a:srgbClr val="FF0000"/>
                </a:solidFill>
              </a:rPr>
              <a:t>SLAM Examples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10</a:t>
            </a:fld>
            <a:endParaRPr lang="en-US" dirty="0"/>
          </a:p>
        </p:txBody>
      </p:sp>
      <p:pic>
        <p:nvPicPr>
          <p:cNvPr id="3" name="Picture 2" descr="A white and green object with black lines&#10;&#10;Description automatically generated with medium confidence">
            <a:extLst>
              <a:ext uri="{FF2B5EF4-FFF2-40B4-BE49-F238E27FC236}">
                <a16:creationId xmlns:a16="http://schemas.microsoft.com/office/drawing/2014/main" id="{B20F940E-37AE-8543-C806-C2525AB29882}"/>
              </a:ext>
            </a:extLst>
          </p:cNvPr>
          <p:cNvPicPr>
            <a:picLocks noChangeAspect="1"/>
          </p:cNvPicPr>
          <p:nvPr/>
        </p:nvPicPr>
        <p:blipFill>
          <a:blip r:embed="rId3"/>
          <a:stretch>
            <a:fillRect/>
          </a:stretch>
        </p:blipFill>
        <p:spPr>
          <a:xfrm>
            <a:off x="2695954" y="1215590"/>
            <a:ext cx="6169809" cy="4359707"/>
          </a:xfrm>
          <a:prstGeom prst="rect">
            <a:avLst/>
          </a:prstGeom>
        </p:spPr>
      </p:pic>
    </p:spTree>
    <p:extLst>
      <p:ext uri="{BB962C8B-B14F-4D97-AF65-F5344CB8AC3E}">
        <p14:creationId xmlns:p14="http://schemas.microsoft.com/office/powerpoint/2010/main" val="1140598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AC93E3E-6FA6-3B38-DB84-45B31FA00655}"/>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245703"/>
            <a:ext cx="11214100" cy="535531"/>
          </a:xfrm>
        </p:spPr>
        <p:txBody>
          <a:bodyPr/>
          <a:lstStyle/>
          <a:p>
            <a:r>
              <a:rPr lang="en-US" dirty="0">
                <a:solidFill>
                  <a:srgbClr val="FF0000"/>
                </a:solidFill>
              </a:rPr>
              <a:t>Workflow of SLAM</a:t>
            </a:r>
          </a:p>
        </p:txBody>
      </p:sp>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a:xfrm>
            <a:off x="634061" y="3772775"/>
            <a:ext cx="1947805" cy="1463040"/>
          </a:xfrm>
        </p:spPr>
        <p:txBody>
          <a:bodyPr/>
          <a:lstStyle/>
          <a:p>
            <a:r>
              <a:rPr lang="en-US" sz="1800" dirty="0"/>
              <a:t>Data Acquisition</a:t>
            </a:r>
            <a:endParaRPr lang="ar-EG" sz="1800" dirty="0"/>
          </a:p>
          <a:p>
            <a:r>
              <a:rPr lang="ar-EG" sz="1800" dirty="0"/>
              <a:t>&amp;</a:t>
            </a:r>
          </a:p>
          <a:p>
            <a:r>
              <a:rPr lang="en-US" sz="1800" dirty="0"/>
              <a:t>Feature Extraction</a:t>
            </a:r>
          </a:p>
        </p:txBody>
      </p:sp>
      <p:sp>
        <p:nvSpPr>
          <p:cNvPr id="20" name="Text Placeholder 19">
            <a:extLst>
              <a:ext uri="{FF2B5EF4-FFF2-40B4-BE49-F238E27FC236}">
                <a16:creationId xmlns:a16="http://schemas.microsoft.com/office/drawing/2014/main" id="{CB924A29-3538-4A3F-82A6-D2A7538C2111}"/>
              </a:ext>
            </a:extLst>
          </p:cNvPr>
          <p:cNvSpPr>
            <a:spLocks noGrp="1"/>
          </p:cNvSpPr>
          <p:nvPr>
            <p:ph type="body" sz="quarter" idx="19"/>
          </p:nvPr>
        </p:nvSpPr>
        <p:spPr>
          <a:xfrm>
            <a:off x="2963912" y="3772775"/>
            <a:ext cx="1776140" cy="1463040"/>
          </a:xfrm>
        </p:spPr>
        <p:txBody>
          <a:bodyPr/>
          <a:lstStyle/>
          <a:p>
            <a:r>
              <a:rPr lang="en-US" sz="1800" dirty="0"/>
              <a:t>Sensor Fusion</a:t>
            </a:r>
          </a:p>
        </p:txBody>
      </p:sp>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a:xfrm>
            <a:off x="5207930" y="3772775"/>
            <a:ext cx="1776140" cy="1463040"/>
          </a:xfrm>
        </p:spPr>
        <p:txBody>
          <a:bodyPr/>
          <a:lstStyle/>
          <a:p>
            <a:r>
              <a:rPr lang="en-US" sz="1800" dirty="0"/>
              <a:t>Mapping</a:t>
            </a:r>
          </a:p>
        </p:txBody>
      </p:sp>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a:xfrm>
            <a:off x="7451948" y="3772775"/>
            <a:ext cx="1776140" cy="1463040"/>
          </a:xfrm>
        </p:spPr>
        <p:txBody>
          <a:bodyPr/>
          <a:lstStyle/>
          <a:p>
            <a:r>
              <a:rPr lang="en-US" sz="1800" dirty="0"/>
              <a:t>Localization</a:t>
            </a:r>
            <a:endParaRPr lang="en-US" dirty="0"/>
          </a:p>
        </p:txBody>
      </p:sp>
      <p:sp>
        <p:nvSpPr>
          <p:cNvPr id="23" name="Text Placeholder 22">
            <a:extLst>
              <a:ext uri="{FF2B5EF4-FFF2-40B4-BE49-F238E27FC236}">
                <a16:creationId xmlns:a16="http://schemas.microsoft.com/office/drawing/2014/main" id="{8D05A34F-7712-46DB-AB5B-272E294B62EE}"/>
              </a:ext>
            </a:extLst>
          </p:cNvPr>
          <p:cNvSpPr>
            <a:spLocks noGrp="1"/>
          </p:cNvSpPr>
          <p:nvPr>
            <p:ph type="body" sz="quarter" idx="22"/>
          </p:nvPr>
        </p:nvSpPr>
        <p:spPr>
          <a:xfrm>
            <a:off x="9695965" y="3772775"/>
            <a:ext cx="1776140" cy="1463040"/>
          </a:xfrm>
        </p:spPr>
        <p:txBody>
          <a:bodyPr/>
          <a:lstStyle/>
          <a:p>
            <a:r>
              <a:rPr lang="en-US" sz="1800" dirty="0"/>
              <a:t>Loop Closure</a:t>
            </a:r>
            <a:endParaRPr lang="ar-EG" sz="1800" dirty="0"/>
          </a:p>
          <a:p>
            <a:r>
              <a:rPr lang="ar-EG" sz="1800" dirty="0"/>
              <a:t>&amp;</a:t>
            </a:r>
          </a:p>
          <a:p>
            <a:r>
              <a:rPr lang="en-US" sz="1800" dirty="0"/>
              <a:t>Optimization</a:t>
            </a:r>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11</a:t>
            </a:fld>
            <a:endParaRPr lang="en-US" dirty="0"/>
          </a:p>
        </p:txBody>
      </p:sp>
      <p:pic>
        <p:nvPicPr>
          <p:cNvPr id="7" name="Picture 6" descr="A red circle with a logo&#10;&#10;Description automatically generated">
            <a:extLst>
              <a:ext uri="{FF2B5EF4-FFF2-40B4-BE49-F238E27FC236}">
                <a16:creationId xmlns:a16="http://schemas.microsoft.com/office/drawing/2014/main" id="{6318A7FA-D72C-4013-233B-B89163D0F8E9}"/>
              </a:ext>
            </a:extLst>
          </p:cNvPr>
          <p:cNvPicPr>
            <a:picLocks noChangeAspect="1"/>
          </p:cNvPicPr>
          <p:nvPr/>
        </p:nvPicPr>
        <p:blipFill>
          <a:blip r:embed="rId4"/>
          <a:stretch>
            <a:fillRect/>
          </a:stretch>
        </p:blipFill>
        <p:spPr>
          <a:xfrm>
            <a:off x="996076" y="1684942"/>
            <a:ext cx="10256124" cy="1400283"/>
          </a:xfrm>
          <a:prstGeom prst="rect">
            <a:avLst/>
          </a:prstGeom>
        </p:spPr>
      </p:pic>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33C8AAF-7E80-DAE6-CCF7-F79FA0C0AB91}"/>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dirty="0"/>
          </a:p>
        </p:txBody>
      </p:sp>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354741"/>
            <a:ext cx="11214100" cy="535531"/>
          </a:xfrm>
        </p:spPr>
        <p:txBody>
          <a:bodyPr wrap="square" anchor="t">
            <a:normAutofit/>
          </a:bodyPr>
          <a:lstStyle/>
          <a:p>
            <a:r>
              <a:rPr lang="en-US" dirty="0">
                <a:solidFill>
                  <a:srgbClr val="FF0000"/>
                </a:solidFill>
              </a:rPr>
              <a:t>SLAM Flow chart</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12</a:t>
            </a:fld>
            <a:endParaRPr lang="en-US"/>
          </a:p>
        </p:txBody>
      </p:sp>
      <p:pic>
        <p:nvPicPr>
          <p:cNvPr id="7" name="Picture 6" descr="A diagram of a sensor processing process">
            <a:extLst>
              <a:ext uri="{FF2B5EF4-FFF2-40B4-BE49-F238E27FC236}">
                <a16:creationId xmlns:a16="http://schemas.microsoft.com/office/drawing/2014/main" id="{BB033208-B826-FEE1-6CC0-B182BB520BBA}"/>
              </a:ext>
            </a:extLst>
          </p:cNvPr>
          <p:cNvPicPr>
            <a:picLocks noChangeAspect="1"/>
          </p:cNvPicPr>
          <p:nvPr/>
        </p:nvPicPr>
        <p:blipFill>
          <a:blip r:embed="rId3"/>
          <a:stretch>
            <a:fillRect/>
          </a:stretch>
        </p:blipFill>
        <p:spPr>
          <a:xfrm>
            <a:off x="444500" y="1236869"/>
            <a:ext cx="11454061" cy="4317150"/>
          </a:xfrm>
          <a:prstGeom prst="rect">
            <a:avLst/>
          </a:prstGeom>
        </p:spPr>
      </p:pic>
    </p:spTree>
    <p:extLst>
      <p:ext uri="{BB962C8B-B14F-4D97-AF65-F5344CB8AC3E}">
        <p14:creationId xmlns:p14="http://schemas.microsoft.com/office/powerpoint/2010/main" val="841248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6EC956D3-D777-68B0-51A8-B5DC381621D6}"/>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358368"/>
            <a:ext cx="11214100" cy="590931"/>
          </a:xfrm>
        </p:spPr>
        <p:txBody>
          <a:bodyPr/>
          <a:lstStyle/>
          <a:p>
            <a:r>
              <a:rPr lang="en-US" sz="3600" dirty="0">
                <a:solidFill>
                  <a:srgbClr val="FF0000"/>
                </a:solidFill>
              </a:rPr>
              <a:t>Data Acquisition &amp; Feature Extraction</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500" y="1155602"/>
            <a:ext cx="9748124" cy="4775415"/>
          </a:xfrm>
        </p:spPr>
        <p:txBody>
          <a:bodyPr/>
          <a:lstStyle/>
          <a:p>
            <a:r>
              <a:rPr lang="en-US" sz="2800" b="1" dirty="0">
                <a:solidFill>
                  <a:srgbClr val="FF0000"/>
                </a:solidFill>
              </a:rPr>
              <a:t>Data Acquisition </a:t>
            </a:r>
            <a:r>
              <a:rPr lang="en-US" sz="2800" b="1" i="0" dirty="0">
                <a:effectLst/>
              </a:rPr>
              <a:t>: </a:t>
            </a:r>
            <a:r>
              <a:rPr lang="en-US" sz="2400" i="0" dirty="0">
                <a:effectLst/>
              </a:rPr>
              <a:t>Data acquisition is the initial step in SLAM where sensors collect information about the robot's surroundings and its own movements</a:t>
            </a:r>
          </a:p>
          <a:p>
            <a:pPr marL="0" indent="0">
              <a:buNone/>
            </a:pPr>
            <a:endParaRPr lang="en-US" sz="2000" b="0" i="0" dirty="0">
              <a:effectLst/>
            </a:endParaRPr>
          </a:p>
          <a:p>
            <a:pPr marL="0" indent="0">
              <a:buNone/>
            </a:pPr>
            <a:endParaRPr lang="en-US" sz="2000" b="0" i="0" dirty="0">
              <a:effectLst/>
            </a:endParaRPr>
          </a:p>
          <a:p>
            <a:r>
              <a:rPr lang="en-US" sz="2800" b="1" dirty="0">
                <a:solidFill>
                  <a:srgbClr val="FF0000"/>
                </a:solidFill>
              </a:rPr>
              <a:t>Feature Extraction </a:t>
            </a:r>
            <a:r>
              <a:rPr lang="en-US" sz="2800" b="1" dirty="0"/>
              <a:t>: </a:t>
            </a:r>
            <a:r>
              <a:rPr lang="en-US" sz="2400" dirty="0"/>
              <a:t>Feature extraction is a critical step in SLAM where distinctive and easily trackable points or features are identified within the sensor data. These features serve as reference points for mapping and localization.</a:t>
            </a:r>
            <a:endParaRPr lang="en-US" sz="2000"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13</a:t>
            </a:fld>
            <a:endParaRPr lang="en-US" dirty="0"/>
          </a:p>
        </p:txBody>
      </p:sp>
    </p:spTree>
    <p:extLst>
      <p:ext uri="{BB962C8B-B14F-4D97-AF65-F5344CB8AC3E}">
        <p14:creationId xmlns:p14="http://schemas.microsoft.com/office/powerpoint/2010/main" val="2776577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8323410-AE34-1B94-806D-7EA47CF41F48}"/>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499" y="299645"/>
            <a:ext cx="11214100" cy="590931"/>
          </a:xfrm>
        </p:spPr>
        <p:txBody>
          <a:bodyPr/>
          <a:lstStyle/>
          <a:p>
            <a:r>
              <a:rPr lang="en-US" sz="3600" dirty="0">
                <a:solidFill>
                  <a:srgbClr val="FF0000"/>
                </a:solidFill>
              </a:rPr>
              <a:t>Sensor Fusion</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499" y="1041292"/>
            <a:ext cx="10134018" cy="4775415"/>
          </a:xfrm>
        </p:spPr>
        <p:txBody>
          <a:bodyPr/>
          <a:lstStyle/>
          <a:p>
            <a:r>
              <a:rPr lang="en-US" sz="2400" dirty="0"/>
              <a:t>Sensor fusion allows for the combination of data from multiple sensors to reduce errors and improve the overall accuracy of pose estimation (robot localization) and mapping.</a:t>
            </a:r>
          </a:p>
          <a:p>
            <a:endParaRPr lang="en-US" sz="2400" dirty="0"/>
          </a:p>
          <a:p>
            <a:r>
              <a:rPr lang="en-US" sz="2400" dirty="0"/>
              <a:t>Using multiple sensors makes the SLAM system more robust to sensor failures or limitations in specific situations</a:t>
            </a:r>
          </a:p>
          <a:p>
            <a:endParaRPr lang="en-US" sz="2400" dirty="0"/>
          </a:p>
          <a:p>
            <a:r>
              <a:rPr lang="en-US" sz="2400" dirty="0"/>
              <a:t>Each sensor has its own uncertainty or noise associated with its measurements. Sensor fusion techniques aim to model and manage this uncertainty</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14</a:t>
            </a:fld>
            <a:endParaRPr lang="en-US" dirty="0"/>
          </a:p>
        </p:txBody>
      </p:sp>
    </p:spTree>
    <p:extLst>
      <p:ext uri="{BB962C8B-B14F-4D97-AF65-F5344CB8AC3E}">
        <p14:creationId xmlns:p14="http://schemas.microsoft.com/office/powerpoint/2010/main" val="2925242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15FA348F-819D-6E7E-FEB2-809D638A125D}"/>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dirty="0"/>
          </a:p>
        </p:txBody>
      </p:sp>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201336" y="237907"/>
            <a:ext cx="11457264" cy="535531"/>
          </a:xfrm>
        </p:spPr>
        <p:txBody>
          <a:bodyPr wrap="square" anchor="t">
            <a:normAutofit/>
          </a:bodyPr>
          <a:lstStyle/>
          <a:p>
            <a:r>
              <a:rPr lang="en-US" dirty="0">
                <a:solidFill>
                  <a:srgbClr val="FF0000"/>
                </a:solidFill>
              </a:rPr>
              <a:t>Sensor Fusion</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15</a:t>
            </a:fld>
            <a:endParaRPr lang="en-US"/>
          </a:p>
        </p:txBody>
      </p:sp>
      <p:pic>
        <p:nvPicPr>
          <p:cNvPr id="7" name="Picture 6" descr="A diagram of a sensor fusion&#10;&#10;Description automatically generated">
            <a:extLst>
              <a:ext uri="{FF2B5EF4-FFF2-40B4-BE49-F238E27FC236}">
                <a16:creationId xmlns:a16="http://schemas.microsoft.com/office/drawing/2014/main" id="{21D3FD53-06F6-B615-2FF4-200A6BC81FD5}"/>
              </a:ext>
            </a:extLst>
          </p:cNvPr>
          <p:cNvPicPr>
            <a:picLocks noChangeAspect="1"/>
          </p:cNvPicPr>
          <p:nvPr/>
        </p:nvPicPr>
        <p:blipFill>
          <a:blip r:embed="rId3"/>
          <a:stretch>
            <a:fillRect/>
          </a:stretch>
        </p:blipFill>
        <p:spPr>
          <a:xfrm>
            <a:off x="0" y="1078456"/>
            <a:ext cx="12192000" cy="4514063"/>
          </a:xfrm>
          <a:prstGeom prst="rect">
            <a:avLst/>
          </a:prstGeom>
        </p:spPr>
      </p:pic>
    </p:spTree>
    <p:extLst>
      <p:ext uri="{BB962C8B-B14F-4D97-AF65-F5344CB8AC3E}">
        <p14:creationId xmlns:p14="http://schemas.microsoft.com/office/powerpoint/2010/main" val="3959216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93A4CB6-2B81-2781-274E-6A8EA3A186C6}"/>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55394" y="161734"/>
            <a:ext cx="11214100" cy="590931"/>
          </a:xfrm>
        </p:spPr>
        <p:txBody>
          <a:bodyPr/>
          <a:lstStyle/>
          <a:p>
            <a:r>
              <a:rPr lang="en-US" sz="3600" dirty="0">
                <a:solidFill>
                  <a:srgbClr val="FF0000"/>
                </a:solidFill>
              </a:rPr>
              <a:t>Mapping</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347940" y="1040234"/>
            <a:ext cx="10197021" cy="4628379"/>
          </a:xfrm>
        </p:spPr>
        <p:txBody>
          <a:bodyPr/>
          <a:lstStyle/>
          <a:p>
            <a:r>
              <a:rPr lang="en-US" sz="2400" dirty="0"/>
              <a:t>Mapping is a core component of the SLAM process. It involves creating a representation of the robot's environment, typically in the form of a map</a:t>
            </a:r>
          </a:p>
          <a:p>
            <a:endParaRPr lang="en-US" sz="2400" dirty="0"/>
          </a:p>
          <a:p>
            <a:r>
              <a:rPr lang="en-US" sz="2400" dirty="0"/>
              <a:t>Mapping is crucial because it provides the robot with spatial awareness, allowing it to navigate, avoid obstacles, and make informed decisions</a:t>
            </a:r>
          </a:p>
          <a:p>
            <a:endParaRPr lang="en-US" sz="2400" dirty="0"/>
          </a:p>
          <a:p>
            <a:r>
              <a:rPr lang="en-US" sz="2400" dirty="0"/>
              <a:t>In SLAM, the map is updated in real-time as the robot explores the environment. As new sensor data becomes available, it's incorporated into the map, allowing the robot to adapt to changes in the environment.</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16</a:t>
            </a:fld>
            <a:endParaRPr lang="en-US" dirty="0"/>
          </a:p>
        </p:txBody>
      </p:sp>
    </p:spTree>
    <p:extLst>
      <p:ext uri="{BB962C8B-B14F-4D97-AF65-F5344CB8AC3E}">
        <p14:creationId xmlns:p14="http://schemas.microsoft.com/office/powerpoint/2010/main" val="1121067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709DD21-B227-900F-38AF-A0AF14CE1C6D}"/>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247459"/>
            <a:ext cx="11214100" cy="590931"/>
          </a:xfrm>
        </p:spPr>
        <p:txBody>
          <a:bodyPr/>
          <a:lstStyle/>
          <a:p>
            <a:r>
              <a:rPr lang="en-US" sz="3600" dirty="0">
                <a:solidFill>
                  <a:srgbClr val="FF0000"/>
                </a:solidFill>
              </a:rPr>
              <a:t>Map Representation</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260059" y="838390"/>
            <a:ext cx="10242958" cy="4838613"/>
          </a:xfrm>
        </p:spPr>
        <p:txBody>
          <a:bodyPr/>
          <a:lstStyle/>
          <a:p>
            <a:r>
              <a:rPr lang="en-US" sz="2800" b="1" dirty="0">
                <a:solidFill>
                  <a:srgbClr val="FF0000"/>
                </a:solidFill>
              </a:rPr>
              <a:t>Occupancy Grid Map </a:t>
            </a:r>
            <a:r>
              <a:rPr lang="en-US" sz="2800" b="1" dirty="0"/>
              <a:t>:</a:t>
            </a:r>
            <a:r>
              <a:rPr lang="en-US" sz="2400" dirty="0"/>
              <a:t> A grid-based representation where each cell indicates whether it is occupied, free, or unknown. This type of map is often used for 2D mapping.</a:t>
            </a:r>
          </a:p>
          <a:p>
            <a:endParaRPr lang="en-US" sz="2400" dirty="0"/>
          </a:p>
          <a:p>
            <a:r>
              <a:rPr lang="en-US" sz="2800" b="1" dirty="0">
                <a:solidFill>
                  <a:srgbClr val="FF0000"/>
                </a:solidFill>
              </a:rPr>
              <a:t>Point Cloud Map</a:t>
            </a:r>
            <a:r>
              <a:rPr lang="en-US" sz="2800" b="1" dirty="0"/>
              <a:t>: </a:t>
            </a:r>
            <a:r>
              <a:rPr lang="en-US" sz="2400" dirty="0"/>
              <a:t>A collection of 3D points representing the environment's surfaces. It's commonly used in 3D mapping, especially with lidar sensors.</a:t>
            </a:r>
          </a:p>
          <a:p>
            <a:endParaRPr lang="en-US" sz="2400" dirty="0"/>
          </a:p>
          <a:p>
            <a:r>
              <a:rPr lang="en-US" sz="2800" b="1" dirty="0">
                <a:solidFill>
                  <a:srgbClr val="FF0000"/>
                </a:solidFill>
              </a:rPr>
              <a:t>Feature-Based Map</a:t>
            </a:r>
            <a:r>
              <a:rPr lang="en-US" sz="2800" b="1" dirty="0"/>
              <a:t>: </a:t>
            </a:r>
            <a:r>
              <a:rPr lang="en-US" sz="2400" dirty="0"/>
              <a:t>This type of map represents distinctive features in the environment, such as key points, landmarks, or objects of interest. Feature-based maps are prevalent in visual SLAM.</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17</a:t>
            </a:fld>
            <a:endParaRPr lang="en-US" dirty="0"/>
          </a:p>
        </p:txBody>
      </p:sp>
    </p:spTree>
    <p:extLst>
      <p:ext uri="{BB962C8B-B14F-4D97-AF65-F5344CB8AC3E}">
        <p14:creationId xmlns:p14="http://schemas.microsoft.com/office/powerpoint/2010/main" val="2799209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3E278DC1-3579-00E5-E1D1-F8299E0A440D}"/>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dirty="0"/>
          </a:p>
        </p:txBody>
      </p:sp>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499" y="260491"/>
            <a:ext cx="11214100" cy="535531"/>
          </a:xfrm>
        </p:spPr>
        <p:txBody>
          <a:bodyPr wrap="square" anchor="t">
            <a:normAutofit/>
          </a:bodyPr>
          <a:lstStyle/>
          <a:p>
            <a:r>
              <a:rPr lang="en-US" dirty="0">
                <a:solidFill>
                  <a:srgbClr val="FF0000"/>
                </a:solidFill>
              </a:rPr>
              <a:t>Map Representation</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18</a:t>
            </a:fld>
            <a:endParaRPr lang="en-US"/>
          </a:p>
        </p:txBody>
      </p:sp>
      <p:pic>
        <p:nvPicPr>
          <p:cNvPr id="5" name="Picture 4" descr="A white rectangular object with red stars&#10;&#10;Description automatically generated">
            <a:extLst>
              <a:ext uri="{FF2B5EF4-FFF2-40B4-BE49-F238E27FC236}">
                <a16:creationId xmlns:a16="http://schemas.microsoft.com/office/drawing/2014/main" id="{1D9DC642-4849-E495-5E83-E9B85F9A0AF1}"/>
              </a:ext>
            </a:extLst>
          </p:cNvPr>
          <p:cNvPicPr>
            <a:picLocks noChangeAspect="1"/>
          </p:cNvPicPr>
          <p:nvPr/>
        </p:nvPicPr>
        <p:blipFill>
          <a:blip r:embed="rId3"/>
          <a:stretch>
            <a:fillRect/>
          </a:stretch>
        </p:blipFill>
        <p:spPr>
          <a:xfrm>
            <a:off x="4700833" y="1585202"/>
            <a:ext cx="2701431" cy="1841425"/>
          </a:xfrm>
          <a:prstGeom prst="rect">
            <a:avLst/>
          </a:prstGeom>
        </p:spPr>
      </p:pic>
      <p:pic>
        <p:nvPicPr>
          <p:cNvPr id="8" name="Picture 7" descr="A drawing of a house&#10;&#10;Description automatically generated with medium confidence">
            <a:extLst>
              <a:ext uri="{FF2B5EF4-FFF2-40B4-BE49-F238E27FC236}">
                <a16:creationId xmlns:a16="http://schemas.microsoft.com/office/drawing/2014/main" id="{6A641AC6-820B-994A-26D7-E12E8CD89D47}"/>
              </a:ext>
            </a:extLst>
          </p:cNvPr>
          <p:cNvPicPr>
            <a:picLocks noChangeAspect="1"/>
          </p:cNvPicPr>
          <p:nvPr/>
        </p:nvPicPr>
        <p:blipFill>
          <a:blip r:embed="rId4"/>
          <a:stretch>
            <a:fillRect/>
          </a:stretch>
        </p:blipFill>
        <p:spPr>
          <a:xfrm>
            <a:off x="444499" y="1587575"/>
            <a:ext cx="3682849" cy="1841425"/>
          </a:xfrm>
          <a:prstGeom prst="rect">
            <a:avLst/>
          </a:prstGeom>
        </p:spPr>
      </p:pic>
      <p:pic>
        <p:nvPicPr>
          <p:cNvPr id="10" name="Picture 9" descr="Aerial view of a forest&#10;&#10;Description automatically generated">
            <a:extLst>
              <a:ext uri="{FF2B5EF4-FFF2-40B4-BE49-F238E27FC236}">
                <a16:creationId xmlns:a16="http://schemas.microsoft.com/office/drawing/2014/main" id="{1575520D-0D66-71E6-B46C-22AF5EFC5DE0}"/>
              </a:ext>
            </a:extLst>
          </p:cNvPr>
          <p:cNvPicPr>
            <a:picLocks noChangeAspect="1"/>
          </p:cNvPicPr>
          <p:nvPr/>
        </p:nvPicPr>
        <p:blipFill>
          <a:blip r:embed="rId5"/>
          <a:stretch>
            <a:fillRect/>
          </a:stretch>
        </p:blipFill>
        <p:spPr>
          <a:xfrm>
            <a:off x="8115663" y="1585202"/>
            <a:ext cx="3241945" cy="1841425"/>
          </a:xfrm>
          <a:prstGeom prst="rect">
            <a:avLst/>
          </a:prstGeom>
        </p:spPr>
      </p:pic>
      <p:sp>
        <p:nvSpPr>
          <p:cNvPr id="11" name="TextBox 10">
            <a:extLst>
              <a:ext uri="{FF2B5EF4-FFF2-40B4-BE49-F238E27FC236}">
                <a16:creationId xmlns:a16="http://schemas.microsoft.com/office/drawing/2014/main" id="{C9A25A5A-5611-3B7A-834E-0EE400A2A191}"/>
              </a:ext>
            </a:extLst>
          </p:cNvPr>
          <p:cNvSpPr txBox="1"/>
          <p:nvPr/>
        </p:nvSpPr>
        <p:spPr>
          <a:xfrm>
            <a:off x="1069966" y="937864"/>
            <a:ext cx="2431915" cy="461665"/>
          </a:xfrm>
          <a:prstGeom prst="rect">
            <a:avLst/>
          </a:prstGeom>
          <a:noFill/>
        </p:spPr>
        <p:txBody>
          <a:bodyPr wrap="square" rtlCol="0">
            <a:spAutoFit/>
          </a:bodyPr>
          <a:lstStyle/>
          <a:p>
            <a:r>
              <a:rPr lang="en-US" sz="2400" dirty="0">
                <a:solidFill>
                  <a:schemeClr val="bg1"/>
                </a:solidFill>
              </a:rPr>
              <a:t>Occupancy grid</a:t>
            </a:r>
          </a:p>
        </p:txBody>
      </p:sp>
      <p:sp>
        <p:nvSpPr>
          <p:cNvPr id="12" name="TextBox 11">
            <a:extLst>
              <a:ext uri="{FF2B5EF4-FFF2-40B4-BE49-F238E27FC236}">
                <a16:creationId xmlns:a16="http://schemas.microsoft.com/office/drawing/2014/main" id="{C4EEE58B-A073-018E-D7F1-1ED376FD0CC4}"/>
              </a:ext>
            </a:extLst>
          </p:cNvPr>
          <p:cNvSpPr txBox="1"/>
          <p:nvPr/>
        </p:nvSpPr>
        <p:spPr>
          <a:xfrm>
            <a:off x="4880042" y="937864"/>
            <a:ext cx="2431915" cy="461665"/>
          </a:xfrm>
          <a:prstGeom prst="rect">
            <a:avLst/>
          </a:prstGeom>
          <a:noFill/>
        </p:spPr>
        <p:txBody>
          <a:bodyPr wrap="square" rtlCol="0">
            <a:spAutoFit/>
          </a:bodyPr>
          <a:lstStyle/>
          <a:p>
            <a:r>
              <a:rPr lang="en-US" sz="2400" dirty="0">
                <a:solidFill>
                  <a:schemeClr val="bg1"/>
                </a:solidFill>
              </a:rPr>
              <a:t>Feature based</a:t>
            </a:r>
          </a:p>
        </p:txBody>
      </p:sp>
      <p:sp>
        <p:nvSpPr>
          <p:cNvPr id="13" name="TextBox 12">
            <a:extLst>
              <a:ext uri="{FF2B5EF4-FFF2-40B4-BE49-F238E27FC236}">
                <a16:creationId xmlns:a16="http://schemas.microsoft.com/office/drawing/2014/main" id="{257194D6-E549-9DB0-E26A-BC47BFD2166B}"/>
              </a:ext>
            </a:extLst>
          </p:cNvPr>
          <p:cNvSpPr txBox="1"/>
          <p:nvPr/>
        </p:nvSpPr>
        <p:spPr>
          <a:xfrm>
            <a:off x="8520678" y="937864"/>
            <a:ext cx="2431915" cy="461665"/>
          </a:xfrm>
          <a:prstGeom prst="rect">
            <a:avLst/>
          </a:prstGeom>
          <a:noFill/>
        </p:spPr>
        <p:txBody>
          <a:bodyPr wrap="square" rtlCol="0">
            <a:spAutoFit/>
          </a:bodyPr>
          <a:lstStyle/>
          <a:p>
            <a:r>
              <a:rPr lang="en-US" sz="2400" dirty="0">
                <a:solidFill>
                  <a:schemeClr val="bg1"/>
                </a:solidFill>
              </a:rPr>
              <a:t>Point cloud</a:t>
            </a:r>
          </a:p>
        </p:txBody>
      </p:sp>
      <p:pic>
        <p:nvPicPr>
          <p:cNvPr id="15" name="Picture 14" descr="A map of a house&#10;&#10;Description automatically generated">
            <a:extLst>
              <a:ext uri="{FF2B5EF4-FFF2-40B4-BE49-F238E27FC236}">
                <a16:creationId xmlns:a16="http://schemas.microsoft.com/office/drawing/2014/main" id="{31F58072-C8E5-7A3C-9586-A29E55DEDF49}"/>
              </a:ext>
            </a:extLst>
          </p:cNvPr>
          <p:cNvPicPr>
            <a:picLocks noChangeAspect="1"/>
          </p:cNvPicPr>
          <p:nvPr/>
        </p:nvPicPr>
        <p:blipFill>
          <a:blip r:embed="rId6"/>
          <a:stretch>
            <a:fillRect/>
          </a:stretch>
        </p:blipFill>
        <p:spPr>
          <a:xfrm>
            <a:off x="1936312" y="3612300"/>
            <a:ext cx="8096250" cy="2155138"/>
          </a:xfrm>
          <a:prstGeom prst="rect">
            <a:avLst/>
          </a:prstGeom>
        </p:spPr>
      </p:pic>
    </p:spTree>
    <p:extLst>
      <p:ext uri="{BB962C8B-B14F-4D97-AF65-F5344CB8AC3E}">
        <p14:creationId xmlns:p14="http://schemas.microsoft.com/office/powerpoint/2010/main" val="1967483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054D145-D28B-BC58-D1F4-02FD17848529}"/>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249311"/>
            <a:ext cx="11214100" cy="590931"/>
          </a:xfrm>
        </p:spPr>
        <p:txBody>
          <a:bodyPr/>
          <a:lstStyle/>
          <a:p>
            <a:r>
              <a:rPr lang="en-US" sz="3600" dirty="0">
                <a:solidFill>
                  <a:srgbClr val="FF0000"/>
                </a:solidFill>
              </a:rPr>
              <a:t>Types of Mapping</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500" y="1041292"/>
            <a:ext cx="9110561" cy="4775415"/>
          </a:xfrm>
        </p:spPr>
        <p:txBody>
          <a:bodyPr/>
          <a:lstStyle/>
          <a:p>
            <a:r>
              <a:rPr lang="en-US" sz="2800" b="1" dirty="0">
                <a:solidFill>
                  <a:srgbClr val="FF0000"/>
                </a:solidFill>
              </a:rPr>
              <a:t>Static Mapping</a:t>
            </a:r>
            <a:r>
              <a:rPr lang="en-US" sz="2800" b="1" dirty="0"/>
              <a:t>: </a:t>
            </a:r>
            <a:r>
              <a:rPr lang="en-US" sz="2400" dirty="0"/>
              <a:t>In scenarios where the environment is assumed to be static (no changes occur over time), the mapping process focuses on building an accurate and static representation of the surroundings.</a:t>
            </a:r>
          </a:p>
          <a:p>
            <a:endParaRPr lang="en-US" sz="2400" dirty="0"/>
          </a:p>
          <a:p>
            <a:r>
              <a:rPr lang="en-US" sz="2800" b="1" dirty="0">
                <a:solidFill>
                  <a:srgbClr val="FF0000"/>
                </a:solidFill>
              </a:rPr>
              <a:t>Dynamic Mapping</a:t>
            </a:r>
            <a:r>
              <a:rPr lang="en-US" sz="2800" b="1" dirty="0"/>
              <a:t>: </a:t>
            </a:r>
            <a:r>
              <a:rPr lang="en-US" sz="2400" dirty="0"/>
              <a:t>Dynamic mapping considers environments with moving objects or changes over time. It must distinguish between static and dynamic elements in the map to support navigation</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19</a:t>
            </a:fld>
            <a:endParaRPr lang="en-US" dirty="0"/>
          </a:p>
        </p:txBody>
      </p:sp>
    </p:spTree>
    <p:extLst>
      <p:ext uri="{BB962C8B-B14F-4D97-AF65-F5344CB8AC3E}">
        <p14:creationId xmlns:p14="http://schemas.microsoft.com/office/powerpoint/2010/main" val="591142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4B45F815-FC14-30D3-7C2F-608C3C2A4A1D}"/>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249311"/>
            <a:ext cx="11214100" cy="590931"/>
          </a:xfrm>
        </p:spPr>
        <p:txBody>
          <a:bodyPr/>
          <a:lstStyle/>
          <a:p>
            <a:r>
              <a:rPr lang="en-US" sz="3600" dirty="0">
                <a:solidFill>
                  <a:srgbClr val="FF0000"/>
                </a:solidFill>
              </a:rPr>
              <a:t>Localization</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310393" y="933275"/>
            <a:ext cx="10209401" cy="4991450"/>
          </a:xfrm>
        </p:spPr>
        <p:txBody>
          <a:bodyPr/>
          <a:lstStyle/>
          <a:p>
            <a:r>
              <a:rPr lang="en-US" sz="2400" dirty="0"/>
              <a:t>Localization is the task of determining the precise position and orientation (pose) of a robot or autonomous system within its known or unknown environment</a:t>
            </a:r>
          </a:p>
          <a:p>
            <a:endParaRPr lang="en-US" sz="2400" dirty="0"/>
          </a:p>
          <a:p>
            <a:r>
              <a:rPr lang="en-US" sz="2400" dirty="0"/>
              <a:t>Localization is crucial for enabling the robot to navigate effectively and make informed decisions.</a:t>
            </a:r>
          </a:p>
          <a:p>
            <a:pPr marL="0" indent="0">
              <a:buNone/>
            </a:pPr>
            <a:endParaRPr lang="en-US" sz="2400" dirty="0"/>
          </a:p>
          <a:p>
            <a:r>
              <a:rPr lang="en-US" sz="2400" dirty="0"/>
              <a:t>Localization is a continuous process that updates the robot's estimated pose in real-time as it moves through the environment. This updating occurs iteratively with the arrival of new sensor data.</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20</a:t>
            </a:fld>
            <a:endParaRPr lang="en-US" dirty="0"/>
          </a:p>
        </p:txBody>
      </p:sp>
    </p:spTree>
    <p:extLst>
      <p:ext uri="{BB962C8B-B14F-4D97-AF65-F5344CB8AC3E}">
        <p14:creationId xmlns:p14="http://schemas.microsoft.com/office/powerpoint/2010/main" val="787471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901D4AF-7622-345E-92D4-BD4D4ABAE4AF}"/>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250468"/>
            <a:ext cx="11214100" cy="535531"/>
          </a:xfrm>
        </p:spPr>
        <p:txBody>
          <a:bodyPr wrap="square" anchor="t">
            <a:normAutofit/>
          </a:bodyPr>
          <a:lstStyle/>
          <a:p>
            <a:r>
              <a:rPr lang="en-US" dirty="0">
                <a:solidFill>
                  <a:srgbClr val="FF0000"/>
                </a:solidFill>
              </a:rPr>
              <a:t>Types of Localization in SLAM</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8"/>
          </p:nvPr>
        </p:nvSpPr>
        <p:spPr>
          <a:xfrm>
            <a:off x="444500" y="4031771"/>
            <a:ext cx="10576621" cy="1463040"/>
          </a:xfrm>
        </p:spPr>
        <p:txBody>
          <a:bodyPr>
            <a:normAutofit/>
          </a:bodyPr>
          <a:lstStyle/>
          <a:p>
            <a:r>
              <a:rPr lang="en-US" sz="2000" b="1" dirty="0">
                <a:solidFill>
                  <a:srgbClr val="FF0000"/>
                </a:solidFill>
              </a:rPr>
              <a:t>Global Localization</a:t>
            </a:r>
            <a:r>
              <a:rPr lang="en-US" sz="2000" b="1" dirty="0"/>
              <a:t>: </a:t>
            </a:r>
            <a:r>
              <a:rPr lang="en-US" sz="2000" dirty="0"/>
              <a:t>In global localization, the robot starts with little to no knowledge of its initial position within the environment. The goal is to estimate the robot's pose while simultaneously mapping the environment. Particle filters, such as Monte Carlo Localization (MCL), are often used for global localization.</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21</a:t>
            </a:fld>
            <a:endParaRPr lang="en-US"/>
          </a:p>
        </p:txBody>
      </p:sp>
      <p:pic>
        <p:nvPicPr>
          <p:cNvPr id="4" name="Picture 3" descr="A red paint on a grey surface&#10;&#10;Description automatically generated with medium confidence">
            <a:extLst>
              <a:ext uri="{FF2B5EF4-FFF2-40B4-BE49-F238E27FC236}">
                <a16:creationId xmlns:a16="http://schemas.microsoft.com/office/drawing/2014/main" id="{765E19F6-E218-0CD2-2D6F-7DF185EA48B3}"/>
              </a:ext>
            </a:extLst>
          </p:cNvPr>
          <p:cNvPicPr>
            <a:picLocks noChangeAspect="1"/>
          </p:cNvPicPr>
          <p:nvPr/>
        </p:nvPicPr>
        <p:blipFill rotWithShape="1">
          <a:blip r:embed="rId4"/>
          <a:srcRect t="5164" b="17385"/>
          <a:stretch/>
        </p:blipFill>
        <p:spPr>
          <a:xfrm>
            <a:off x="-2" y="1244762"/>
            <a:ext cx="12192002" cy="2289897"/>
          </a:xfrm>
          <a:prstGeom prst="rect">
            <a:avLst/>
          </a:prstGeom>
          <a:noFill/>
        </p:spPr>
      </p:pic>
    </p:spTree>
    <p:extLst>
      <p:ext uri="{BB962C8B-B14F-4D97-AF65-F5344CB8AC3E}">
        <p14:creationId xmlns:p14="http://schemas.microsoft.com/office/powerpoint/2010/main" val="3152070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72BC3BFA-035B-F7DA-A1A9-E9B9B5E499FE}"/>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301146"/>
            <a:ext cx="11214100" cy="535531"/>
          </a:xfrm>
        </p:spPr>
        <p:txBody>
          <a:bodyPr wrap="square" anchor="t">
            <a:normAutofit/>
          </a:bodyPr>
          <a:lstStyle/>
          <a:p>
            <a:r>
              <a:rPr lang="en-US" dirty="0">
                <a:solidFill>
                  <a:srgbClr val="FF0000"/>
                </a:solidFill>
              </a:rPr>
              <a:t>Types of Localization in SLAM</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22</a:t>
            </a:fld>
            <a:endParaRPr lang="en-US"/>
          </a:p>
        </p:txBody>
      </p:sp>
      <p:sp>
        <p:nvSpPr>
          <p:cNvPr id="10" name="Text Placeholder 9">
            <a:extLst>
              <a:ext uri="{FF2B5EF4-FFF2-40B4-BE49-F238E27FC236}">
                <a16:creationId xmlns:a16="http://schemas.microsoft.com/office/drawing/2014/main" id="{EF2BC084-E6DB-4DE7-B309-042A85EBA700}"/>
              </a:ext>
            </a:extLst>
          </p:cNvPr>
          <p:cNvSpPr>
            <a:spLocks noGrp="1"/>
          </p:cNvSpPr>
          <p:nvPr>
            <p:ph sz="half" idx="1"/>
          </p:nvPr>
        </p:nvSpPr>
        <p:spPr>
          <a:xfrm>
            <a:off x="444500" y="1099376"/>
            <a:ext cx="5184437" cy="4659248"/>
          </a:xfrm>
        </p:spPr>
        <p:txBody>
          <a:bodyPr>
            <a:normAutofit/>
          </a:bodyPr>
          <a:lstStyle/>
          <a:p>
            <a:r>
              <a:rPr lang="en-US" b="1" dirty="0">
                <a:solidFill>
                  <a:srgbClr val="FF0000"/>
                </a:solidFill>
              </a:rPr>
              <a:t>Local Localization</a:t>
            </a:r>
            <a:r>
              <a:rPr lang="en-US" b="1" dirty="0"/>
              <a:t>: </a:t>
            </a:r>
            <a:r>
              <a:rPr lang="en-US" dirty="0"/>
              <a:t>Local localization assumes that the robot has an approximate initial pose estimate. The task is to refine this estimate as the robot navigates. Kalman filters, extended Kalman filters (EKF), and iterative closest point (ICP) algorithms are used for local localization.</a:t>
            </a:r>
          </a:p>
        </p:txBody>
      </p:sp>
      <p:pic>
        <p:nvPicPr>
          <p:cNvPr id="5" name="Picture 4" descr="A diagram of a robot&#10;&#10;Description automatically generated">
            <a:extLst>
              <a:ext uri="{FF2B5EF4-FFF2-40B4-BE49-F238E27FC236}">
                <a16:creationId xmlns:a16="http://schemas.microsoft.com/office/drawing/2014/main" id="{46F282EA-60E0-69E4-6E9A-0DB386B35388}"/>
              </a:ext>
            </a:extLst>
          </p:cNvPr>
          <p:cNvPicPr>
            <a:picLocks noChangeAspect="1"/>
          </p:cNvPicPr>
          <p:nvPr/>
        </p:nvPicPr>
        <p:blipFill>
          <a:blip r:embed="rId4"/>
          <a:stretch>
            <a:fillRect/>
          </a:stretch>
        </p:blipFill>
        <p:spPr>
          <a:xfrm>
            <a:off x="6474163" y="1204935"/>
            <a:ext cx="5184437" cy="4341965"/>
          </a:xfrm>
          <a:prstGeom prst="rect">
            <a:avLst/>
          </a:prstGeom>
          <a:noFill/>
        </p:spPr>
      </p:pic>
    </p:spTree>
    <p:extLst>
      <p:ext uri="{BB962C8B-B14F-4D97-AF65-F5344CB8AC3E}">
        <p14:creationId xmlns:p14="http://schemas.microsoft.com/office/powerpoint/2010/main" val="229379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789727A2-B056-E6C0-A338-48CA22BC7D44}"/>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203680"/>
            <a:ext cx="11214100" cy="590931"/>
          </a:xfrm>
        </p:spPr>
        <p:txBody>
          <a:bodyPr/>
          <a:lstStyle/>
          <a:p>
            <a:r>
              <a:rPr lang="en-US" sz="3600" dirty="0">
                <a:solidFill>
                  <a:srgbClr val="FF0000"/>
                </a:solidFill>
              </a:rPr>
              <a:t>Loop Closure &amp; Optimization</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500" y="1216404"/>
            <a:ext cx="9983016" cy="4846739"/>
          </a:xfrm>
        </p:spPr>
        <p:txBody>
          <a:bodyPr/>
          <a:lstStyle/>
          <a:p>
            <a:r>
              <a:rPr lang="en-US" sz="2400" dirty="0"/>
              <a:t>The primary goal of loop closure is to correct any accumulated errors in the map and pose estimates, thereby ensuring the overall consistency and accuracy of the SLAM system</a:t>
            </a:r>
          </a:p>
          <a:p>
            <a:endParaRPr lang="en-US" sz="2400" dirty="0"/>
          </a:p>
          <a:p>
            <a:r>
              <a:rPr lang="en-US" sz="2400" dirty="0"/>
              <a:t>loop closure detection and optimization are critical components of SLAM that work together to maintain accuracy and reliability in mapping and localization</a:t>
            </a:r>
          </a:p>
          <a:p>
            <a:r>
              <a:rPr lang="en-US" sz="2400" dirty="0"/>
              <a:t>Loop closure identifies revisited locations and inconsistencies, while optimization adjusts pose estimates and map features to align with sensor data and minimize errors.</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23</a:t>
            </a:fld>
            <a:endParaRPr lang="en-US" dirty="0"/>
          </a:p>
        </p:txBody>
      </p:sp>
    </p:spTree>
    <p:extLst>
      <p:ext uri="{BB962C8B-B14F-4D97-AF65-F5344CB8AC3E}">
        <p14:creationId xmlns:p14="http://schemas.microsoft.com/office/powerpoint/2010/main" val="2786190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EA0A9436-A1E0-19C0-B11D-4D8B105745FF}"/>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dirty="0"/>
          </a:p>
        </p:txBody>
      </p:sp>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258146"/>
            <a:ext cx="11214100" cy="535531"/>
          </a:xfrm>
        </p:spPr>
        <p:txBody>
          <a:bodyPr/>
          <a:lstStyle/>
          <a:p>
            <a:r>
              <a:rPr lang="en-US" sz="3200" dirty="0">
                <a:solidFill>
                  <a:srgbClr val="FF0000"/>
                </a:solidFill>
              </a:rPr>
              <a:t>Loop Closure</a:t>
            </a:r>
            <a:endParaRPr lang="en-US" dirty="0">
              <a:solidFill>
                <a:srgbClr val="FF0000"/>
              </a:solidFill>
            </a:endParaRP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24</a:t>
            </a:fld>
            <a:endParaRPr lang="en-US" dirty="0"/>
          </a:p>
        </p:txBody>
      </p:sp>
      <p:sp>
        <p:nvSpPr>
          <p:cNvPr id="5" name="Text Placeholder 9">
            <a:extLst>
              <a:ext uri="{FF2B5EF4-FFF2-40B4-BE49-F238E27FC236}">
                <a16:creationId xmlns:a16="http://schemas.microsoft.com/office/drawing/2014/main" id="{1FFB2512-4BE5-EABA-7F05-01F951EFBA7B}"/>
              </a:ext>
            </a:extLst>
          </p:cNvPr>
          <p:cNvSpPr>
            <a:spLocks noGrp="1"/>
          </p:cNvSpPr>
          <p:nvPr>
            <p:ph type="body" sz="quarter" idx="13"/>
          </p:nvPr>
        </p:nvSpPr>
        <p:spPr>
          <a:xfrm>
            <a:off x="335560" y="587230"/>
            <a:ext cx="8154099" cy="4991450"/>
          </a:xfrm>
        </p:spPr>
        <p:txBody>
          <a:bodyPr/>
          <a:lstStyle/>
          <a:p>
            <a:pPr marL="457200" indent="-457200" algn="l">
              <a:buFont typeface="Arial" panose="020B0604020202020204" pitchFamily="34" charset="0"/>
              <a:buChar char="•"/>
            </a:pPr>
            <a:r>
              <a:rPr lang="en-US" sz="2800" b="1" dirty="0"/>
              <a:t>Detection</a:t>
            </a:r>
          </a:p>
          <a:p>
            <a:pPr marL="457200" indent="-457200" algn="l">
              <a:buFont typeface="Arial" panose="020B0604020202020204" pitchFamily="34" charset="0"/>
              <a:buChar char="•"/>
            </a:pPr>
            <a:endParaRPr lang="en-US" sz="2800" b="1" dirty="0"/>
          </a:p>
          <a:p>
            <a:pPr marL="457200" indent="-457200" algn="l">
              <a:buFont typeface="Arial" panose="020B0604020202020204" pitchFamily="34" charset="0"/>
              <a:buChar char="•"/>
            </a:pPr>
            <a:r>
              <a:rPr lang="en-US" sz="2800" b="1" dirty="0"/>
              <a:t>Correction</a:t>
            </a:r>
          </a:p>
          <a:p>
            <a:pPr marL="457200" indent="-457200" algn="l">
              <a:buFont typeface="Arial" panose="020B0604020202020204" pitchFamily="34" charset="0"/>
              <a:buChar char="•"/>
            </a:pPr>
            <a:endParaRPr lang="en-US" sz="2800" b="1" dirty="0"/>
          </a:p>
          <a:p>
            <a:pPr marL="457200" indent="-457200" algn="l">
              <a:buFont typeface="Arial" panose="020B0604020202020204" pitchFamily="34" charset="0"/>
              <a:buChar char="•"/>
            </a:pPr>
            <a:r>
              <a:rPr lang="en-US" sz="2800" b="1" dirty="0"/>
              <a:t>Loop Constraints</a:t>
            </a:r>
          </a:p>
          <a:p>
            <a:pPr marL="457200" indent="-457200" algn="l">
              <a:buFont typeface="Arial" panose="020B0604020202020204" pitchFamily="34" charset="0"/>
              <a:buChar char="•"/>
            </a:pPr>
            <a:endParaRPr lang="en-US" sz="2800" b="1" dirty="0"/>
          </a:p>
          <a:p>
            <a:pPr marL="457200" indent="-457200" algn="l">
              <a:buFont typeface="Arial" panose="020B0604020202020204" pitchFamily="34" charset="0"/>
              <a:buChar char="•"/>
            </a:pPr>
            <a:r>
              <a:rPr lang="en-US" sz="3200" b="1" i="0" dirty="0">
                <a:effectLst/>
                <a:latin typeface="Söhne"/>
              </a:rPr>
              <a:t>Graph Representation</a:t>
            </a:r>
            <a:endParaRPr lang="en-US" sz="2800" b="1" dirty="0"/>
          </a:p>
        </p:txBody>
      </p:sp>
      <p:pic>
        <p:nvPicPr>
          <p:cNvPr id="6" name="Picture 5">
            <a:extLst>
              <a:ext uri="{FF2B5EF4-FFF2-40B4-BE49-F238E27FC236}">
                <a16:creationId xmlns:a16="http://schemas.microsoft.com/office/drawing/2014/main" id="{F188F3D3-1590-246C-99ED-EA00505F7746}"/>
              </a:ext>
            </a:extLst>
          </p:cNvPr>
          <p:cNvPicPr>
            <a:picLocks noChangeAspect="1"/>
          </p:cNvPicPr>
          <p:nvPr/>
        </p:nvPicPr>
        <p:blipFill>
          <a:blip r:embed="rId3"/>
          <a:stretch>
            <a:fillRect/>
          </a:stretch>
        </p:blipFill>
        <p:spPr>
          <a:xfrm>
            <a:off x="4083023" y="409430"/>
            <a:ext cx="7842277" cy="3674377"/>
          </a:xfrm>
          <a:prstGeom prst="rect">
            <a:avLst/>
          </a:prstGeom>
        </p:spPr>
      </p:pic>
    </p:spTree>
    <p:extLst>
      <p:ext uri="{BB962C8B-B14F-4D97-AF65-F5344CB8AC3E}">
        <p14:creationId xmlns:p14="http://schemas.microsoft.com/office/powerpoint/2010/main" val="595823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666FF42-AA71-48DD-E68E-BE03532AF761}"/>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55394" y="266089"/>
            <a:ext cx="11214100" cy="590931"/>
          </a:xfrm>
        </p:spPr>
        <p:txBody>
          <a:bodyPr/>
          <a:lstStyle/>
          <a:p>
            <a:r>
              <a:rPr lang="en-US" sz="3600" dirty="0">
                <a:solidFill>
                  <a:srgbClr val="FF0000"/>
                </a:solidFill>
              </a:rPr>
              <a:t>Optimization</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343949" y="809455"/>
            <a:ext cx="8154099" cy="4991450"/>
          </a:xfrm>
        </p:spPr>
        <p:txBody>
          <a:bodyPr/>
          <a:lstStyle/>
          <a:p>
            <a:endParaRPr lang="en-US" sz="2400" dirty="0"/>
          </a:p>
          <a:p>
            <a:r>
              <a:rPr lang="en-US" sz="2800" b="1" dirty="0"/>
              <a:t>Graph-Based Optimization</a:t>
            </a:r>
          </a:p>
          <a:p>
            <a:endParaRPr lang="en-US" sz="2800" b="1" dirty="0"/>
          </a:p>
          <a:p>
            <a:endParaRPr lang="en-US" sz="2800" b="1" dirty="0"/>
          </a:p>
          <a:p>
            <a:r>
              <a:rPr lang="en-US" sz="2800" b="1" dirty="0"/>
              <a:t>Bundle Adjustment</a:t>
            </a:r>
          </a:p>
          <a:p>
            <a:endParaRPr lang="en-US" sz="2800" b="1" dirty="0"/>
          </a:p>
          <a:p>
            <a:endParaRPr lang="en-US" sz="2800" b="1" dirty="0"/>
          </a:p>
          <a:p>
            <a:r>
              <a:rPr lang="en-US" sz="2800" b="1" dirty="0"/>
              <a:t>Nonlinear Optimization</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25</a:t>
            </a:fld>
            <a:endParaRPr lang="en-US" dirty="0"/>
          </a:p>
        </p:txBody>
      </p:sp>
    </p:spTree>
    <p:extLst>
      <p:ext uri="{BB962C8B-B14F-4D97-AF65-F5344CB8AC3E}">
        <p14:creationId xmlns:p14="http://schemas.microsoft.com/office/powerpoint/2010/main" val="308741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3F564F1-CDF7-0EFA-F74E-A5C67CB76917}"/>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231" b="-231"/>
            </a:stretch>
          </a:blipFill>
        </p:spPr>
        <p:txBody>
          <a:bodyPr/>
          <a:lstStyle/>
          <a:p>
            <a:endParaRPr lang="en-US" dirty="0"/>
          </a:p>
        </p:txBody>
      </p:sp>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249311"/>
            <a:ext cx="11214100" cy="535531"/>
          </a:xfrm>
        </p:spPr>
        <p:txBody>
          <a:bodyPr/>
          <a:lstStyle/>
          <a:p>
            <a:r>
              <a:rPr lang="en-US" sz="3200" dirty="0">
                <a:solidFill>
                  <a:srgbClr val="FF0000"/>
                </a:solidFill>
              </a:rPr>
              <a:t>Loop Closure</a:t>
            </a:r>
            <a:endParaRPr lang="en-US" dirty="0">
              <a:solidFill>
                <a:srgbClr val="FF0000"/>
              </a:solidFill>
            </a:endParaRP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26</a:t>
            </a:fld>
            <a:endParaRPr lang="en-US" dirty="0"/>
          </a:p>
        </p:txBody>
      </p:sp>
      <p:pic>
        <p:nvPicPr>
          <p:cNvPr id="8" name="Editor — Clideo_3">
            <a:hlinkClick r:id="" action="ppaction://media"/>
            <a:extLst>
              <a:ext uri="{FF2B5EF4-FFF2-40B4-BE49-F238E27FC236}">
                <a16:creationId xmlns:a16="http://schemas.microsoft.com/office/drawing/2014/main" id="{871316F9-1DCF-C55F-0C5F-37D16EB9C46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505876" y="784842"/>
            <a:ext cx="8656313" cy="4865613"/>
          </a:xfrm>
          <a:prstGeom prst="rect">
            <a:avLst/>
          </a:prstGeom>
        </p:spPr>
      </p:pic>
    </p:spTree>
    <p:extLst>
      <p:ext uri="{BB962C8B-B14F-4D97-AF65-F5344CB8AC3E}">
        <p14:creationId xmlns:p14="http://schemas.microsoft.com/office/powerpoint/2010/main" val="1905329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568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CB9A7949-B5CF-5DA9-0679-738FFA446608}"/>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55394" y="177800"/>
            <a:ext cx="11214100" cy="590931"/>
          </a:xfrm>
        </p:spPr>
        <p:txBody>
          <a:bodyPr/>
          <a:lstStyle/>
          <a:p>
            <a:r>
              <a:rPr lang="en-US" sz="3600" dirty="0">
                <a:solidFill>
                  <a:srgbClr val="FF0000"/>
                </a:solidFill>
              </a:rPr>
              <a:t>SLAM Algorithms</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159392" y="933275"/>
            <a:ext cx="8917496" cy="4991450"/>
          </a:xfrm>
        </p:spPr>
        <p:txBody>
          <a:bodyPr/>
          <a:lstStyle/>
          <a:p>
            <a:r>
              <a:rPr lang="en-US" sz="1800" b="1" dirty="0">
                <a:solidFill>
                  <a:srgbClr val="FF0000"/>
                </a:solidFill>
              </a:rPr>
              <a:t>EKF-SLAM</a:t>
            </a:r>
            <a:r>
              <a:rPr lang="en-US" sz="1800" dirty="0"/>
              <a:t>: Uses Extended Kalman Filter, suitable for small to medium-sized environments.</a:t>
            </a:r>
          </a:p>
          <a:p>
            <a:r>
              <a:rPr lang="en-US" sz="1800" b="1" dirty="0" err="1">
                <a:solidFill>
                  <a:srgbClr val="FF0000"/>
                </a:solidFill>
              </a:rPr>
              <a:t>FastSLAM</a:t>
            </a:r>
            <a:r>
              <a:rPr lang="en-US" sz="1800" dirty="0"/>
              <a:t>: Employs particle filters for mapping with many landmarks.</a:t>
            </a:r>
          </a:p>
          <a:p>
            <a:r>
              <a:rPr lang="en-US" sz="1800" b="1" dirty="0">
                <a:solidFill>
                  <a:srgbClr val="FF0000"/>
                </a:solidFill>
              </a:rPr>
              <a:t>Graph-Based SLAM</a:t>
            </a:r>
            <a:r>
              <a:rPr lang="en-US" sz="1800" dirty="0"/>
              <a:t>: Represents the problem as a graph, flexible and extensible.</a:t>
            </a:r>
          </a:p>
          <a:p>
            <a:r>
              <a:rPr lang="en-US" sz="1800" b="1" dirty="0">
                <a:solidFill>
                  <a:srgbClr val="FF0000"/>
                </a:solidFill>
              </a:rPr>
              <a:t>ORB-SLAM</a:t>
            </a:r>
            <a:r>
              <a:rPr lang="en-US" sz="1800" dirty="0"/>
              <a:t>: Visual SLAM for RGB-D or monocular cameras, real-time performance.</a:t>
            </a:r>
          </a:p>
          <a:p>
            <a:r>
              <a:rPr lang="en-US" sz="1800" b="1" dirty="0">
                <a:solidFill>
                  <a:srgbClr val="FF0000"/>
                </a:solidFill>
              </a:rPr>
              <a:t>Hector SLAM</a:t>
            </a:r>
            <a:r>
              <a:rPr lang="en-US" sz="1800" dirty="0"/>
              <a:t>: 2D lidar-based, for indoor and dynamic environments.</a:t>
            </a:r>
          </a:p>
          <a:p>
            <a:r>
              <a:rPr lang="en-US" sz="1800" b="1" dirty="0">
                <a:solidFill>
                  <a:srgbClr val="FF0000"/>
                </a:solidFill>
              </a:rPr>
              <a:t>Google Cartographer</a:t>
            </a:r>
            <a:r>
              <a:rPr lang="en-US" sz="1800" dirty="0"/>
              <a:t>: Supports 2D and 3D mapping, versatile in indoor and outdoor scenarios.</a:t>
            </a:r>
          </a:p>
          <a:p>
            <a:r>
              <a:rPr lang="en-US" sz="1800" b="1" dirty="0">
                <a:solidFill>
                  <a:srgbClr val="FF0000"/>
                </a:solidFill>
              </a:rPr>
              <a:t>LiDAR-based SLAM</a:t>
            </a:r>
            <a:r>
              <a:rPr lang="en-US" sz="1800" dirty="0"/>
              <a:t>: Utilizes lidar scans for high accuracy in various environments.</a:t>
            </a:r>
          </a:p>
          <a:p>
            <a:r>
              <a:rPr lang="en-US" sz="1800" b="1" dirty="0">
                <a:solidFill>
                  <a:srgbClr val="FF0000"/>
                </a:solidFill>
              </a:rPr>
              <a:t>LSD-SLAM</a:t>
            </a:r>
            <a:r>
              <a:rPr lang="en-US" sz="1800" dirty="0"/>
              <a:t>: Direct visual SLAM, excels in large-scale and featureless environments.</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27</a:t>
            </a:fld>
            <a:endParaRPr lang="en-US" dirty="0"/>
          </a:p>
        </p:txBody>
      </p:sp>
    </p:spTree>
    <p:extLst>
      <p:ext uri="{BB962C8B-B14F-4D97-AF65-F5344CB8AC3E}">
        <p14:creationId xmlns:p14="http://schemas.microsoft.com/office/powerpoint/2010/main" val="1149716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914C3E18-C60E-9C70-709B-F584F30E92E8}"/>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241300" y="177800"/>
            <a:ext cx="11214100" cy="590931"/>
          </a:xfrm>
        </p:spPr>
        <p:txBody>
          <a:bodyPr/>
          <a:lstStyle/>
          <a:p>
            <a:r>
              <a:rPr lang="en-US" sz="3600" dirty="0">
                <a:solidFill>
                  <a:srgbClr val="FF0000"/>
                </a:solidFill>
              </a:rPr>
              <a:t>Selecting the Appropriate SLAM Algorithm</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241300" y="899719"/>
            <a:ext cx="9062091" cy="4991450"/>
          </a:xfrm>
        </p:spPr>
        <p:txBody>
          <a:bodyPr/>
          <a:lstStyle/>
          <a:p>
            <a:r>
              <a:rPr lang="en-US" sz="2400" b="1" dirty="0">
                <a:solidFill>
                  <a:srgbClr val="FF0000"/>
                </a:solidFill>
              </a:rPr>
              <a:t>Consider the sensor suite</a:t>
            </a:r>
            <a:r>
              <a:rPr lang="en-US" sz="2400" b="1" dirty="0"/>
              <a:t>: </a:t>
            </a:r>
            <a:r>
              <a:rPr lang="en-US" sz="2000" dirty="0"/>
              <a:t>Choose algorithms based on available sensors (e.g., cameras, lidar).</a:t>
            </a:r>
          </a:p>
          <a:p>
            <a:r>
              <a:rPr lang="en-US" sz="2400" b="1" dirty="0">
                <a:solidFill>
                  <a:srgbClr val="FF0000"/>
                </a:solidFill>
              </a:rPr>
              <a:t>Environment complexity</a:t>
            </a:r>
            <a:r>
              <a:rPr lang="en-US" sz="2400" b="1" dirty="0"/>
              <a:t>: </a:t>
            </a:r>
            <a:r>
              <a:rPr lang="en-US" sz="2000" dirty="0"/>
              <a:t>Assess the complexity of the mapping environment (e.g., indoor, outdoor, feature-rich, featureless).</a:t>
            </a:r>
          </a:p>
          <a:p>
            <a:r>
              <a:rPr lang="en-US" sz="2400" b="1" dirty="0">
                <a:solidFill>
                  <a:srgbClr val="FF0000"/>
                </a:solidFill>
              </a:rPr>
              <a:t>Real-time requirements</a:t>
            </a:r>
            <a:r>
              <a:rPr lang="en-US" sz="2400" b="1" dirty="0"/>
              <a:t>: </a:t>
            </a:r>
            <a:r>
              <a:rPr lang="en-US" sz="2000" dirty="0"/>
              <a:t>Ensure the chosen algorithm meets real-time performance needs.</a:t>
            </a:r>
          </a:p>
          <a:p>
            <a:r>
              <a:rPr lang="en-US" sz="2400" b="1" dirty="0">
                <a:solidFill>
                  <a:srgbClr val="FF0000"/>
                </a:solidFill>
              </a:rPr>
              <a:t>Computational resources</a:t>
            </a:r>
            <a:r>
              <a:rPr lang="en-US" sz="2400" b="1" dirty="0"/>
              <a:t>: </a:t>
            </a:r>
            <a:r>
              <a:rPr lang="en-US" sz="2000" dirty="0"/>
              <a:t>Consider the available computing power (e.g., CPU, GPU).</a:t>
            </a:r>
          </a:p>
          <a:p>
            <a:r>
              <a:rPr lang="en-US" sz="2400" b="1" dirty="0">
                <a:solidFill>
                  <a:srgbClr val="FF0000"/>
                </a:solidFill>
              </a:rPr>
              <a:t>Cost constraints</a:t>
            </a:r>
            <a:r>
              <a:rPr lang="en-US" sz="2400" b="1" dirty="0"/>
              <a:t>: </a:t>
            </a:r>
            <a:r>
              <a:rPr lang="en-US" sz="2000" dirty="0"/>
              <a:t>Evaluate sensor costs and budget limitations.</a:t>
            </a:r>
          </a:p>
          <a:p>
            <a:r>
              <a:rPr lang="en-US" sz="2400" b="1" dirty="0">
                <a:solidFill>
                  <a:srgbClr val="FF0000"/>
                </a:solidFill>
              </a:rPr>
              <a:t>Robustness</a:t>
            </a:r>
            <a:r>
              <a:rPr lang="en-US" sz="2400" b="1" dirty="0"/>
              <a:t>: </a:t>
            </a:r>
            <a:r>
              <a:rPr lang="en-US" sz="2000" dirty="0"/>
              <a:t>Choose algorithms that can handle dynamic obstacles or changing lighting conditions effectively.</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28</a:t>
            </a:fld>
            <a:endParaRPr lang="en-US" dirty="0"/>
          </a:p>
        </p:txBody>
      </p:sp>
    </p:spTree>
    <p:extLst>
      <p:ext uri="{BB962C8B-B14F-4D97-AF65-F5344CB8AC3E}">
        <p14:creationId xmlns:p14="http://schemas.microsoft.com/office/powerpoint/2010/main" val="3796615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B14D30C3-88EA-0FF2-3D28-719044EB1963}"/>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310276" y="187820"/>
            <a:ext cx="11214100" cy="590931"/>
          </a:xfrm>
        </p:spPr>
        <p:txBody>
          <a:bodyPr/>
          <a:lstStyle/>
          <a:p>
            <a:r>
              <a:rPr lang="en-US" sz="3600" dirty="0">
                <a:solidFill>
                  <a:srgbClr val="FF0000"/>
                </a:solidFill>
              </a:rPr>
              <a:t>Challenges In SLAM</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192946" y="870357"/>
            <a:ext cx="10880521" cy="5117285"/>
          </a:xfrm>
        </p:spPr>
        <p:txBody>
          <a:bodyPr/>
          <a:lstStyle/>
          <a:p>
            <a:r>
              <a:rPr lang="en-US" sz="2000" b="1" dirty="0">
                <a:solidFill>
                  <a:srgbClr val="FF0000"/>
                </a:solidFill>
              </a:rPr>
              <a:t>Sensor Noise</a:t>
            </a:r>
            <a:r>
              <a:rPr lang="en-US" sz="2000" b="1" dirty="0"/>
              <a:t>: </a:t>
            </a:r>
            <a:r>
              <a:rPr lang="en-US" sz="2000" dirty="0"/>
              <a:t>Inherent sensor noise can introduce errors into the robot's pose and map.</a:t>
            </a:r>
          </a:p>
          <a:p>
            <a:r>
              <a:rPr lang="en-US" sz="2000" b="1" dirty="0">
                <a:solidFill>
                  <a:srgbClr val="FF0000"/>
                </a:solidFill>
              </a:rPr>
              <a:t>Drift</a:t>
            </a:r>
            <a:r>
              <a:rPr lang="en-US" sz="2000" b="1" dirty="0"/>
              <a:t>: </a:t>
            </a:r>
            <a:r>
              <a:rPr lang="en-US" sz="2000" dirty="0"/>
              <a:t>Cumulative errors in pose estimation over time, known as drift, can lead to inaccuracies.</a:t>
            </a:r>
          </a:p>
          <a:p>
            <a:r>
              <a:rPr lang="en-US" sz="2000" b="1" dirty="0">
                <a:solidFill>
                  <a:srgbClr val="FF0000"/>
                </a:solidFill>
              </a:rPr>
              <a:t>Loop Closure</a:t>
            </a:r>
            <a:r>
              <a:rPr lang="en-US" sz="2000" b="1" dirty="0"/>
              <a:t>: </a:t>
            </a:r>
            <a:r>
              <a:rPr lang="en-US" sz="2000" dirty="0"/>
              <a:t>Correctly detecting and handling loop closures is crucial for map consistency.</a:t>
            </a:r>
          </a:p>
          <a:p>
            <a:r>
              <a:rPr lang="en-US" sz="2000" b="1" dirty="0">
                <a:solidFill>
                  <a:srgbClr val="FF0000"/>
                </a:solidFill>
              </a:rPr>
              <a:t>Dynamic Environments</a:t>
            </a:r>
            <a:r>
              <a:rPr lang="en-US" sz="2000" b="1" dirty="0"/>
              <a:t>: </a:t>
            </a:r>
            <a:r>
              <a:rPr lang="en-US" sz="2000" dirty="0"/>
              <a:t>Moving objects or changes in the environment can confuse SLAM algorithms.</a:t>
            </a:r>
          </a:p>
          <a:p>
            <a:r>
              <a:rPr lang="en-US" sz="2000" b="1" dirty="0">
                <a:solidFill>
                  <a:srgbClr val="FF0000"/>
                </a:solidFill>
              </a:rPr>
              <a:t>Computational Resources</a:t>
            </a:r>
            <a:r>
              <a:rPr lang="en-US" sz="2000" b="1" dirty="0"/>
              <a:t>: </a:t>
            </a:r>
            <a:r>
              <a:rPr lang="en-US" sz="2000" dirty="0"/>
              <a:t>SLAM can be computationally intensive, challenging real-time processing.</a:t>
            </a:r>
          </a:p>
          <a:p>
            <a:r>
              <a:rPr lang="en-US" sz="2000" b="1" dirty="0">
                <a:solidFill>
                  <a:srgbClr val="FF0000"/>
                </a:solidFill>
              </a:rPr>
              <a:t>Data Association</a:t>
            </a:r>
            <a:r>
              <a:rPr lang="en-US" sz="2000" b="1" dirty="0"/>
              <a:t>: </a:t>
            </a:r>
            <a:r>
              <a:rPr lang="en-US" sz="2000" dirty="0"/>
              <a:t>Associating sensor measurements with the correct features can be difficult.</a:t>
            </a:r>
          </a:p>
          <a:p>
            <a:r>
              <a:rPr lang="en-US" sz="2000" b="1" dirty="0">
                <a:solidFill>
                  <a:srgbClr val="FF0000"/>
                </a:solidFill>
              </a:rPr>
              <a:t>Lighting Conditions</a:t>
            </a:r>
            <a:r>
              <a:rPr lang="en-US" sz="2000" b="1" dirty="0"/>
              <a:t>: </a:t>
            </a:r>
            <a:r>
              <a:rPr lang="en-US" sz="2000" dirty="0"/>
              <a:t>Variations in lighting conditions can affect the performance of visual-based SLAM algorithms</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29</a:t>
            </a:fld>
            <a:endParaRPr lang="en-US" dirty="0"/>
          </a:p>
        </p:txBody>
      </p:sp>
    </p:spTree>
    <p:extLst>
      <p:ext uri="{BB962C8B-B14F-4D97-AF65-F5344CB8AC3E}">
        <p14:creationId xmlns:p14="http://schemas.microsoft.com/office/powerpoint/2010/main" val="1692185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0808D2-24D2-6B18-7E50-578793275A74}"/>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301887" y="235386"/>
            <a:ext cx="11214100" cy="590931"/>
          </a:xfrm>
        </p:spPr>
        <p:txBody>
          <a:bodyPr/>
          <a:lstStyle/>
          <a:p>
            <a:r>
              <a:rPr lang="en-US" sz="3600" dirty="0">
                <a:solidFill>
                  <a:srgbClr val="FF0000"/>
                </a:solidFill>
              </a:rPr>
              <a:t>SLAM Applications</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117446" y="530851"/>
            <a:ext cx="9940954" cy="5117285"/>
          </a:xfrm>
        </p:spPr>
        <p:txBody>
          <a:bodyPr/>
          <a:lstStyle/>
          <a:p>
            <a:endParaRPr lang="en-US" sz="2000" b="1" dirty="0"/>
          </a:p>
          <a:p>
            <a:r>
              <a:rPr lang="en-US" sz="2000" b="1" dirty="0">
                <a:solidFill>
                  <a:srgbClr val="FF0000"/>
                </a:solidFill>
              </a:rPr>
              <a:t>Autonomous Vehicles</a:t>
            </a:r>
            <a:r>
              <a:rPr lang="en-US" sz="2000" b="1" dirty="0"/>
              <a:t>: </a:t>
            </a:r>
            <a:r>
              <a:rPr lang="en-US" sz="2000" dirty="0"/>
              <a:t>Self-driving cars and drones for safe and precise navigation.</a:t>
            </a:r>
          </a:p>
          <a:p>
            <a:r>
              <a:rPr lang="en-US" sz="2000" b="1" dirty="0">
                <a:solidFill>
                  <a:srgbClr val="FF0000"/>
                </a:solidFill>
              </a:rPr>
              <a:t>Robotics</a:t>
            </a:r>
            <a:r>
              <a:rPr lang="en-US" sz="2000" b="1" dirty="0"/>
              <a:t>: </a:t>
            </a:r>
            <a:r>
              <a:rPr lang="en-US" sz="2000" dirty="0"/>
              <a:t>Autonomous robots for tasks in various industries.</a:t>
            </a:r>
          </a:p>
          <a:p>
            <a:r>
              <a:rPr lang="en-US" sz="2000" b="1" dirty="0">
                <a:solidFill>
                  <a:srgbClr val="FF0000"/>
                </a:solidFill>
              </a:rPr>
              <a:t>Augmented Reality (AR): </a:t>
            </a:r>
            <a:r>
              <a:rPr lang="en-US" sz="2000" dirty="0"/>
              <a:t>Enhancing real-world experiences with virtual information.</a:t>
            </a:r>
          </a:p>
          <a:p>
            <a:r>
              <a:rPr lang="en-US" sz="2000" b="1" dirty="0">
                <a:solidFill>
                  <a:srgbClr val="FF0000"/>
                </a:solidFill>
              </a:rPr>
              <a:t>Indoor Navigation</a:t>
            </a:r>
            <a:r>
              <a:rPr lang="en-US" sz="2000" b="1" dirty="0"/>
              <a:t>: </a:t>
            </a:r>
            <a:r>
              <a:rPr lang="en-US" sz="2000" dirty="0"/>
              <a:t>Helping people navigate large indoor spaces.</a:t>
            </a:r>
          </a:p>
          <a:p>
            <a:r>
              <a:rPr lang="en-US" sz="2000" b="1" dirty="0">
                <a:solidFill>
                  <a:srgbClr val="FF0000"/>
                </a:solidFill>
              </a:rPr>
              <a:t>Warehousing and Logistics</a:t>
            </a:r>
            <a:r>
              <a:rPr lang="en-US" sz="2000" b="1" dirty="0"/>
              <a:t>: </a:t>
            </a:r>
            <a:r>
              <a:rPr lang="en-US" sz="2000" dirty="0"/>
              <a:t>Efficient management of inventory and automation.</a:t>
            </a:r>
          </a:p>
          <a:p>
            <a:r>
              <a:rPr lang="en-US" sz="2000" b="1" dirty="0">
                <a:solidFill>
                  <a:srgbClr val="FF0000"/>
                </a:solidFill>
              </a:rPr>
              <a:t>Mining and Exploration</a:t>
            </a:r>
            <a:r>
              <a:rPr lang="en-US" sz="2000" b="1" dirty="0"/>
              <a:t>: </a:t>
            </a:r>
            <a:r>
              <a:rPr lang="en-US" sz="2000" dirty="0"/>
              <a:t>Navigating complex and hazardous terrains.</a:t>
            </a:r>
          </a:p>
          <a:p>
            <a:r>
              <a:rPr lang="en-US" sz="2000" b="1" dirty="0">
                <a:solidFill>
                  <a:srgbClr val="FF0000"/>
                </a:solidFill>
              </a:rPr>
              <a:t>Search and Rescue</a:t>
            </a:r>
            <a:r>
              <a:rPr lang="en-US" sz="2000" b="1" dirty="0"/>
              <a:t>: </a:t>
            </a:r>
            <a:r>
              <a:rPr lang="en-US" sz="2000" dirty="0"/>
              <a:t>Locating survivors in disaster-stricken areas.</a:t>
            </a:r>
          </a:p>
          <a:p>
            <a:r>
              <a:rPr lang="en-US" sz="2000" b="1" dirty="0">
                <a:solidFill>
                  <a:srgbClr val="FF0000"/>
                </a:solidFill>
              </a:rPr>
              <a:t>Underwater Exploration</a:t>
            </a:r>
            <a:r>
              <a:rPr lang="en-US" sz="2000" b="1" dirty="0"/>
              <a:t>: </a:t>
            </a:r>
            <a:r>
              <a:rPr lang="en-US" sz="2000" dirty="0"/>
              <a:t>Submersibles and remotely operated vehicles (ROVs) use SLAM to navigate and map the ocean floor.</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30</a:t>
            </a:fld>
            <a:endParaRPr lang="en-US" dirty="0"/>
          </a:p>
        </p:txBody>
      </p:sp>
    </p:spTree>
    <p:extLst>
      <p:ext uri="{BB962C8B-B14F-4D97-AF65-F5344CB8AC3E}">
        <p14:creationId xmlns:p14="http://schemas.microsoft.com/office/powerpoint/2010/main" val="3272488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BA5CC1A5-566E-956C-ED1B-98BFCAE6D579}"/>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dirty="0"/>
          </a:p>
        </p:txBody>
      </p:sp>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243620" y="229729"/>
            <a:ext cx="11214100" cy="535531"/>
          </a:xfrm>
        </p:spPr>
        <p:txBody>
          <a:bodyPr/>
          <a:lstStyle/>
          <a:p>
            <a:r>
              <a:rPr lang="en-US" sz="3200" dirty="0">
                <a:solidFill>
                  <a:srgbClr val="FF0000"/>
                </a:solidFill>
              </a:rPr>
              <a:t>SLAM Applications</a:t>
            </a:r>
            <a:endParaRPr lang="en-US" dirty="0">
              <a:solidFill>
                <a:srgbClr val="FF0000"/>
              </a:solidFill>
            </a:endParaRP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31</a:t>
            </a:fld>
            <a:endParaRPr lang="en-US" dirty="0"/>
          </a:p>
        </p:txBody>
      </p:sp>
      <p:pic>
        <p:nvPicPr>
          <p:cNvPr id="5" name="Picture 4">
            <a:extLst>
              <a:ext uri="{FF2B5EF4-FFF2-40B4-BE49-F238E27FC236}">
                <a16:creationId xmlns:a16="http://schemas.microsoft.com/office/drawing/2014/main" id="{C4E44081-37C5-BB81-7ED9-3715905B5A69}"/>
              </a:ext>
            </a:extLst>
          </p:cNvPr>
          <p:cNvPicPr>
            <a:picLocks noChangeAspect="1"/>
          </p:cNvPicPr>
          <p:nvPr/>
        </p:nvPicPr>
        <p:blipFill>
          <a:blip r:embed="rId3"/>
          <a:stretch>
            <a:fillRect/>
          </a:stretch>
        </p:blipFill>
        <p:spPr>
          <a:xfrm>
            <a:off x="243620" y="1348985"/>
            <a:ext cx="5852380" cy="4114600"/>
          </a:xfrm>
          <a:prstGeom prst="rect">
            <a:avLst/>
          </a:prstGeom>
        </p:spPr>
      </p:pic>
      <p:pic>
        <p:nvPicPr>
          <p:cNvPr id="7" name="Picture 6">
            <a:extLst>
              <a:ext uri="{FF2B5EF4-FFF2-40B4-BE49-F238E27FC236}">
                <a16:creationId xmlns:a16="http://schemas.microsoft.com/office/drawing/2014/main" id="{719753F1-C303-92B7-7A0B-690F2E88F2F5}"/>
              </a:ext>
            </a:extLst>
          </p:cNvPr>
          <p:cNvPicPr>
            <a:picLocks noChangeAspect="1"/>
          </p:cNvPicPr>
          <p:nvPr/>
        </p:nvPicPr>
        <p:blipFill>
          <a:blip r:embed="rId4"/>
          <a:stretch>
            <a:fillRect/>
          </a:stretch>
        </p:blipFill>
        <p:spPr>
          <a:xfrm>
            <a:off x="6096000" y="1348985"/>
            <a:ext cx="6096000" cy="4114600"/>
          </a:xfrm>
          <a:prstGeom prst="rect">
            <a:avLst/>
          </a:prstGeom>
        </p:spPr>
      </p:pic>
    </p:spTree>
    <p:extLst>
      <p:ext uri="{BB962C8B-B14F-4D97-AF65-F5344CB8AC3E}">
        <p14:creationId xmlns:p14="http://schemas.microsoft.com/office/powerpoint/2010/main" val="34411791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635D476-C964-37E8-B337-8F3945E607F9}"/>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1" b="-231"/>
            </a:stretch>
          </a:blipFill>
        </p:spPr>
        <p:txBody>
          <a:bodyPr/>
          <a:lstStyle/>
          <a:p>
            <a:endParaRPr lang="en-US" dirty="0"/>
          </a:p>
        </p:txBody>
      </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241300" y="235386"/>
            <a:ext cx="11214100" cy="590931"/>
          </a:xfrm>
        </p:spPr>
        <p:txBody>
          <a:bodyPr/>
          <a:lstStyle/>
          <a:p>
            <a:r>
              <a:rPr lang="en-US" sz="3600" dirty="0">
                <a:solidFill>
                  <a:srgbClr val="FF0000"/>
                </a:solidFill>
              </a:rPr>
              <a:t>Future Trends in SLAM</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241300" y="1128815"/>
            <a:ext cx="9011757" cy="5117285"/>
          </a:xfrm>
        </p:spPr>
        <p:txBody>
          <a:bodyPr/>
          <a:lstStyle/>
          <a:p>
            <a:pPr marL="0" indent="0">
              <a:buNone/>
            </a:pPr>
            <a:endParaRPr lang="en-US" sz="2000" b="1" dirty="0"/>
          </a:p>
          <a:p>
            <a:r>
              <a:rPr lang="en-US" sz="2800" b="1" i="0" dirty="0">
                <a:effectLst/>
                <a:latin typeface="Söhne"/>
              </a:rPr>
              <a:t>5G Integration</a:t>
            </a:r>
          </a:p>
          <a:p>
            <a:r>
              <a:rPr lang="en-US" sz="2800" b="1" i="0" dirty="0">
                <a:effectLst/>
                <a:latin typeface="Söhne"/>
              </a:rPr>
              <a:t>Edge Computing</a:t>
            </a:r>
            <a:endParaRPr lang="en-US" sz="2800" b="1" dirty="0">
              <a:latin typeface="Söhne"/>
            </a:endParaRPr>
          </a:p>
          <a:p>
            <a:r>
              <a:rPr lang="en-US" sz="2800" b="1" i="0" dirty="0">
                <a:effectLst/>
                <a:latin typeface="Söhne"/>
              </a:rPr>
              <a:t>Multi-Modal Sensing</a:t>
            </a:r>
          </a:p>
          <a:p>
            <a:r>
              <a:rPr lang="en-US" sz="2800" b="1" i="0" dirty="0">
                <a:effectLst/>
                <a:latin typeface="Söhne"/>
              </a:rPr>
              <a:t>AI and Deep Learning</a:t>
            </a:r>
            <a:endParaRPr lang="en-US" sz="2800" b="1" dirty="0">
              <a:latin typeface="Söhne"/>
            </a:endParaRPr>
          </a:p>
          <a:p>
            <a:r>
              <a:rPr lang="en-US" sz="2800" b="1" i="0" dirty="0">
                <a:effectLst/>
                <a:latin typeface="Söhne"/>
              </a:rPr>
              <a:t>Hardware Miniaturization</a:t>
            </a:r>
          </a:p>
          <a:p>
            <a:r>
              <a:rPr lang="en-US" sz="2800" b="1" i="0" dirty="0">
                <a:effectLst/>
                <a:latin typeface="Söhne"/>
              </a:rPr>
              <a:t>Collaborative Mapping</a:t>
            </a:r>
            <a:endParaRPr lang="en-US" sz="2800"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32</a:t>
            </a:fld>
            <a:endParaRPr lang="en-US" dirty="0"/>
          </a:p>
        </p:txBody>
      </p:sp>
    </p:spTree>
    <p:extLst>
      <p:ext uri="{BB962C8B-B14F-4D97-AF65-F5344CB8AC3E}">
        <p14:creationId xmlns:p14="http://schemas.microsoft.com/office/powerpoint/2010/main" val="2751724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3C1AED85-C8D9-9F2E-FCAA-16DE9B9C4F62}"/>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dirty="0"/>
          </a:p>
        </p:txBody>
      </p:sp>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4302842" y="2311250"/>
            <a:ext cx="2592908" cy="1243584"/>
          </a:xfrm>
        </p:spPr>
        <p:txBody>
          <a:bodyPr/>
          <a:lstStyle/>
          <a:p>
            <a:r>
              <a:rPr lang="en-US" sz="7200" dirty="0"/>
              <a:t>Q &amp; A</a:t>
            </a:r>
            <a:endParaRPr lang="en-GB" sz="7200"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953B0A64-0DC8-E6C8-8293-4FD11A71096F}"/>
              </a:ext>
            </a:extLst>
          </p:cNvPr>
          <p:cNvSpPr/>
          <p:nvPr/>
        </p:nvSpPr>
        <p:spPr>
          <a:xfrm>
            <a:off x="-67112" y="-67112"/>
            <a:ext cx="12259112" cy="69251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1" b="-231"/>
            </a:stretch>
          </a:blipFill>
        </p:spPr>
        <p:txBody>
          <a:bodyPr/>
          <a:lstStyle/>
          <a:p>
            <a:endParaRPr lang="en-US" dirty="0"/>
          </a:p>
        </p:txBody>
      </p:sp>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2">
      <a:majorFont>
        <a:latin typeface="Canva Sans Bold"/>
        <a:ea typeface=""/>
        <a:cs typeface=""/>
      </a:majorFont>
      <a:minorFont>
        <a:latin typeface="Canva Sans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Gallery</Template>
  <TotalTime>1131</TotalTime>
  <Words>1397</Words>
  <Application>Microsoft Office PowerPoint</Application>
  <PresentationFormat>Widescreen</PresentationFormat>
  <Paragraphs>208</Paragraphs>
  <Slides>34</Slides>
  <Notes>18</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Canva Sans Bold</vt:lpstr>
      <vt:lpstr>Glacial Indifference</vt:lpstr>
      <vt:lpstr>Glacial Indifference Bold</vt:lpstr>
      <vt:lpstr>Söhne</vt:lpstr>
      <vt:lpstr>Trade Gothic LT Pro</vt:lpstr>
      <vt:lpstr>Office Theme</vt:lpstr>
      <vt:lpstr>PowerPoint Presentation</vt:lpstr>
      <vt:lpstr>PowerPoint Presentation</vt:lpstr>
      <vt:lpstr>PowerPoint Presentation</vt:lpstr>
      <vt:lpstr>PowerPoint Presentation</vt:lpstr>
      <vt:lpstr>PowerPoint Presentation</vt:lpstr>
      <vt:lpstr>PowerPoint Presentation</vt:lpstr>
      <vt:lpstr>SLAM</vt:lpstr>
      <vt:lpstr>Introduction to SLAM</vt:lpstr>
      <vt:lpstr>SLAM Examples</vt:lpstr>
      <vt:lpstr>SLAM Examples</vt:lpstr>
      <vt:lpstr>Workflow of SLAM</vt:lpstr>
      <vt:lpstr>SLAM Flow chart</vt:lpstr>
      <vt:lpstr>Data Acquisition &amp; Feature Extraction</vt:lpstr>
      <vt:lpstr>Sensor Fusion</vt:lpstr>
      <vt:lpstr>Sensor Fusion</vt:lpstr>
      <vt:lpstr>Mapping</vt:lpstr>
      <vt:lpstr>Map Representation</vt:lpstr>
      <vt:lpstr>Map Representation</vt:lpstr>
      <vt:lpstr>Types of Mapping</vt:lpstr>
      <vt:lpstr>Localization</vt:lpstr>
      <vt:lpstr>Types of Localization in SLAM</vt:lpstr>
      <vt:lpstr>Types of Localization in SLAM</vt:lpstr>
      <vt:lpstr>Loop Closure &amp; Optimization</vt:lpstr>
      <vt:lpstr>Loop Closure</vt:lpstr>
      <vt:lpstr>Optimization</vt:lpstr>
      <vt:lpstr>Loop Closure</vt:lpstr>
      <vt:lpstr>SLAM Algorithms</vt:lpstr>
      <vt:lpstr>Selecting the Appropriate SLAM Algorithm</vt:lpstr>
      <vt:lpstr>Challenges In SLAM</vt:lpstr>
      <vt:lpstr>SLAM Applications</vt:lpstr>
      <vt:lpstr>SLAM Applications</vt:lpstr>
      <vt:lpstr>Future Trends in SLAM</vt:lpstr>
      <vt:lpstr>Q &amp; 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SLAM</dc:title>
  <dc:creator>Yousef Mohamed Asal</dc:creator>
  <cp:lastModifiedBy>Yousef Mohamed Asal</cp:lastModifiedBy>
  <cp:revision>11</cp:revision>
  <dcterms:created xsi:type="dcterms:W3CDTF">2023-09-15T13:11:50Z</dcterms:created>
  <dcterms:modified xsi:type="dcterms:W3CDTF">2023-09-28T20:26:45Z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