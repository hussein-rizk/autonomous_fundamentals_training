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44"/>
    <p:sldId id="257" r:id="rId45"/>
    <p:sldId id="258" r:id="rId46"/>
    <p:sldId id="259" r:id="rId47"/>
    <p:sldId id="260" r:id="rId48"/>
    <p:sldId id="261" r:id="rId49"/>
    <p:sldId id="262" r:id="rId50"/>
    <p:sldId id="263" r:id="rId51"/>
    <p:sldId id="264" r:id="rId52"/>
    <p:sldId id="265" r:id="rId53"/>
    <p:sldId id="266" r:id="rId54"/>
    <p:sldId id="267" r:id="rId55"/>
    <p:sldId id="268" r:id="rId56"/>
    <p:sldId id="269" r:id="rId57"/>
    <p:sldId id="270" r:id="rId58"/>
    <p:sldId id="271" r:id="rId59"/>
    <p:sldId id="272" r:id="rId60"/>
    <p:sldId id="273" r:id="rId61"/>
    <p:sldId id="274" r:id="rId62"/>
    <p:sldId id="275" r:id="rId63"/>
    <p:sldId id="276" r:id="rId64"/>
    <p:sldId id="277" r:id="rId65"/>
    <p:sldId id="278" r:id="rId66"/>
    <p:sldId id="279" r:id="rId67"/>
    <p:sldId id="280" r:id="rId68"/>
  </p:sldIdLst>
  <p:sldSz cx="18288000" cy="10287000"/>
  <p:notesSz cx="6858000" cy="9144000"/>
  <p:embeddedFontLst>
    <p:embeddedFont>
      <p:font typeface="Montserrat Classic" charset="1" panose="00000500000000000000"/>
      <p:regular r:id="rId6"/>
    </p:embeddedFont>
    <p:embeddedFont>
      <p:font typeface="Montserrat Classic Bold" charset="1" panose="00000800000000000000"/>
      <p:regular r:id="rId7"/>
    </p:embeddedFont>
    <p:embeddedFont>
      <p:font typeface="Glacial Indifference" charset="1" panose="00000000000000000000"/>
      <p:regular r:id="rId8"/>
    </p:embeddedFont>
    <p:embeddedFont>
      <p:font typeface="Glacial Indifference Bold" charset="1" panose="00000800000000000000"/>
      <p:regular r:id="rId9"/>
    </p:embeddedFont>
    <p:embeddedFont>
      <p:font typeface="Glacial Indifference Italics" charset="1" panose="00000000000000000000"/>
      <p:regular r:id="rId10"/>
    </p:embeddedFont>
    <p:embeddedFont>
      <p:font typeface="Glacial Indifference Bold Italics" charset="1" panose="00000800000000000000"/>
      <p:regular r:id="rId11"/>
    </p:embeddedFont>
    <p:embeddedFont>
      <p:font typeface="Arimo" charset="1" panose="020B0604020202020204"/>
      <p:regular r:id="rId12"/>
    </p:embeddedFont>
    <p:embeddedFont>
      <p:font typeface="Arimo Bold" charset="1" panose="020B0704020202020204"/>
      <p:regular r:id="rId13"/>
    </p:embeddedFont>
    <p:embeddedFont>
      <p:font typeface="Arimo Italics" charset="1" panose="020B0604020202090204"/>
      <p:regular r:id="rId14"/>
    </p:embeddedFont>
    <p:embeddedFont>
      <p:font typeface="Arimo Bold Italics" charset="1" panose="020B0704020202090204"/>
      <p:regular r:id="rId15"/>
    </p:embeddedFont>
    <p:embeddedFont>
      <p:font typeface="Canva Sans" charset="1" panose="020B0503030501040103"/>
      <p:regular r:id="rId16"/>
    </p:embeddedFont>
    <p:embeddedFont>
      <p:font typeface="Canva Sans Bold" charset="1" panose="020B0803030501040103"/>
      <p:regular r:id="rId17"/>
    </p:embeddedFont>
    <p:embeddedFont>
      <p:font typeface="Canva Sans Italics" charset="1" panose="020B0503030501040103"/>
      <p:regular r:id="rId18"/>
    </p:embeddedFont>
    <p:embeddedFont>
      <p:font typeface="Canva Sans Bold Italics" charset="1" panose="020B0803030501040103"/>
      <p:regular r:id="rId19"/>
    </p:embeddedFont>
    <p:embeddedFont>
      <p:font typeface="Canva Sans Medium" charset="1" panose="020B0603030501040103"/>
      <p:regular r:id="rId20"/>
    </p:embeddedFont>
    <p:embeddedFont>
      <p:font typeface="Canva Sans Medium Italics" charset="1" panose="020B0603030501040103"/>
      <p:regular r:id="rId21"/>
    </p:embeddedFont>
    <p:embeddedFont>
      <p:font typeface="Open Sauce" charset="1" panose="00000500000000000000"/>
      <p:regular r:id="rId22"/>
    </p:embeddedFont>
    <p:embeddedFont>
      <p:font typeface="Open Sauce Bold" charset="1" panose="00000800000000000000"/>
      <p:regular r:id="rId23"/>
    </p:embeddedFont>
    <p:embeddedFont>
      <p:font typeface="Open Sauce Italics" charset="1" panose="00000500000000000000"/>
      <p:regular r:id="rId24"/>
    </p:embeddedFont>
    <p:embeddedFont>
      <p:font typeface="Open Sauce Bold Italics" charset="1" panose="00000800000000000000"/>
      <p:regular r:id="rId25"/>
    </p:embeddedFont>
    <p:embeddedFont>
      <p:font typeface="Open Sauce Light" charset="1" panose="00000400000000000000"/>
      <p:regular r:id="rId26"/>
    </p:embeddedFont>
    <p:embeddedFont>
      <p:font typeface="Open Sauce Light Italics" charset="1" panose="00000400000000000000"/>
      <p:regular r:id="rId27"/>
    </p:embeddedFont>
    <p:embeddedFont>
      <p:font typeface="Open Sauce Medium" charset="1" panose="00000600000000000000"/>
      <p:regular r:id="rId28"/>
    </p:embeddedFont>
    <p:embeddedFont>
      <p:font typeface="Open Sauce Medium Italics" charset="1" panose="00000600000000000000"/>
      <p:regular r:id="rId29"/>
    </p:embeddedFont>
    <p:embeddedFont>
      <p:font typeface="Open Sauce Semi-Bold" charset="1" panose="00000700000000000000"/>
      <p:regular r:id="rId30"/>
    </p:embeddedFont>
    <p:embeddedFont>
      <p:font typeface="Open Sauce Semi-Bold Italics" charset="1" panose="00000700000000000000"/>
      <p:regular r:id="rId31"/>
    </p:embeddedFont>
    <p:embeddedFont>
      <p:font typeface="Open Sauce Heavy" charset="1" panose="00000A00000000000000"/>
      <p:regular r:id="rId32"/>
    </p:embeddedFont>
    <p:embeddedFont>
      <p:font typeface="Open Sauce Heavy Italics" charset="1" panose="00000A00000000000000"/>
      <p:regular r:id="rId33"/>
    </p:embeddedFont>
    <p:embeddedFont>
      <p:font typeface="HK Grotesk" charset="1" panose="00000500000000000000"/>
      <p:regular r:id="rId34"/>
    </p:embeddedFont>
    <p:embeddedFont>
      <p:font typeface="HK Grotesk Bold" charset="1" panose="00000800000000000000"/>
      <p:regular r:id="rId35"/>
    </p:embeddedFont>
    <p:embeddedFont>
      <p:font typeface="HK Grotesk Italics" charset="1" panose="00000500000000000000"/>
      <p:regular r:id="rId36"/>
    </p:embeddedFont>
    <p:embeddedFont>
      <p:font typeface="HK Grotesk Bold Italics" charset="1" panose="00000800000000000000"/>
      <p:regular r:id="rId37"/>
    </p:embeddedFont>
    <p:embeddedFont>
      <p:font typeface="HK Grotesk Light" charset="1" panose="00000400000000000000"/>
      <p:regular r:id="rId38"/>
    </p:embeddedFont>
    <p:embeddedFont>
      <p:font typeface="HK Grotesk Light Italics" charset="1" panose="00000400000000000000"/>
      <p:regular r:id="rId39"/>
    </p:embeddedFont>
    <p:embeddedFont>
      <p:font typeface="HK Grotesk Medium" charset="1" panose="00000600000000000000"/>
      <p:regular r:id="rId40"/>
    </p:embeddedFont>
    <p:embeddedFont>
      <p:font typeface="HK Grotesk Medium Italics" charset="1" panose="00000600000000000000"/>
      <p:regular r:id="rId41"/>
    </p:embeddedFont>
    <p:embeddedFont>
      <p:font typeface="HK Grotesk Semi-Bold" charset="1" panose="00000700000000000000"/>
      <p:regular r:id="rId42"/>
    </p:embeddedFont>
    <p:embeddedFont>
      <p:font typeface="HK Grotesk Semi-Bold Italics" charset="1" panose="0000070000000000000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slides/slide1.xml" Type="http://schemas.openxmlformats.org/officeDocument/2006/relationships/slide"/><Relationship Id="rId45" Target="slides/slide2.xml" Type="http://schemas.openxmlformats.org/officeDocument/2006/relationships/slide"/><Relationship Id="rId46" Target="slides/slide3.xml" Type="http://schemas.openxmlformats.org/officeDocument/2006/relationships/slide"/><Relationship Id="rId47" Target="slides/slide4.xml" Type="http://schemas.openxmlformats.org/officeDocument/2006/relationships/slide"/><Relationship Id="rId48" Target="slides/slide5.xml" Type="http://schemas.openxmlformats.org/officeDocument/2006/relationships/slide"/><Relationship Id="rId49" Target="slides/slide6.xml" Type="http://schemas.openxmlformats.org/officeDocument/2006/relationships/slide"/><Relationship Id="rId5" Target="tableStyles.xml" Type="http://schemas.openxmlformats.org/officeDocument/2006/relationships/tableStyles"/><Relationship Id="rId50" Target="slides/slide7.xml" Type="http://schemas.openxmlformats.org/officeDocument/2006/relationships/slide"/><Relationship Id="rId51" Target="slides/slide8.xml" Type="http://schemas.openxmlformats.org/officeDocument/2006/relationships/slide"/><Relationship Id="rId52" Target="slides/slide9.xml" Type="http://schemas.openxmlformats.org/officeDocument/2006/relationships/slide"/><Relationship Id="rId53" Target="slides/slide10.xml" Type="http://schemas.openxmlformats.org/officeDocument/2006/relationships/slide"/><Relationship Id="rId54" Target="slides/slide11.xml" Type="http://schemas.openxmlformats.org/officeDocument/2006/relationships/slide"/><Relationship Id="rId55" Target="slides/slide12.xml" Type="http://schemas.openxmlformats.org/officeDocument/2006/relationships/slide"/><Relationship Id="rId56" Target="slides/slide13.xml" Type="http://schemas.openxmlformats.org/officeDocument/2006/relationships/slide"/><Relationship Id="rId57" Target="slides/slide14.xml" Type="http://schemas.openxmlformats.org/officeDocument/2006/relationships/slide"/><Relationship Id="rId58" Target="slides/slide15.xml" Type="http://schemas.openxmlformats.org/officeDocument/2006/relationships/slide"/><Relationship Id="rId59" Target="slides/slide16.xml" Type="http://schemas.openxmlformats.org/officeDocument/2006/relationships/slide"/><Relationship Id="rId6" Target="fonts/font6.fntdata" Type="http://schemas.openxmlformats.org/officeDocument/2006/relationships/font"/><Relationship Id="rId60" Target="slides/slide17.xml" Type="http://schemas.openxmlformats.org/officeDocument/2006/relationships/slide"/><Relationship Id="rId61" Target="slides/slide18.xml" Type="http://schemas.openxmlformats.org/officeDocument/2006/relationships/slide"/><Relationship Id="rId62" Target="slides/slide19.xml" Type="http://schemas.openxmlformats.org/officeDocument/2006/relationships/slide"/><Relationship Id="rId63" Target="slides/slide20.xml" Type="http://schemas.openxmlformats.org/officeDocument/2006/relationships/slide"/><Relationship Id="rId64" Target="slides/slide21.xml" Type="http://schemas.openxmlformats.org/officeDocument/2006/relationships/slide"/><Relationship Id="rId65" Target="slides/slide22.xml" Type="http://schemas.openxmlformats.org/officeDocument/2006/relationships/slide"/><Relationship Id="rId66" Target="slides/slide23.xml" Type="http://schemas.openxmlformats.org/officeDocument/2006/relationships/slide"/><Relationship Id="rId67" Target="slides/slide24.xml" Type="http://schemas.openxmlformats.org/officeDocument/2006/relationships/slide"/><Relationship Id="rId68" Target="slides/slide25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jpeg" Type="http://schemas.openxmlformats.org/officeDocument/2006/relationships/image"/><Relationship Id="rId7" Target="../media/image12.jpeg" Type="http://schemas.openxmlformats.org/officeDocument/2006/relationships/image"/><Relationship Id="rId8" Target="../media/image13.jpeg" Type="http://schemas.openxmlformats.org/officeDocument/2006/relationships/image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4.png" Type="http://schemas.openxmlformats.org/officeDocument/2006/relationships/image"/><Relationship Id="rId6" Target="../media/image15.jpeg" Type="http://schemas.openxmlformats.org/officeDocument/2006/relationships/image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5.jpeg" Type="http://schemas.openxmlformats.org/officeDocument/2006/relationships/image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jpeg" Type="http://schemas.openxmlformats.org/officeDocument/2006/relationships/imag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6.jpeg" Type="http://schemas.openxmlformats.org/officeDocument/2006/relationships/image"/><Relationship Id="rId4" Target="../media/image27.png" Type="http://schemas.openxmlformats.org/officeDocument/2006/relationships/image"/><Relationship Id="rId5" Target="../media/image28.jpeg" Type="http://schemas.openxmlformats.org/officeDocument/2006/relationships/image"/><Relationship Id="rId6" Target="../media/image29.jpeg" Type="http://schemas.openxmlformats.org/officeDocument/2006/relationships/imag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0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2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/Relationships>
</file>

<file path=ppt/slides/_rels/slide2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5.png" Type="http://schemas.openxmlformats.org/officeDocument/2006/relationships/image"/></Relationships>
</file>

<file path=ppt/slides/_rels/slide2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6.png" Type="http://schemas.openxmlformats.org/officeDocument/2006/relationships/image"/></Relationships>
</file>

<file path=ppt/slides/_rels/slide2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1" r="0" b="-2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66048" y="1095510"/>
            <a:ext cx="7555903" cy="7555903"/>
          </a:xfrm>
          <a:custGeom>
            <a:avLst/>
            <a:gdLst/>
            <a:ahLst/>
            <a:cxnLst/>
            <a:rect r="r" b="b" t="t" l="l"/>
            <a:pathLst>
              <a:path h="7555903" w="7555903">
                <a:moveTo>
                  <a:pt x="0" y="0"/>
                </a:moveTo>
                <a:lnTo>
                  <a:pt x="7555904" y="0"/>
                </a:lnTo>
                <a:lnTo>
                  <a:pt x="7555904" y="7555904"/>
                </a:lnTo>
                <a:lnTo>
                  <a:pt x="0" y="75559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1" r="0" b="-23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04521" y="3519806"/>
            <a:ext cx="15478959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800"/>
              </a:lnSpc>
              <a:spcBef>
                <a:spcPct val="0"/>
              </a:spcBef>
            </a:pPr>
            <a:r>
              <a:rPr lang="en-US" sz="12000">
                <a:solidFill>
                  <a:srgbClr val="000000"/>
                </a:solidFill>
                <a:latin typeface="Canva Sans Bold"/>
              </a:rPr>
              <a:t>Autonomous System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1" r="0" b="-23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565778"/>
            <a:ext cx="16995737" cy="7295981"/>
            <a:chOff x="0" y="0"/>
            <a:chExt cx="22660983" cy="972797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9050"/>
              <a:ext cx="22660983" cy="164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0"/>
                </a:lnSpc>
              </a:pPr>
              <a:r>
                <a:rPr lang="en-US" sz="8000" spc="416">
                  <a:solidFill>
                    <a:srgbClr val="000000"/>
                  </a:solidFill>
                  <a:latin typeface="Glacial Indifference Bold"/>
                </a:rPr>
                <a:t>RULES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572711"/>
              <a:ext cx="22660983" cy="81552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marL="928368" indent="-464184" lvl="1">
                <a:lnSpc>
                  <a:spcPts val="8298"/>
                </a:lnSpc>
                <a:buFont typeface="Arial"/>
                <a:buChar char="•"/>
              </a:pPr>
              <a:r>
                <a:rPr lang="en-US" sz="4299">
                  <a:solidFill>
                    <a:srgbClr val="000000"/>
                  </a:solidFill>
                  <a:latin typeface="Glacial Indifference"/>
                </a:rPr>
                <a:t>No side talks</a:t>
              </a:r>
            </a:p>
            <a:p>
              <a:pPr algn="l" marL="928368" indent="-464184" lvl="1">
                <a:lnSpc>
                  <a:spcPts val="8298"/>
                </a:lnSpc>
                <a:buFont typeface="Arial"/>
                <a:buChar char="•"/>
              </a:pPr>
              <a:r>
                <a:rPr lang="en-US" sz="4299">
                  <a:solidFill>
                    <a:srgbClr val="000000"/>
                  </a:solidFill>
                  <a:latin typeface="Glacial Indifference"/>
                </a:rPr>
                <a:t>Phones are in silent mode</a:t>
              </a:r>
            </a:p>
            <a:p>
              <a:pPr algn="l" marL="928368" indent="-464184" lvl="1">
                <a:lnSpc>
                  <a:spcPts val="8298"/>
                </a:lnSpc>
                <a:buFont typeface="Arial"/>
                <a:buChar char="•"/>
              </a:pPr>
              <a:r>
                <a:rPr lang="en-US" sz="4299">
                  <a:solidFill>
                    <a:srgbClr val="000000"/>
                  </a:solidFill>
                  <a:latin typeface="Glacial Indifference"/>
                </a:rPr>
                <a:t>Questions after each slide</a:t>
              </a:r>
            </a:p>
            <a:p>
              <a:pPr algn="l" marL="928368" indent="-464184" lvl="1">
                <a:lnSpc>
                  <a:spcPts val="8298"/>
                </a:lnSpc>
                <a:buFont typeface="Arial"/>
                <a:buChar char="•"/>
              </a:pPr>
              <a:r>
                <a:rPr lang="en-US" sz="4299">
                  <a:solidFill>
                    <a:srgbClr val="000000"/>
                  </a:solidFill>
                  <a:latin typeface="Glacial Indifference"/>
                </a:rPr>
                <a:t>Take permission before leaving</a:t>
              </a:r>
            </a:p>
            <a:p>
              <a:pPr algn="l" marL="928368" indent="-464184" lvl="1">
                <a:lnSpc>
                  <a:spcPts val="8298"/>
                </a:lnSpc>
                <a:buFont typeface="Arial"/>
                <a:buChar char="•"/>
              </a:pPr>
              <a:r>
                <a:rPr lang="en-US" sz="4299">
                  <a:solidFill>
                    <a:srgbClr val="000000"/>
                  </a:solidFill>
                  <a:latin typeface="Glacial Indifference"/>
                </a:rPr>
                <a:t>There will be a break during the session if you want to eat or drink</a:t>
              </a:r>
            </a:p>
            <a:p>
              <a:pPr algn="l" marL="928368" indent="-464184" lvl="1">
                <a:lnSpc>
                  <a:spcPts val="8298"/>
                </a:lnSpc>
                <a:buFont typeface="Arial"/>
                <a:buChar char="•"/>
              </a:pPr>
              <a:r>
                <a:rPr lang="en-US" sz="4299">
                  <a:solidFill>
                    <a:srgbClr val="000000"/>
                  </a:solidFill>
                  <a:latin typeface="Glacial Indifference"/>
                </a:rPr>
                <a:t>Make sure to take notes about what is discussed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1" r="0" b="-23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2348812"/>
            <a:ext cx="18288000" cy="482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Canva Sans Bold"/>
              </a:rPr>
              <a:t>Session 3</a:t>
            </a:r>
          </a:p>
          <a:p>
            <a:pPr algn="ctr" marL="0" indent="0" lvl="0">
              <a:lnSpc>
                <a:spcPts val="12880"/>
              </a:lnSpc>
              <a:spcBef>
                <a:spcPct val="0"/>
              </a:spcBef>
            </a:pPr>
            <a:r>
              <a:rPr lang="en-US" sz="9200">
                <a:solidFill>
                  <a:srgbClr val="000000"/>
                </a:solidFill>
                <a:latin typeface="Canva Sans Bold"/>
              </a:rPr>
              <a:t>“Introduction to perception for autonomous vehicles”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1" r="0" b="-231"/>
            </a:stretch>
          </a:blipFill>
        </p:spPr>
      </p:sp>
      <p:sp>
        <p:nvSpPr>
          <p:cNvPr name="AutoShape 3" id="3"/>
          <p:cNvSpPr/>
          <p:nvPr/>
        </p:nvSpPr>
        <p:spPr>
          <a:xfrm rot="-5400000">
            <a:off x="12303317" y="1700937"/>
            <a:ext cx="4877046" cy="5116262"/>
          </a:xfrm>
          <a:prstGeom prst="rect">
            <a:avLst/>
          </a:prstGeom>
          <a:solidFill>
            <a:srgbClr val="CF3D33"/>
          </a:solidFill>
          <a:ln cap="sq">
            <a:noFill/>
            <a:prstDash val="solid"/>
            <a:miter/>
          </a:ln>
        </p:spPr>
      </p:sp>
      <p:sp>
        <p:nvSpPr>
          <p:cNvPr name="AutoShape 4" id="4"/>
          <p:cNvSpPr/>
          <p:nvPr/>
        </p:nvSpPr>
        <p:spPr>
          <a:xfrm rot="-5400000">
            <a:off x="12386493" y="2253794"/>
            <a:ext cx="4741481" cy="4472574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Freeform 5" id="5"/>
          <p:cNvSpPr/>
          <p:nvPr/>
        </p:nvSpPr>
        <p:spPr>
          <a:xfrm flipH="false" flipV="false" rot="0">
            <a:off x="12520946" y="2119341"/>
            <a:ext cx="4472574" cy="4578250"/>
          </a:xfrm>
          <a:custGeom>
            <a:avLst/>
            <a:gdLst/>
            <a:ahLst/>
            <a:cxnLst/>
            <a:rect r="r" b="b" t="t" l="l"/>
            <a:pathLst>
              <a:path h="4578250" w="4472574">
                <a:moveTo>
                  <a:pt x="0" y="0"/>
                </a:moveTo>
                <a:lnTo>
                  <a:pt x="4472575" y="0"/>
                </a:lnTo>
                <a:lnTo>
                  <a:pt x="4472575" y="4578250"/>
                </a:lnTo>
                <a:lnTo>
                  <a:pt x="0" y="4578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81" t="0" r="-1181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4062" y="933450"/>
            <a:ext cx="661547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About the instructor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89854" y="2358364"/>
            <a:ext cx="357544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cs typeface="Canva Sans"/>
              </a:rPr>
              <a:t>ٍHR member 2021</a:t>
            </a:r>
          </a:p>
        </p:txBody>
      </p:sp>
      <p:sp>
        <p:nvSpPr>
          <p:cNvPr name="AutoShape 8" id="8"/>
          <p:cNvSpPr/>
          <p:nvPr/>
        </p:nvSpPr>
        <p:spPr>
          <a:xfrm>
            <a:off x="-5463540" y="2681896"/>
            <a:ext cx="6492240" cy="0"/>
          </a:xfrm>
          <a:prstGeom prst="line">
            <a:avLst/>
          </a:prstGeom>
          <a:ln cap="flat" w="371475">
            <a:solidFill>
              <a:srgbClr val="CF3D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-5376368" y="3889952"/>
            <a:ext cx="6492240" cy="0"/>
          </a:xfrm>
          <a:prstGeom prst="line">
            <a:avLst/>
          </a:prstGeom>
          <a:ln cap="flat" w="371475">
            <a:solidFill>
              <a:srgbClr val="CF3D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-5376368" y="6788351"/>
            <a:ext cx="6492240" cy="0"/>
          </a:xfrm>
          <a:prstGeom prst="line">
            <a:avLst/>
          </a:prstGeom>
          <a:ln cap="flat" w="371475">
            <a:solidFill>
              <a:srgbClr val="CF3D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389854" y="3566419"/>
            <a:ext cx="805195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cs typeface="Canva Sans"/>
              </a:rPr>
              <a:t>ٍSuspension and steering member 2021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89854" y="6393698"/>
            <a:ext cx="416706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Team Manager 2022</a:t>
            </a:r>
          </a:p>
        </p:txBody>
      </p:sp>
      <p:sp>
        <p:nvSpPr>
          <p:cNvPr name="AutoShape 13" id="13"/>
          <p:cNvSpPr/>
          <p:nvPr/>
        </p:nvSpPr>
        <p:spPr>
          <a:xfrm>
            <a:off x="-5376368" y="8092265"/>
            <a:ext cx="6492240" cy="0"/>
          </a:xfrm>
          <a:prstGeom prst="line">
            <a:avLst/>
          </a:prstGeom>
          <a:ln cap="flat" w="371475">
            <a:solidFill>
              <a:srgbClr val="CF3D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477026" y="7697612"/>
            <a:ext cx="692134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Autonomous Subteam head 2023</a:t>
            </a:r>
          </a:p>
        </p:txBody>
      </p:sp>
      <p:sp>
        <p:nvSpPr>
          <p:cNvPr name="AutoShape 15" id="15"/>
          <p:cNvSpPr/>
          <p:nvPr/>
        </p:nvSpPr>
        <p:spPr>
          <a:xfrm>
            <a:off x="-5376368" y="5365316"/>
            <a:ext cx="6492240" cy="0"/>
          </a:xfrm>
          <a:prstGeom prst="line">
            <a:avLst/>
          </a:prstGeom>
          <a:ln cap="flat" w="371475">
            <a:solidFill>
              <a:srgbClr val="CF3D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389854" y="5041783"/>
            <a:ext cx="1045833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Participated in EVER Egypt Rally competition 2021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1" r="0" b="-2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90875" y="2770421"/>
            <a:ext cx="5531348" cy="2701356"/>
          </a:xfrm>
          <a:custGeom>
            <a:avLst/>
            <a:gdLst/>
            <a:ahLst/>
            <a:cxnLst/>
            <a:rect r="r" b="b" t="t" l="l"/>
            <a:pathLst>
              <a:path h="2701356" w="5531348">
                <a:moveTo>
                  <a:pt x="0" y="0"/>
                </a:moveTo>
                <a:lnTo>
                  <a:pt x="5531347" y="0"/>
                </a:lnTo>
                <a:lnTo>
                  <a:pt x="5531347" y="2701356"/>
                </a:lnTo>
                <a:lnTo>
                  <a:pt x="0" y="27013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1" t="0" r="-101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-5382038" y="2898482"/>
            <a:ext cx="6492240" cy="0"/>
          </a:xfrm>
          <a:prstGeom prst="line">
            <a:avLst/>
          </a:prstGeom>
          <a:ln cap="flat" w="371475">
            <a:solidFill>
              <a:srgbClr val="CF3D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-5382038" y="3885041"/>
            <a:ext cx="6492240" cy="0"/>
          </a:xfrm>
          <a:prstGeom prst="line">
            <a:avLst/>
          </a:prstGeom>
          <a:ln cap="flat" w="371475">
            <a:solidFill>
              <a:srgbClr val="CF3D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59775" y="933450"/>
            <a:ext cx="982503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What are Information needed?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8903" y="2532705"/>
            <a:ext cx="988973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Location of pedestrians standing on the street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8903" y="3519263"/>
            <a:ext cx="878386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Vehicles around such as cars and trucks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8903" y="6637832"/>
            <a:ext cx="15800397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This is useful determining the behavior or planning of the driver’s motion also the control approach</a:t>
            </a:r>
          </a:p>
        </p:txBody>
      </p:sp>
      <p:sp>
        <p:nvSpPr>
          <p:cNvPr name="AutoShape 10" id="10"/>
          <p:cNvSpPr/>
          <p:nvPr/>
        </p:nvSpPr>
        <p:spPr>
          <a:xfrm>
            <a:off x="-5382038" y="4875006"/>
            <a:ext cx="6492240" cy="0"/>
          </a:xfrm>
          <a:prstGeom prst="line">
            <a:avLst/>
          </a:prstGeom>
          <a:ln cap="flat" w="371475">
            <a:solidFill>
              <a:srgbClr val="CF3D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458903" y="4509229"/>
            <a:ext cx="8783865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Understanding traffic signs to know where we go and what we should do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1" r="0" b="-231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5382038" y="2898482"/>
            <a:ext cx="6492240" cy="0"/>
          </a:xfrm>
          <a:prstGeom prst="line">
            <a:avLst/>
          </a:prstGeom>
          <a:ln cap="flat" w="371475">
            <a:solidFill>
              <a:srgbClr val="CF3D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5382038" y="4527989"/>
            <a:ext cx="6492240" cy="0"/>
          </a:xfrm>
          <a:prstGeom prst="line">
            <a:avLst/>
          </a:prstGeom>
          <a:ln cap="flat" w="371475">
            <a:solidFill>
              <a:srgbClr val="CF3D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-5382038" y="6156129"/>
            <a:ext cx="6492240" cy="0"/>
          </a:xfrm>
          <a:prstGeom prst="line">
            <a:avLst/>
          </a:prstGeom>
          <a:ln cap="flat" w="371475">
            <a:solidFill>
              <a:srgbClr val="CF3D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348638" y="2565693"/>
            <a:ext cx="6396470" cy="3185693"/>
          </a:xfrm>
          <a:custGeom>
            <a:avLst/>
            <a:gdLst/>
            <a:ahLst/>
            <a:cxnLst/>
            <a:rect r="r" b="b" t="t" l="l"/>
            <a:pathLst>
              <a:path h="3185693" w="6396470">
                <a:moveTo>
                  <a:pt x="0" y="0"/>
                </a:moveTo>
                <a:lnTo>
                  <a:pt x="6396471" y="0"/>
                </a:lnTo>
                <a:lnTo>
                  <a:pt x="6396471" y="3185693"/>
                </a:lnTo>
                <a:lnTo>
                  <a:pt x="0" y="31856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059775" y="933450"/>
            <a:ext cx="972800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what are Information needed?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8903" y="2532705"/>
            <a:ext cx="988973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Detect drivable space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8903" y="4162211"/>
            <a:ext cx="878386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Detect the position of curbs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8903" y="5790351"/>
            <a:ext cx="878386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know where are lanes and where to move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1" r="0" b="-2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52937" y="2033609"/>
            <a:ext cx="8942177" cy="6219781"/>
          </a:xfrm>
          <a:custGeom>
            <a:avLst/>
            <a:gdLst/>
            <a:ahLst/>
            <a:cxnLst/>
            <a:rect r="r" b="b" t="t" l="l"/>
            <a:pathLst>
              <a:path h="6219781" w="8942177">
                <a:moveTo>
                  <a:pt x="0" y="0"/>
                </a:moveTo>
                <a:lnTo>
                  <a:pt x="8942177" y="0"/>
                </a:lnTo>
                <a:lnTo>
                  <a:pt x="8942177" y="6219782"/>
                </a:lnTo>
                <a:lnTo>
                  <a:pt x="0" y="62197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682939"/>
            <a:ext cx="622327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Perception tasks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1" r="0" b="-2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68160" y="2094980"/>
            <a:ext cx="12751680" cy="6097040"/>
          </a:xfrm>
          <a:custGeom>
            <a:avLst/>
            <a:gdLst/>
            <a:ahLst/>
            <a:cxnLst/>
            <a:rect r="r" b="b" t="t" l="l"/>
            <a:pathLst>
              <a:path h="6097040" w="12751680">
                <a:moveTo>
                  <a:pt x="0" y="0"/>
                </a:moveTo>
                <a:lnTo>
                  <a:pt x="12751680" y="0"/>
                </a:lnTo>
                <a:lnTo>
                  <a:pt x="12751680" y="6097040"/>
                </a:lnTo>
                <a:lnTo>
                  <a:pt x="0" y="60970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59775" y="933450"/>
            <a:ext cx="80842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How does computer see?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1" r="0" b="-231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5463540" y="2681896"/>
            <a:ext cx="6492240" cy="0"/>
          </a:xfrm>
          <a:prstGeom prst="line">
            <a:avLst/>
          </a:prstGeom>
          <a:ln cap="flat" w="371475">
            <a:solidFill>
              <a:srgbClr val="CF3D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11613" y="6256885"/>
            <a:ext cx="3220323" cy="1710797"/>
          </a:xfrm>
          <a:custGeom>
            <a:avLst/>
            <a:gdLst/>
            <a:ahLst/>
            <a:cxnLst/>
            <a:rect r="r" b="b" t="t" l="l"/>
            <a:pathLst>
              <a:path h="1710797" w="3220323">
                <a:moveTo>
                  <a:pt x="0" y="0"/>
                </a:moveTo>
                <a:lnTo>
                  <a:pt x="3220323" y="0"/>
                </a:lnTo>
                <a:lnTo>
                  <a:pt x="3220323" y="1710796"/>
                </a:lnTo>
                <a:lnTo>
                  <a:pt x="0" y="17107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13057" y="4813515"/>
            <a:ext cx="3218879" cy="1443370"/>
          </a:xfrm>
          <a:custGeom>
            <a:avLst/>
            <a:gdLst/>
            <a:ahLst/>
            <a:cxnLst/>
            <a:rect r="r" b="b" t="t" l="l"/>
            <a:pathLst>
              <a:path h="1443370" w="3218879">
                <a:moveTo>
                  <a:pt x="0" y="0"/>
                </a:moveTo>
                <a:lnTo>
                  <a:pt x="3218879" y="0"/>
                </a:lnTo>
                <a:lnTo>
                  <a:pt x="3218879" y="1443370"/>
                </a:lnTo>
                <a:lnTo>
                  <a:pt x="0" y="14433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059775" y="933450"/>
            <a:ext cx="813411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Computer vision pipeline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1613" y="2358364"/>
            <a:ext cx="419131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 Bold"/>
              </a:rPr>
              <a:t>Preprocessor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49197" y="2358364"/>
            <a:ext cx="12215299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Image preprocessing is a crucial step in computer vision and image processing tasks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3057" y="6690008"/>
            <a:ext cx="3218879" cy="81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499" spc="57">
                <a:solidFill>
                  <a:srgbClr val="FFFFFF"/>
                </a:solidFill>
                <a:latin typeface="HK Grotesk Bold"/>
              </a:rPr>
              <a:t>Histogram </a:t>
            </a:r>
          </a:p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 spc="57">
                <a:solidFill>
                  <a:srgbClr val="FFFFFF"/>
                </a:solidFill>
                <a:latin typeface="HK Grotesk Bold"/>
              </a:rPr>
              <a:t>equalization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236786" y="6256885"/>
            <a:ext cx="3220323" cy="1710797"/>
          </a:xfrm>
          <a:custGeom>
            <a:avLst/>
            <a:gdLst/>
            <a:ahLst/>
            <a:cxnLst/>
            <a:rect r="r" b="b" t="t" l="l"/>
            <a:pathLst>
              <a:path h="1710797" w="3220323">
                <a:moveTo>
                  <a:pt x="0" y="0"/>
                </a:moveTo>
                <a:lnTo>
                  <a:pt x="3220323" y="0"/>
                </a:lnTo>
                <a:lnTo>
                  <a:pt x="3220323" y="1710796"/>
                </a:lnTo>
                <a:lnTo>
                  <a:pt x="0" y="17107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238230" y="4813515"/>
            <a:ext cx="3218879" cy="1443370"/>
          </a:xfrm>
          <a:custGeom>
            <a:avLst/>
            <a:gdLst/>
            <a:ahLst/>
            <a:cxnLst/>
            <a:rect r="r" b="b" t="t" l="l"/>
            <a:pathLst>
              <a:path h="1443370" w="3218879">
                <a:moveTo>
                  <a:pt x="0" y="0"/>
                </a:moveTo>
                <a:lnTo>
                  <a:pt x="3218879" y="0"/>
                </a:lnTo>
                <a:lnTo>
                  <a:pt x="3218879" y="1443370"/>
                </a:lnTo>
                <a:lnTo>
                  <a:pt x="0" y="14433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204" r="0" b="-4204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5238230" y="6690008"/>
            <a:ext cx="3218879" cy="81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499" spc="57">
                <a:solidFill>
                  <a:srgbClr val="FFFFFF"/>
                </a:solidFill>
                <a:latin typeface="HK Grotesk Bold"/>
              </a:rPr>
              <a:t>Color </a:t>
            </a:r>
          </a:p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 spc="57">
                <a:solidFill>
                  <a:srgbClr val="FFFFFF"/>
                </a:solidFill>
                <a:latin typeface="HK Grotesk Bold"/>
              </a:rPr>
              <a:t>correction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160266" y="6256885"/>
            <a:ext cx="3220323" cy="1710797"/>
          </a:xfrm>
          <a:custGeom>
            <a:avLst/>
            <a:gdLst/>
            <a:ahLst/>
            <a:cxnLst/>
            <a:rect r="r" b="b" t="t" l="l"/>
            <a:pathLst>
              <a:path h="1710797" w="3220323">
                <a:moveTo>
                  <a:pt x="0" y="0"/>
                </a:moveTo>
                <a:lnTo>
                  <a:pt x="3220323" y="0"/>
                </a:lnTo>
                <a:lnTo>
                  <a:pt x="3220323" y="1710796"/>
                </a:lnTo>
                <a:lnTo>
                  <a:pt x="0" y="17107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161710" y="4813515"/>
            <a:ext cx="3218879" cy="1443370"/>
          </a:xfrm>
          <a:custGeom>
            <a:avLst/>
            <a:gdLst/>
            <a:ahLst/>
            <a:cxnLst/>
            <a:rect r="r" b="b" t="t" l="l"/>
            <a:pathLst>
              <a:path h="1443370" w="3218879">
                <a:moveTo>
                  <a:pt x="0" y="0"/>
                </a:moveTo>
                <a:lnTo>
                  <a:pt x="3218879" y="0"/>
                </a:lnTo>
                <a:lnTo>
                  <a:pt x="3218879" y="1443370"/>
                </a:lnTo>
                <a:lnTo>
                  <a:pt x="0" y="14433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61505" r="0" b="-61505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9161710" y="6690008"/>
            <a:ext cx="3218879" cy="81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499" spc="57">
                <a:solidFill>
                  <a:srgbClr val="FFFFFF"/>
                </a:solidFill>
                <a:latin typeface="HK Grotesk Bold"/>
              </a:rPr>
              <a:t>Noise </a:t>
            </a:r>
          </a:p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 spc="57">
                <a:solidFill>
                  <a:srgbClr val="FFFFFF"/>
                </a:solidFill>
                <a:latin typeface="HK Grotesk Bold"/>
              </a:rPr>
              <a:t>removal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930658" y="6256885"/>
            <a:ext cx="3220323" cy="1710797"/>
          </a:xfrm>
          <a:custGeom>
            <a:avLst/>
            <a:gdLst/>
            <a:ahLst/>
            <a:cxnLst/>
            <a:rect r="r" b="b" t="t" l="l"/>
            <a:pathLst>
              <a:path h="1710797" w="3220323">
                <a:moveTo>
                  <a:pt x="0" y="0"/>
                </a:moveTo>
                <a:lnTo>
                  <a:pt x="3220323" y="0"/>
                </a:lnTo>
                <a:lnTo>
                  <a:pt x="3220323" y="1710796"/>
                </a:lnTo>
                <a:lnTo>
                  <a:pt x="0" y="17107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932103" y="4813515"/>
            <a:ext cx="3218879" cy="1443370"/>
          </a:xfrm>
          <a:custGeom>
            <a:avLst/>
            <a:gdLst/>
            <a:ahLst/>
            <a:cxnLst/>
            <a:rect r="r" b="b" t="t" l="l"/>
            <a:pathLst>
              <a:path h="1443370" w="3218879">
                <a:moveTo>
                  <a:pt x="0" y="0"/>
                </a:moveTo>
                <a:lnTo>
                  <a:pt x="3218878" y="0"/>
                </a:lnTo>
                <a:lnTo>
                  <a:pt x="3218878" y="1443370"/>
                </a:lnTo>
                <a:lnTo>
                  <a:pt x="0" y="14433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8540" r="0" b="-8540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name="TextBox 18" id="18"/>
          <p:cNvSpPr txBox="true"/>
          <p:nvPr/>
        </p:nvSpPr>
        <p:spPr>
          <a:xfrm rot="0">
            <a:off x="12932103" y="6690008"/>
            <a:ext cx="3218879" cy="81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499" spc="57">
                <a:solidFill>
                  <a:srgbClr val="FFFFFF"/>
                </a:solidFill>
                <a:latin typeface="HK Grotesk Bold"/>
              </a:rPr>
              <a:t>Photo </a:t>
            </a:r>
          </a:p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 spc="57">
                <a:solidFill>
                  <a:srgbClr val="FFFFFF"/>
                </a:solidFill>
                <a:latin typeface="HK Grotesk Bold"/>
              </a:rPr>
              <a:t>echancement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1" r="0" b="-231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5463540" y="2681896"/>
            <a:ext cx="6492240" cy="0"/>
          </a:xfrm>
          <a:prstGeom prst="line">
            <a:avLst/>
          </a:prstGeom>
          <a:ln cap="flat" w="371475">
            <a:solidFill>
              <a:srgbClr val="CF3D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59775" y="933450"/>
            <a:ext cx="813411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Computer vision pipeline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11613" y="2358364"/>
            <a:ext cx="419131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 Bold"/>
              </a:rPr>
              <a:t>Feature extraction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02927" y="2358364"/>
            <a:ext cx="12215299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Process of extracting important information or patterns from data, reducing dimensionality for analysis or modeling.</a:t>
            </a:r>
          </a:p>
          <a:p>
            <a:pPr>
              <a:lnSpc>
                <a:spcPts val="4759"/>
              </a:lnSpc>
            </a:pPr>
          </a:p>
          <a:p>
            <a:pPr>
              <a:lnSpc>
                <a:spcPts val="475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002348" y="6761940"/>
            <a:ext cx="3910869" cy="2077649"/>
          </a:xfrm>
          <a:custGeom>
            <a:avLst/>
            <a:gdLst/>
            <a:ahLst/>
            <a:cxnLst/>
            <a:rect r="r" b="b" t="t" l="l"/>
            <a:pathLst>
              <a:path h="2077649" w="3910869">
                <a:moveTo>
                  <a:pt x="0" y="0"/>
                </a:moveTo>
                <a:lnTo>
                  <a:pt x="3910868" y="0"/>
                </a:lnTo>
                <a:lnTo>
                  <a:pt x="3910868" y="2077649"/>
                </a:lnTo>
                <a:lnTo>
                  <a:pt x="0" y="20776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02348" y="4803320"/>
            <a:ext cx="3909115" cy="1958620"/>
          </a:xfrm>
          <a:custGeom>
            <a:avLst/>
            <a:gdLst/>
            <a:ahLst/>
            <a:cxnLst/>
            <a:rect r="r" b="b" t="t" l="l"/>
            <a:pathLst>
              <a:path h="1958620" w="3909115">
                <a:moveTo>
                  <a:pt x="0" y="0"/>
                </a:moveTo>
                <a:lnTo>
                  <a:pt x="3909114" y="0"/>
                </a:lnTo>
                <a:lnTo>
                  <a:pt x="3909114" y="1958620"/>
                </a:lnTo>
                <a:lnTo>
                  <a:pt x="0" y="1958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6551" r="0" b="-36047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12004102" y="7294067"/>
            <a:ext cx="3909115" cy="98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6"/>
              </a:lnSpc>
            </a:pPr>
            <a:r>
              <a:rPr lang="en-US" sz="3036" spc="69">
                <a:solidFill>
                  <a:srgbClr val="FFFFFF"/>
                </a:solidFill>
                <a:latin typeface="HK Grotesk Bold"/>
              </a:rPr>
              <a:t>Feature</a:t>
            </a:r>
            <a:r>
              <a:rPr lang="en-US" sz="3036" spc="69">
                <a:solidFill>
                  <a:srgbClr val="FFFFFF"/>
                </a:solidFill>
                <a:latin typeface="HK Grotesk Bold"/>
              </a:rPr>
              <a:t> </a:t>
            </a:r>
          </a:p>
          <a:p>
            <a:pPr algn="ctr">
              <a:lnSpc>
                <a:spcPts val="3946"/>
              </a:lnSpc>
              <a:spcBef>
                <a:spcPct val="0"/>
              </a:spcBef>
            </a:pPr>
            <a:r>
              <a:rPr lang="en-US" sz="3036" spc="69">
                <a:solidFill>
                  <a:srgbClr val="FFFFFF"/>
                </a:solidFill>
                <a:latin typeface="HK Grotesk Bold"/>
              </a:rPr>
              <a:t>description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547493" y="6761940"/>
            <a:ext cx="3910869" cy="2077649"/>
          </a:xfrm>
          <a:custGeom>
            <a:avLst/>
            <a:gdLst/>
            <a:ahLst/>
            <a:cxnLst/>
            <a:rect r="r" b="b" t="t" l="l"/>
            <a:pathLst>
              <a:path h="2077649" w="3910869">
                <a:moveTo>
                  <a:pt x="0" y="0"/>
                </a:moveTo>
                <a:lnTo>
                  <a:pt x="3910869" y="0"/>
                </a:lnTo>
                <a:lnTo>
                  <a:pt x="3910869" y="2077649"/>
                </a:lnTo>
                <a:lnTo>
                  <a:pt x="0" y="20776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549247" y="4803320"/>
            <a:ext cx="3909115" cy="1958620"/>
          </a:xfrm>
          <a:custGeom>
            <a:avLst/>
            <a:gdLst/>
            <a:ahLst/>
            <a:cxnLst/>
            <a:rect r="r" b="b" t="t" l="l"/>
            <a:pathLst>
              <a:path h="1958620" w="3909115">
                <a:moveTo>
                  <a:pt x="0" y="0"/>
                </a:moveTo>
                <a:lnTo>
                  <a:pt x="3909115" y="0"/>
                </a:lnTo>
                <a:lnTo>
                  <a:pt x="3909115" y="1958620"/>
                </a:lnTo>
                <a:lnTo>
                  <a:pt x="0" y="1958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247" t="0" r="-13247" b="0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3549247" y="7294067"/>
            <a:ext cx="3909115" cy="98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6"/>
              </a:lnSpc>
            </a:pPr>
            <a:r>
              <a:rPr lang="en-US" sz="3036" spc="69">
                <a:solidFill>
                  <a:srgbClr val="FFFFFF"/>
                </a:solidFill>
                <a:latin typeface="HK Grotesk Bold"/>
              </a:rPr>
              <a:t>Feature </a:t>
            </a:r>
          </a:p>
          <a:p>
            <a:pPr algn="ctr">
              <a:lnSpc>
                <a:spcPts val="3946"/>
              </a:lnSpc>
              <a:spcBef>
                <a:spcPct val="0"/>
              </a:spcBef>
            </a:pPr>
            <a:r>
              <a:rPr lang="en-US" sz="3036" spc="69">
                <a:solidFill>
                  <a:srgbClr val="FFFFFF"/>
                </a:solidFill>
                <a:latin typeface="HK Grotesk Bold"/>
              </a:rPr>
              <a:t>detection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1" r="0" b="-2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6379" y="3943350"/>
            <a:ext cx="3343181" cy="1776065"/>
          </a:xfrm>
          <a:custGeom>
            <a:avLst/>
            <a:gdLst/>
            <a:ahLst/>
            <a:cxnLst/>
            <a:rect r="r" b="b" t="t" l="l"/>
            <a:pathLst>
              <a:path h="1776065" w="3343181">
                <a:moveTo>
                  <a:pt x="0" y="0"/>
                </a:moveTo>
                <a:lnTo>
                  <a:pt x="3343180" y="0"/>
                </a:lnTo>
                <a:lnTo>
                  <a:pt x="3343180" y="1776065"/>
                </a:lnTo>
                <a:lnTo>
                  <a:pt x="0" y="17760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51300" y="3943350"/>
            <a:ext cx="3343181" cy="1776065"/>
          </a:xfrm>
          <a:custGeom>
            <a:avLst/>
            <a:gdLst/>
            <a:ahLst/>
            <a:cxnLst/>
            <a:rect r="r" b="b" t="t" l="l"/>
            <a:pathLst>
              <a:path h="1776065" w="3343181">
                <a:moveTo>
                  <a:pt x="0" y="0"/>
                </a:moveTo>
                <a:lnTo>
                  <a:pt x="3343180" y="0"/>
                </a:lnTo>
                <a:lnTo>
                  <a:pt x="3343180" y="1776065"/>
                </a:lnTo>
                <a:lnTo>
                  <a:pt x="0" y="17760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76379" y="6128990"/>
            <a:ext cx="3343181" cy="1776065"/>
          </a:xfrm>
          <a:custGeom>
            <a:avLst/>
            <a:gdLst/>
            <a:ahLst/>
            <a:cxnLst/>
            <a:rect r="r" b="b" t="t" l="l"/>
            <a:pathLst>
              <a:path h="1776065" w="3343181">
                <a:moveTo>
                  <a:pt x="0" y="0"/>
                </a:moveTo>
                <a:lnTo>
                  <a:pt x="3343180" y="0"/>
                </a:lnTo>
                <a:lnTo>
                  <a:pt x="3343180" y="1776064"/>
                </a:lnTo>
                <a:lnTo>
                  <a:pt x="0" y="17760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95835" y="6128990"/>
            <a:ext cx="3343181" cy="1776065"/>
          </a:xfrm>
          <a:custGeom>
            <a:avLst/>
            <a:gdLst/>
            <a:ahLst/>
            <a:cxnLst/>
            <a:rect r="r" b="b" t="t" l="l"/>
            <a:pathLst>
              <a:path h="1776065" w="3343181">
                <a:moveTo>
                  <a:pt x="0" y="0"/>
                </a:moveTo>
                <a:lnTo>
                  <a:pt x="3343180" y="0"/>
                </a:lnTo>
                <a:lnTo>
                  <a:pt x="3343180" y="1776064"/>
                </a:lnTo>
                <a:lnTo>
                  <a:pt x="0" y="17760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870580" y="3676469"/>
            <a:ext cx="5182977" cy="4085890"/>
          </a:xfrm>
          <a:custGeom>
            <a:avLst/>
            <a:gdLst/>
            <a:ahLst/>
            <a:cxnLst/>
            <a:rect r="r" b="b" t="t" l="l"/>
            <a:pathLst>
              <a:path h="4085890" w="5182977">
                <a:moveTo>
                  <a:pt x="0" y="0"/>
                </a:moveTo>
                <a:lnTo>
                  <a:pt x="5182977" y="0"/>
                </a:lnTo>
                <a:lnTo>
                  <a:pt x="5182977" y="4085891"/>
                </a:lnTo>
                <a:lnTo>
                  <a:pt x="0" y="40858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9026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59775" y="933450"/>
            <a:ext cx="579203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Feature detection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9775" y="2162810"/>
            <a:ext cx="12215299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Point of interest in an image that has the following properties:</a:t>
            </a:r>
          </a:p>
          <a:p>
            <a:pPr>
              <a:lnSpc>
                <a:spcPts val="475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45303" y="4606688"/>
            <a:ext cx="3341681" cy="420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3"/>
              </a:lnSpc>
              <a:spcBef>
                <a:spcPct val="0"/>
              </a:spcBef>
            </a:pPr>
            <a:r>
              <a:rPr lang="en-US" sz="2595" spc="59">
                <a:solidFill>
                  <a:srgbClr val="FFFFFF"/>
                </a:solidFill>
                <a:latin typeface="HK Grotesk Bold"/>
              </a:rPr>
              <a:t>Identifiable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52799" y="4606688"/>
            <a:ext cx="3341681" cy="420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3"/>
              </a:lnSpc>
              <a:spcBef>
                <a:spcPct val="0"/>
              </a:spcBef>
            </a:pPr>
            <a:r>
              <a:rPr lang="en-US" sz="2595" spc="59">
                <a:solidFill>
                  <a:srgbClr val="FFFFFF"/>
                </a:solidFill>
                <a:latin typeface="HK Grotesk Bold"/>
              </a:rPr>
              <a:t>Repeatablility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7878" y="6792327"/>
            <a:ext cx="3341681" cy="420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3"/>
              </a:lnSpc>
              <a:spcBef>
                <a:spcPct val="0"/>
              </a:spcBef>
            </a:pPr>
            <a:r>
              <a:rPr lang="en-US" sz="2595" spc="59">
                <a:solidFill>
                  <a:srgbClr val="FFFFFF"/>
                </a:solidFill>
                <a:latin typeface="HK Grotesk Bold"/>
              </a:rPr>
              <a:t>Quantity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95835" y="6792327"/>
            <a:ext cx="3341681" cy="420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3"/>
              </a:lnSpc>
              <a:spcBef>
                <a:spcPct val="0"/>
              </a:spcBef>
            </a:pPr>
            <a:r>
              <a:rPr lang="en-US" sz="2595" spc="59">
                <a:solidFill>
                  <a:srgbClr val="FFFFFF"/>
                </a:solidFill>
                <a:latin typeface="HK Grotesk Bold"/>
              </a:rPr>
              <a:t>Locality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1" r="0" b="-2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109017"/>
            <a:ext cx="5537963" cy="2768982"/>
          </a:xfrm>
          <a:custGeom>
            <a:avLst/>
            <a:gdLst/>
            <a:ahLst/>
            <a:cxnLst/>
            <a:rect r="r" b="b" t="t" l="l"/>
            <a:pathLst>
              <a:path h="2768982" w="5537963">
                <a:moveTo>
                  <a:pt x="0" y="0"/>
                </a:moveTo>
                <a:lnTo>
                  <a:pt x="5537963" y="0"/>
                </a:lnTo>
                <a:lnTo>
                  <a:pt x="5537963" y="2768982"/>
                </a:lnTo>
                <a:lnTo>
                  <a:pt x="0" y="2768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93731" y="2109017"/>
            <a:ext cx="5576600" cy="2768982"/>
          </a:xfrm>
          <a:custGeom>
            <a:avLst/>
            <a:gdLst/>
            <a:ahLst/>
            <a:cxnLst/>
            <a:rect r="r" b="b" t="t" l="l"/>
            <a:pathLst>
              <a:path h="2768982" w="5576600">
                <a:moveTo>
                  <a:pt x="0" y="0"/>
                </a:moveTo>
                <a:lnTo>
                  <a:pt x="5576601" y="0"/>
                </a:lnTo>
                <a:lnTo>
                  <a:pt x="5576601" y="2768982"/>
                </a:lnTo>
                <a:lnTo>
                  <a:pt x="0" y="27689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566663" y="6018138"/>
            <a:ext cx="5527068" cy="2768982"/>
          </a:xfrm>
          <a:custGeom>
            <a:avLst/>
            <a:gdLst/>
            <a:ahLst/>
            <a:cxnLst/>
            <a:rect r="r" b="b" t="t" l="l"/>
            <a:pathLst>
              <a:path h="2768982" w="5527068">
                <a:moveTo>
                  <a:pt x="0" y="0"/>
                </a:moveTo>
                <a:lnTo>
                  <a:pt x="5527068" y="0"/>
                </a:lnTo>
                <a:lnTo>
                  <a:pt x="5527068" y="2768982"/>
                </a:lnTo>
                <a:lnTo>
                  <a:pt x="0" y="27689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2313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14400"/>
            <a:ext cx="6683573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Feature detection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1" r="0" b="-2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37435" y="5424548"/>
            <a:ext cx="7846584" cy="2252177"/>
          </a:xfrm>
          <a:custGeom>
            <a:avLst/>
            <a:gdLst/>
            <a:ahLst/>
            <a:cxnLst/>
            <a:rect r="r" b="b" t="t" l="l"/>
            <a:pathLst>
              <a:path h="2252177" w="7846584">
                <a:moveTo>
                  <a:pt x="0" y="0"/>
                </a:moveTo>
                <a:lnTo>
                  <a:pt x="7846584" y="0"/>
                </a:lnTo>
                <a:lnTo>
                  <a:pt x="7846584" y="2252177"/>
                </a:lnTo>
                <a:lnTo>
                  <a:pt x="0" y="22521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14400"/>
            <a:ext cx="7329845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Feature descriptors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9775" y="2162810"/>
            <a:ext cx="12215299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Defining a feature points by its coordinates in image frame it has a summary of each information about the feature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9775" y="4246140"/>
            <a:ext cx="1481280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 Bold"/>
              </a:rPr>
              <a:t>Feature descriptors has some characteristics: </a:t>
            </a:r>
            <a:r>
              <a:rPr lang="en-US" sz="3399" u="sng">
                <a:solidFill>
                  <a:srgbClr val="000000"/>
                </a:solidFill>
                <a:latin typeface="Canva Sans Bold"/>
              </a:rPr>
              <a:t>repeatability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191498" y="4826530"/>
            <a:ext cx="2889505" cy="1535049"/>
          </a:xfrm>
          <a:custGeom>
            <a:avLst/>
            <a:gdLst/>
            <a:ahLst/>
            <a:cxnLst/>
            <a:rect r="r" b="b" t="t" l="l"/>
            <a:pathLst>
              <a:path h="1535049" w="2889505">
                <a:moveTo>
                  <a:pt x="0" y="0"/>
                </a:moveTo>
                <a:lnTo>
                  <a:pt x="2889505" y="0"/>
                </a:lnTo>
                <a:lnTo>
                  <a:pt x="2889505" y="1535049"/>
                </a:lnTo>
                <a:lnTo>
                  <a:pt x="0" y="1535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713445" y="4826530"/>
            <a:ext cx="2889505" cy="1535049"/>
          </a:xfrm>
          <a:custGeom>
            <a:avLst/>
            <a:gdLst/>
            <a:ahLst/>
            <a:cxnLst/>
            <a:rect r="r" b="b" t="t" l="l"/>
            <a:pathLst>
              <a:path h="1535049" w="2889505">
                <a:moveTo>
                  <a:pt x="0" y="0"/>
                </a:moveTo>
                <a:lnTo>
                  <a:pt x="2889505" y="0"/>
                </a:lnTo>
                <a:lnTo>
                  <a:pt x="2889505" y="1535049"/>
                </a:lnTo>
                <a:lnTo>
                  <a:pt x="0" y="1535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191498" y="6715574"/>
            <a:ext cx="2889505" cy="1535049"/>
          </a:xfrm>
          <a:custGeom>
            <a:avLst/>
            <a:gdLst/>
            <a:ahLst/>
            <a:cxnLst/>
            <a:rect r="r" b="b" t="t" l="l"/>
            <a:pathLst>
              <a:path h="1535049" w="2889505">
                <a:moveTo>
                  <a:pt x="0" y="0"/>
                </a:moveTo>
                <a:lnTo>
                  <a:pt x="2889505" y="0"/>
                </a:lnTo>
                <a:lnTo>
                  <a:pt x="2889505" y="1535049"/>
                </a:lnTo>
                <a:lnTo>
                  <a:pt x="0" y="1535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751937" y="6715574"/>
            <a:ext cx="2889505" cy="1535049"/>
          </a:xfrm>
          <a:custGeom>
            <a:avLst/>
            <a:gdLst/>
            <a:ahLst/>
            <a:cxnLst/>
            <a:rect r="r" b="b" t="t" l="l"/>
            <a:pathLst>
              <a:path h="1535049" w="2889505">
                <a:moveTo>
                  <a:pt x="0" y="0"/>
                </a:moveTo>
                <a:lnTo>
                  <a:pt x="2889505" y="0"/>
                </a:lnTo>
                <a:lnTo>
                  <a:pt x="2889505" y="1535049"/>
                </a:lnTo>
                <a:lnTo>
                  <a:pt x="0" y="1535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64640" y="5395973"/>
            <a:ext cx="2888209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0"/>
              </a:lnSpc>
              <a:spcBef>
                <a:spcPct val="0"/>
              </a:spcBef>
            </a:pPr>
            <a:r>
              <a:rPr lang="en-US" sz="2500" spc="57">
                <a:solidFill>
                  <a:srgbClr val="FFFFFF"/>
                </a:solidFill>
                <a:latin typeface="HK Grotesk Bold"/>
              </a:rPr>
              <a:t>Scale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14741" y="5395973"/>
            <a:ext cx="2888209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0"/>
              </a:lnSpc>
              <a:spcBef>
                <a:spcPct val="0"/>
              </a:spcBef>
            </a:pPr>
            <a:r>
              <a:rPr lang="en-US" sz="2500" spc="57">
                <a:solidFill>
                  <a:srgbClr val="FFFFFF"/>
                </a:solidFill>
                <a:latin typeface="HK Grotesk Bold"/>
              </a:rPr>
              <a:t>Translation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92794" y="7285018"/>
            <a:ext cx="2888209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0"/>
              </a:lnSpc>
              <a:spcBef>
                <a:spcPct val="0"/>
              </a:spcBef>
            </a:pPr>
            <a:r>
              <a:rPr lang="en-US" sz="2500" spc="57">
                <a:solidFill>
                  <a:srgbClr val="FFFFFF"/>
                </a:solidFill>
                <a:latin typeface="HK Grotesk Bold"/>
              </a:rPr>
              <a:t>Rotation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751937" y="7285018"/>
            <a:ext cx="2888209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0"/>
              </a:lnSpc>
              <a:spcBef>
                <a:spcPct val="0"/>
              </a:spcBef>
            </a:pPr>
            <a:r>
              <a:rPr lang="en-US" sz="2500" spc="57">
                <a:solidFill>
                  <a:srgbClr val="FFFFFF"/>
                </a:solidFill>
                <a:latin typeface="HK Grotesk Bold"/>
              </a:rPr>
              <a:t>Illumination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1" r="0" b="-2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93263" y="3300653"/>
            <a:ext cx="12501473" cy="3685693"/>
          </a:xfrm>
          <a:custGeom>
            <a:avLst/>
            <a:gdLst/>
            <a:ahLst/>
            <a:cxnLst/>
            <a:rect r="r" b="b" t="t" l="l"/>
            <a:pathLst>
              <a:path h="3685693" w="12501473">
                <a:moveTo>
                  <a:pt x="0" y="0"/>
                </a:moveTo>
                <a:lnTo>
                  <a:pt x="12501474" y="0"/>
                </a:lnTo>
                <a:lnTo>
                  <a:pt x="12501474" y="3685694"/>
                </a:lnTo>
                <a:lnTo>
                  <a:pt x="0" y="3685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914400"/>
            <a:ext cx="6226969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Feature Maching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1" r="0" b="-2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57989" y="3343275"/>
            <a:ext cx="10722225" cy="2764851"/>
          </a:xfrm>
          <a:custGeom>
            <a:avLst/>
            <a:gdLst/>
            <a:ahLst/>
            <a:cxnLst/>
            <a:rect r="r" b="b" t="t" l="l"/>
            <a:pathLst>
              <a:path h="2764851" w="10722225">
                <a:moveTo>
                  <a:pt x="0" y="0"/>
                </a:moveTo>
                <a:lnTo>
                  <a:pt x="10722225" y="0"/>
                </a:lnTo>
                <a:lnTo>
                  <a:pt x="10722225" y="2764851"/>
                </a:lnTo>
                <a:lnTo>
                  <a:pt x="0" y="27648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14400"/>
            <a:ext cx="7329845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Feature descriptors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9775" y="2162810"/>
            <a:ext cx="12215299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 Bold"/>
              </a:rPr>
              <a:t>2- Distinctiveness:</a:t>
            </a:r>
            <a:r>
              <a:rPr lang="en-US" sz="3399">
                <a:solidFill>
                  <a:srgbClr val="000000"/>
                </a:solidFill>
                <a:latin typeface="Canva Sans"/>
              </a:rPr>
              <a:t> should allow us to distinguish between  two close by feature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9775" y="6584381"/>
            <a:ext cx="1221529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 Bold"/>
              </a:rPr>
              <a:t>3- Efficiency:</a:t>
            </a:r>
            <a:r>
              <a:rPr lang="en-US" sz="3399">
                <a:solidFill>
                  <a:srgbClr val="000000"/>
                </a:solidFill>
                <a:latin typeface="Canva Sans"/>
              </a:rPr>
              <a:t> reasonable computation time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1" r="0" b="-2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89457" y="1943100"/>
            <a:ext cx="12109086" cy="6681640"/>
          </a:xfrm>
          <a:custGeom>
            <a:avLst/>
            <a:gdLst/>
            <a:ahLst/>
            <a:cxnLst/>
            <a:rect r="r" b="b" t="t" l="l"/>
            <a:pathLst>
              <a:path h="6681640" w="12109086">
                <a:moveTo>
                  <a:pt x="0" y="0"/>
                </a:moveTo>
                <a:lnTo>
                  <a:pt x="12109086" y="0"/>
                </a:lnTo>
                <a:lnTo>
                  <a:pt x="12109086" y="6681640"/>
                </a:lnTo>
                <a:lnTo>
                  <a:pt x="0" y="6681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48675" y="760093"/>
            <a:ext cx="1246121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Neural Networks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1" r="0" b="-2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78895" y="1919738"/>
            <a:ext cx="10330209" cy="6447524"/>
          </a:xfrm>
          <a:custGeom>
            <a:avLst/>
            <a:gdLst/>
            <a:ahLst/>
            <a:cxnLst/>
            <a:rect r="r" b="b" t="t" l="l"/>
            <a:pathLst>
              <a:path h="6447524" w="10330209">
                <a:moveTo>
                  <a:pt x="0" y="0"/>
                </a:moveTo>
                <a:lnTo>
                  <a:pt x="10330210" y="0"/>
                </a:lnTo>
                <a:lnTo>
                  <a:pt x="10330210" y="6447524"/>
                </a:lnTo>
                <a:lnTo>
                  <a:pt x="0" y="64475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48675" y="760093"/>
            <a:ext cx="1246121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Convolution Neural Networks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1" r="0" b="-2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59926" y="2954486"/>
            <a:ext cx="9899374" cy="3700573"/>
          </a:xfrm>
          <a:custGeom>
            <a:avLst/>
            <a:gdLst/>
            <a:ahLst/>
            <a:cxnLst/>
            <a:rect r="r" b="b" t="t" l="l"/>
            <a:pathLst>
              <a:path h="3700573" w="9899374">
                <a:moveTo>
                  <a:pt x="0" y="0"/>
                </a:moveTo>
                <a:lnTo>
                  <a:pt x="9899374" y="0"/>
                </a:lnTo>
                <a:lnTo>
                  <a:pt x="9899374" y="3700573"/>
                </a:lnTo>
                <a:lnTo>
                  <a:pt x="0" y="37005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16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8675" y="2954486"/>
            <a:ext cx="6050580" cy="3396625"/>
          </a:xfrm>
          <a:custGeom>
            <a:avLst/>
            <a:gdLst/>
            <a:ahLst/>
            <a:cxnLst/>
            <a:rect r="r" b="b" t="t" l="l"/>
            <a:pathLst>
              <a:path h="3396625" w="6050580">
                <a:moveTo>
                  <a:pt x="0" y="0"/>
                </a:moveTo>
                <a:lnTo>
                  <a:pt x="6050579" y="0"/>
                </a:lnTo>
                <a:lnTo>
                  <a:pt x="6050579" y="3396625"/>
                </a:lnTo>
                <a:lnTo>
                  <a:pt x="0" y="3396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48675" y="760093"/>
            <a:ext cx="1246121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Convolution Neural Networks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1" r="0" b="-231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5382038" y="2898482"/>
            <a:ext cx="6492240" cy="0"/>
          </a:xfrm>
          <a:prstGeom prst="line">
            <a:avLst/>
          </a:prstGeom>
          <a:ln cap="flat" w="371475">
            <a:solidFill>
              <a:srgbClr val="CF3D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760362" y="2172679"/>
            <a:ext cx="3241036" cy="1823083"/>
          </a:xfrm>
          <a:custGeom>
            <a:avLst/>
            <a:gdLst/>
            <a:ahLst/>
            <a:cxnLst/>
            <a:rect r="r" b="b" t="t" l="l"/>
            <a:pathLst>
              <a:path h="1823083" w="3241036">
                <a:moveTo>
                  <a:pt x="0" y="0"/>
                </a:moveTo>
                <a:lnTo>
                  <a:pt x="3241036" y="0"/>
                </a:lnTo>
                <a:lnTo>
                  <a:pt x="3241036" y="1823082"/>
                </a:lnTo>
                <a:lnTo>
                  <a:pt x="0" y="18230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24780" y="4490273"/>
            <a:ext cx="2476618" cy="2476618"/>
          </a:xfrm>
          <a:custGeom>
            <a:avLst/>
            <a:gdLst/>
            <a:ahLst/>
            <a:cxnLst/>
            <a:rect r="r" b="b" t="t" l="l"/>
            <a:pathLst>
              <a:path h="2476618" w="2476618">
                <a:moveTo>
                  <a:pt x="0" y="0"/>
                </a:moveTo>
                <a:lnTo>
                  <a:pt x="2476618" y="0"/>
                </a:lnTo>
                <a:lnTo>
                  <a:pt x="2476618" y="2476618"/>
                </a:lnTo>
                <a:lnTo>
                  <a:pt x="0" y="24766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28852" y="4490273"/>
            <a:ext cx="2631510" cy="2505655"/>
          </a:xfrm>
          <a:custGeom>
            <a:avLst/>
            <a:gdLst/>
            <a:ahLst/>
            <a:cxnLst/>
            <a:rect r="r" b="b" t="t" l="l"/>
            <a:pathLst>
              <a:path h="2505655" w="2631510">
                <a:moveTo>
                  <a:pt x="0" y="0"/>
                </a:moveTo>
                <a:lnTo>
                  <a:pt x="2631510" y="0"/>
                </a:lnTo>
                <a:lnTo>
                  <a:pt x="2631510" y="2505655"/>
                </a:lnTo>
                <a:lnTo>
                  <a:pt x="0" y="25056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28852" y="1928359"/>
            <a:ext cx="2384886" cy="2384886"/>
          </a:xfrm>
          <a:custGeom>
            <a:avLst/>
            <a:gdLst/>
            <a:ahLst/>
            <a:cxnLst/>
            <a:rect r="r" b="b" t="t" l="l"/>
            <a:pathLst>
              <a:path h="2384886" w="2384886">
                <a:moveTo>
                  <a:pt x="0" y="0"/>
                </a:moveTo>
                <a:lnTo>
                  <a:pt x="2384886" y="0"/>
                </a:lnTo>
                <a:lnTo>
                  <a:pt x="2384886" y="2384886"/>
                </a:lnTo>
                <a:lnTo>
                  <a:pt x="0" y="23848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58903" y="2532705"/>
            <a:ext cx="9889735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Believe that not a single sensor will enable self driving. the combination of sensors like IMU,GPS , lidar and camera  will enable this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8903" y="1143979"/>
            <a:ext cx="5222796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Sensor Fusion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77117" y="5848406"/>
            <a:ext cx="9889735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Sensor fusion is an essential part that collects data from different sensors to give the driver the ability to understand the environment</a:t>
            </a:r>
          </a:p>
        </p:txBody>
      </p:sp>
      <p:sp>
        <p:nvSpPr>
          <p:cNvPr name="AutoShape 11" id="11"/>
          <p:cNvSpPr/>
          <p:nvPr/>
        </p:nvSpPr>
        <p:spPr>
          <a:xfrm>
            <a:off x="-5382038" y="6100819"/>
            <a:ext cx="6492240" cy="0"/>
          </a:xfrm>
          <a:prstGeom prst="line">
            <a:avLst/>
          </a:prstGeom>
          <a:ln cap="flat" w="371475">
            <a:solidFill>
              <a:srgbClr val="CF3D3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1" r="0" b="-231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5382038" y="2898482"/>
            <a:ext cx="6492240" cy="0"/>
          </a:xfrm>
          <a:prstGeom prst="line">
            <a:avLst/>
          </a:prstGeom>
          <a:ln cap="flat" w="371475">
            <a:solidFill>
              <a:srgbClr val="CF3D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770427" y="3713170"/>
            <a:ext cx="7039330" cy="3013802"/>
          </a:xfrm>
          <a:custGeom>
            <a:avLst/>
            <a:gdLst/>
            <a:ahLst/>
            <a:cxnLst/>
            <a:rect r="r" b="b" t="t" l="l"/>
            <a:pathLst>
              <a:path h="3013802" w="7039330">
                <a:moveTo>
                  <a:pt x="0" y="0"/>
                </a:moveTo>
                <a:lnTo>
                  <a:pt x="7039331" y="0"/>
                </a:lnTo>
                <a:lnTo>
                  <a:pt x="7039331" y="3013802"/>
                </a:lnTo>
                <a:lnTo>
                  <a:pt x="0" y="30138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58903" y="2532705"/>
            <a:ext cx="9889735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Combines data from 2 or more resources  to generate a better understanding of the system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8903" y="1143979"/>
            <a:ext cx="5222796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Sensor Fusion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10202" y="4288102"/>
            <a:ext cx="3220323" cy="1710797"/>
          </a:xfrm>
          <a:custGeom>
            <a:avLst/>
            <a:gdLst/>
            <a:ahLst/>
            <a:cxnLst/>
            <a:rect r="r" b="b" t="t" l="l"/>
            <a:pathLst>
              <a:path h="1710797" w="3220323">
                <a:moveTo>
                  <a:pt x="0" y="0"/>
                </a:moveTo>
                <a:lnTo>
                  <a:pt x="3220323" y="0"/>
                </a:lnTo>
                <a:lnTo>
                  <a:pt x="3220323" y="1710796"/>
                </a:lnTo>
                <a:lnTo>
                  <a:pt x="0" y="17107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11647" y="4721225"/>
            <a:ext cx="3218879" cy="81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499" spc="57">
                <a:solidFill>
                  <a:srgbClr val="FFFFFF"/>
                </a:solidFill>
                <a:latin typeface="HK Grotesk Bold"/>
              </a:rPr>
              <a:t>More </a:t>
            </a:r>
          </a:p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 spc="57">
                <a:solidFill>
                  <a:srgbClr val="FFFFFF"/>
                </a:solidFill>
                <a:latin typeface="HK Grotesk Bold"/>
              </a:rPr>
              <a:t>consistent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716456" y="5537200"/>
            <a:ext cx="3220323" cy="1710797"/>
          </a:xfrm>
          <a:custGeom>
            <a:avLst/>
            <a:gdLst/>
            <a:ahLst/>
            <a:cxnLst/>
            <a:rect r="r" b="b" t="t" l="l"/>
            <a:pathLst>
              <a:path h="1710797" w="3220323">
                <a:moveTo>
                  <a:pt x="0" y="0"/>
                </a:moveTo>
                <a:lnTo>
                  <a:pt x="3220323" y="0"/>
                </a:lnTo>
                <a:lnTo>
                  <a:pt x="3220323" y="1710797"/>
                </a:lnTo>
                <a:lnTo>
                  <a:pt x="0" y="17107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717900" y="5970323"/>
            <a:ext cx="3218879" cy="81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499" spc="57">
                <a:solidFill>
                  <a:srgbClr val="FFFFFF"/>
                </a:solidFill>
                <a:latin typeface="HK Grotesk Bold"/>
              </a:rPr>
              <a:t>More </a:t>
            </a:r>
          </a:p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 spc="57">
                <a:solidFill>
                  <a:srgbClr val="FFFFFF"/>
                </a:solidFill>
                <a:latin typeface="HK Grotesk Bold"/>
              </a:rPr>
              <a:t>accurate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337293" y="6786298"/>
            <a:ext cx="3220323" cy="1710797"/>
          </a:xfrm>
          <a:custGeom>
            <a:avLst/>
            <a:gdLst/>
            <a:ahLst/>
            <a:cxnLst/>
            <a:rect r="r" b="b" t="t" l="l"/>
            <a:pathLst>
              <a:path h="1710797" w="3220323">
                <a:moveTo>
                  <a:pt x="0" y="0"/>
                </a:moveTo>
                <a:lnTo>
                  <a:pt x="3220323" y="0"/>
                </a:lnTo>
                <a:lnTo>
                  <a:pt x="3220323" y="1710797"/>
                </a:lnTo>
                <a:lnTo>
                  <a:pt x="0" y="17107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338737" y="7219422"/>
            <a:ext cx="3218879" cy="81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499" spc="57">
                <a:solidFill>
                  <a:srgbClr val="FFFFFF"/>
                </a:solidFill>
                <a:latin typeface="HK Grotesk Bold"/>
              </a:rPr>
              <a:t>More </a:t>
            </a:r>
          </a:p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 spc="57">
                <a:solidFill>
                  <a:srgbClr val="FFFFFF"/>
                </a:solidFill>
                <a:latin typeface="HK Grotesk Bold"/>
              </a:rPr>
              <a:t>dependable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1" r="0" b="-23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495914" y="3603602"/>
            <a:ext cx="3086100" cy="3557991"/>
            <a:chOff x="0" y="0"/>
            <a:chExt cx="812800" cy="9370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937084"/>
            </a:xfrm>
            <a:custGeom>
              <a:avLst/>
              <a:gdLst/>
              <a:ahLst/>
              <a:cxnLst/>
              <a:rect r="r" b="b" t="t" l="l"/>
              <a:pathLst>
                <a:path h="937084" w="812800">
                  <a:moveTo>
                    <a:pt x="50173" y="0"/>
                  </a:moveTo>
                  <a:lnTo>
                    <a:pt x="762627" y="0"/>
                  </a:lnTo>
                  <a:cubicBezTo>
                    <a:pt x="775934" y="0"/>
                    <a:pt x="788695" y="5286"/>
                    <a:pt x="798105" y="14695"/>
                  </a:cubicBezTo>
                  <a:cubicBezTo>
                    <a:pt x="807514" y="24105"/>
                    <a:pt x="812800" y="36866"/>
                    <a:pt x="812800" y="50173"/>
                  </a:cubicBezTo>
                  <a:lnTo>
                    <a:pt x="812800" y="886911"/>
                  </a:lnTo>
                  <a:cubicBezTo>
                    <a:pt x="812800" y="900218"/>
                    <a:pt x="807514" y="912980"/>
                    <a:pt x="798105" y="922389"/>
                  </a:cubicBezTo>
                  <a:cubicBezTo>
                    <a:pt x="788695" y="931798"/>
                    <a:pt x="775934" y="937084"/>
                    <a:pt x="762627" y="937084"/>
                  </a:cubicBezTo>
                  <a:lnTo>
                    <a:pt x="50173" y="937084"/>
                  </a:lnTo>
                  <a:cubicBezTo>
                    <a:pt x="36866" y="937084"/>
                    <a:pt x="24105" y="931798"/>
                    <a:pt x="14695" y="922389"/>
                  </a:cubicBezTo>
                  <a:cubicBezTo>
                    <a:pt x="5286" y="912980"/>
                    <a:pt x="0" y="900218"/>
                    <a:pt x="0" y="886911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495914" y="5322666"/>
            <a:ext cx="2951578" cy="1633030"/>
            <a:chOff x="0" y="0"/>
            <a:chExt cx="777370" cy="4300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7370" cy="430098"/>
            </a:xfrm>
            <a:custGeom>
              <a:avLst/>
              <a:gdLst/>
              <a:ahLst/>
              <a:cxnLst/>
              <a:rect r="r" b="b" t="t" l="l"/>
              <a:pathLst>
                <a:path h="430098" w="777370">
                  <a:moveTo>
                    <a:pt x="0" y="0"/>
                  </a:moveTo>
                  <a:lnTo>
                    <a:pt x="777370" y="0"/>
                  </a:lnTo>
                  <a:lnTo>
                    <a:pt x="777370" y="430098"/>
                  </a:lnTo>
                  <a:lnTo>
                    <a:pt x="0" y="4300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00"/>
                </a:lnSpc>
              </a:pPr>
              <a:r>
                <a:rPr lang="en-US" sz="3000">
                  <a:solidFill>
                    <a:srgbClr val="010101"/>
                  </a:solidFill>
                  <a:latin typeface="Montserrat Classic"/>
                </a:rPr>
                <a:t>Increase quality of data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900738" y="3603602"/>
            <a:ext cx="3086100" cy="3557991"/>
            <a:chOff x="0" y="0"/>
            <a:chExt cx="812800" cy="9370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937084"/>
            </a:xfrm>
            <a:custGeom>
              <a:avLst/>
              <a:gdLst/>
              <a:ahLst/>
              <a:cxnLst/>
              <a:rect r="r" b="b" t="t" l="l"/>
              <a:pathLst>
                <a:path h="937084" w="812800">
                  <a:moveTo>
                    <a:pt x="50173" y="0"/>
                  </a:moveTo>
                  <a:lnTo>
                    <a:pt x="762627" y="0"/>
                  </a:lnTo>
                  <a:cubicBezTo>
                    <a:pt x="775934" y="0"/>
                    <a:pt x="788695" y="5286"/>
                    <a:pt x="798105" y="14695"/>
                  </a:cubicBezTo>
                  <a:cubicBezTo>
                    <a:pt x="807514" y="24105"/>
                    <a:pt x="812800" y="36866"/>
                    <a:pt x="812800" y="50173"/>
                  </a:cubicBezTo>
                  <a:lnTo>
                    <a:pt x="812800" y="886911"/>
                  </a:lnTo>
                  <a:cubicBezTo>
                    <a:pt x="812800" y="900218"/>
                    <a:pt x="807514" y="912980"/>
                    <a:pt x="798105" y="922389"/>
                  </a:cubicBezTo>
                  <a:cubicBezTo>
                    <a:pt x="788695" y="931798"/>
                    <a:pt x="775934" y="937084"/>
                    <a:pt x="762627" y="937084"/>
                  </a:cubicBezTo>
                  <a:lnTo>
                    <a:pt x="50173" y="937084"/>
                  </a:lnTo>
                  <a:cubicBezTo>
                    <a:pt x="36866" y="937084"/>
                    <a:pt x="24105" y="931798"/>
                    <a:pt x="14695" y="922389"/>
                  </a:cubicBezTo>
                  <a:cubicBezTo>
                    <a:pt x="5286" y="912980"/>
                    <a:pt x="0" y="900218"/>
                    <a:pt x="0" y="886911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900738" y="5699823"/>
            <a:ext cx="3086100" cy="648081"/>
            <a:chOff x="0" y="0"/>
            <a:chExt cx="812800" cy="1706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170688"/>
            </a:xfrm>
            <a:custGeom>
              <a:avLst/>
              <a:gdLst/>
              <a:ahLst/>
              <a:cxnLst/>
              <a:rect r="r" b="b" t="t" l="l"/>
              <a:pathLst>
                <a:path h="17068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00"/>
                </a:lnSpc>
              </a:pPr>
              <a:r>
                <a:rPr lang="en-US" sz="3000">
                  <a:solidFill>
                    <a:srgbClr val="231F20"/>
                  </a:solidFill>
                  <a:latin typeface="Montserrat Classic"/>
                </a:rPr>
                <a:t>Reliability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01162" y="3603602"/>
            <a:ext cx="3086100" cy="3557991"/>
            <a:chOff x="0" y="0"/>
            <a:chExt cx="812800" cy="9370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937084"/>
            </a:xfrm>
            <a:custGeom>
              <a:avLst/>
              <a:gdLst/>
              <a:ahLst/>
              <a:cxnLst/>
              <a:rect r="r" b="b" t="t" l="l"/>
              <a:pathLst>
                <a:path h="937084" w="812800">
                  <a:moveTo>
                    <a:pt x="50173" y="0"/>
                  </a:moveTo>
                  <a:lnTo>
                    <a:pt x="762627" y="0"/>
                  </a:lnTo>
                  <a:cubicBezTo>
                    <a:pt x="775934" y="0"/>
                    <a:pt x="788695" y="5286"/>
                    <a:pt x="798105" y="14695"/>
                  </a:cubicBezTo>
                  <a:cubicBezTo>
                    <a:pt x="807514" y="24105"/>
                    <a:pt x="812800" y="36866"/>
                    <a:pt x="812800" y="50173"/>
                  </a:cubicBezTo>
                  <a:lnTo>
                    <a:pt x="812800" y="886911"/>
                  </a:lnTo>
                  <a:cubicBezTo>
                    <a:pt x="812800" y="900218"/>
                    <a:pt x="807514" y="912980"/>
                    <a:pt x="798105" y="922389"/>
                  </a:cubicBezTo>
                  <a:cubicBezTo>
                    <a:pt x="788695" y="931798"/>
                    <a:pt x="775934" y="937084"/>
                    <a:pt x="762627" y="937084"/>
                  </a:cubicBezTo>
                  <a:lnTo>
                    <a:pt x="50173" y="937084"/>
                  </a:lnTo>
                  <a:cubicBezTo>
                    <a:pt x="36866" y="937084"/>
                    <a:pt x="24105" y="931798"/>
                    <a:pt x="14695" y="922389"/>
                  </a:cubicBezTo>
                  <a:cubicBezTo>
                    <a:pt x="5286" y="912980"/>
                    <a:pt x="0" y="900218"/>
                    <a:pt x="0" y="886911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01162" y="5528564"/>
            <a:ext cx="3086100" cy="1638681"/>
            <a:chOff x="0" y="0"/>
            <a:chExt cx="812800" cy="43158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431587"/>
            </a:xfrm>
            <a:custGeom>
              <a:avLst/>
              <a:gdLst/>
              <a:ahLst/>
              <a:cxnLst/>
              <a:rect r="r" b="b" t="t" l="l"/>
              <a:pathLst>
                <a:path h="43158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431587"/>
                  </a:lnTo>
                  <a:lnTo>
                    <a:pt x="0" y="4315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00"/>
                </a:lnSpc>
              </a:pPr>
              <a:r>
                <a:rPr lang="en-US" sz="3000">
                  <a:solidFill>
                    <a:srgbClr val="231F20"/>
                  </a:solidFill>
                  <a:latin typeface="Montserrat Classic"/>
                </a:rPr>
                <a:t>Estimate unmeasured states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705986" y="3603602"/>
            <a:ext cx="3086100" cy="3557991"/>
            <a:chOff x="0" y="0"/>
            <a:chExt cx="812800" cy="9370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937084"/>
            </a:xfrm>
            <a:custGeom>
              <a:avLst/>
              <a:gdLst/>
              <a:ahLst/>
              <a:cxnLst/>
              <a:rect r="r" b="b" t="t" l="l"/>
              <a:pathLst>
                <a:path h="937084" w="812800">
                  <a:moveTo>
                    <a:pt x="50173" y="0"/>
                  </a:moveTo>
                  <a:lnTo>
                    <a:pt x="762627" y="0"/>
                  </a:lnTo>
                  <a:cubicBezTo>
                    <a:pt x="775934" y="0"/>
                    <a:pt x="788695" y="5286"/>
                    <a:pt x="798105" y="14695"/>
                  </a:cubicBezTo>
                  <a:cubicBezTo>
                    <a:pt x="807514" y="24105"/>
                    <a:pt x="812800" y="36866"/>
                    <a:pt x="812800" y="50173"/>
                  </a:cubicBezTo>
                  <a:lnTo>
                    <a:pt x="812800" y="886911"/>
                  </a:lnTo>
                  <a:cubicBezTo>
                    <a:pt x="812800" y="900218"/>
                    <a:pt x="807514" y="912980"/>
                    <a:pt x="798105" y="922389"/>
                  </a:cubicBezTo>
                  <a:cubicBezTo>
                    <a:pt x="788695" y="931798"/>
                    <a:pt x="775934" y="937084"/>
                    <a:pt x="762627" y="937084"/>
                  </a:cubicBezTo>
                  <a:lnTo>
                    <a:pt x="50173" y="937084"/>
                  </a:lnTo>
                  <a:cubicBezTo>
                    <a:pt x="36866" y="937084"/>
                    <a:pt x="24105" y="931798"/>
                    <a:pt x="14695" y="922389"/>
                  </a:cubicBezTo>
                  <a:cubicBezTo>
                    <a:pt x="5286" y="912980"/>
                    <a:pt x="0" y="900218"/>
                    <a:pt x="0" y="886911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3340292" y="3889635"/>
            <a:ext cx="1397344" cy="1397344"/>
          </a:xfrm>
          <a:custGeom>
            <a:avLst/>
            <a:gdLst/>
            <a:ahLst/>
            <a:cxnLst/>
            <a:rect r="r" b="b" t="t" l="l"/>
            <a:pathLst>
              <a:path h="1397344" w="1397344">
                <a:moveTo>
                  <a:pt x="0" y="0"/>
                </a:moveTo>
                <a:lnTo>
                  <a:pt x="1397343" y="0"/>
                </a:lnTo>
                <a:lnTo>
                  <a:pt x="1397343" y="1397344"/>
                </a:lnTo>
                <a:lnTo>
                  <a:pt x="0" y="13973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903871" y="4063668"/>
            <a:ext cx="1079832" cy="1079832"/>
          </a:xfrm>
          <a:custGeom>
            <a:avLst/>
            <a:gdLst/>
            <a:ahLst/>
            <a:cxnLst/>
            <a:rect r="r" b="b" t="t" l="l"/>
            <a:pathLst>
              <a:path h="1079832" w="1079832">
                <a:moveTo>
                  <a:pt x="0" y="0"/>
                </a:moveTo>
                <a:lnTo>
                  <a:pt x="1079833" y="0"/>
                </a:lnTo>
                <a:lnTo>
                  <a:pt x="1079833" y="1079832"/>
                </a:lnTo>
                <a:lnTo>
                  <a:pt x="0" y="1079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2705986" y="5567490"/>
            <a:ext cx="3086100" cy="1143381"/>
            <a:chOff x="0" y="0"/>
            <a:chExt cx="812800" cy="30113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301137"/>
            </a:xfrm>
            <a:custGeom>
              <a:avLst/>
              <a:gdLst/>
              <a:ahLst/>
              <a:cxnLst/>
              <a:rect r="r" b="b" t="t" l="l"/>
              <a:pathLst>
                <a:path h="30113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01137"/>
                  </a:lnTo>
                  <a:lnTo>
                    <a:pt x="0" y="3011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00"/>
                </a:lnSpc>
              </a:pPr>
              <a:r>
                <a:rPr lang="en-US" sz="3000">
                  <a:solidFill>
                    <a:srgbClr val="231F20"/>
                  </a:solidFill>
                  <a:latin typeface="Montserrat Classic"/>
                </a:rPr>
                <a:t>Increase coverage area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0111643" y="3917459"/>
            <a:ext cx="1465139" cy="1465139"/>
          </a:xfrm>
          <a:custGeom>
            <a:avLst/>
            <a:gdLst/>
            <a:ahLst/>
            <a:cxnLst/>
            <a:rect r="r" b="b" t="t" l="l"/>
            <a:pathLst>
              <a:path h="1465139" w="1465139">
                <a:moveTo>
                  <a:pt x="0" y="0"/>
                </a:moveTo>
                <a:lnTo>
                  <a:pt x="1465139" y="0"/>
                </a:lnTo>
                <a:lnTo>
                  <a:pt x="1465139" y="1465139"/>
                </a:lnTo>
                <a:lnTo>
                  <a:pt x="0" y="14651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424021" y="3889635"/>
            <a:ext cx="1650031" cy="1650031"/>
          </a:xfrm>
          <a:custGeom>
            <a:avLst/>
            <a:gdLst/>
            <a:ahLst/>
            <a:cxnLst/>
            <a:rect r="r" b="b" t="t" l="l"/>
            <a:pathLst>
              <a:path h="1650031" w="1650031">
                <a:moveTo>
                  <a:pt x="0" y="0"/>
                </a:moveTo>
                <a:lnTo>
                  <a:pt x="1650031" y="0"/>
                </a:lnTo>
                <a:lnTo>
                  <a:pt x="1650031" y="1650031"/>
                </a:lnTo>
                <a:lnTo>
                  <a:pt x="0" y="16500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8338737" y="7219422"/>
            <a:ext cx="3218879" cy="81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499" spc="57">
                <a:solidFill>
                  <a:srgbClr val="FFFFFF"/>
                </a:solidFill>
                <a:latin typeface="HK Grotesk Bold"/>
              </a:rPr>
              <a:t>More </a:t>
            </a:r>
          </a:p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 spc="57">
                <a:solidFill>
                  <a:srgbClr val="FFFFFF"/>
                </a:solidFill>
                <a:latin typeface="HK Grotesk Bold"/>
              </a:rPr>
              <a:t>dependable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10202" y="1113480"/>
            <a:ext cx="1246121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How sensor fusion can help?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1" r="0" b="-2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58503" y="2127006"/>
            <a:ext cx="10370993" cy="6032988"/>
          </a:xfrm>
          <a:custGeom>
            <a:avLst/>
            <a:gdLst/>
            <a:ahLst/>
            <a:cxnLst/>
            <a:rect r="r" b="b" t="t" l="l"/>
            <a:pathLst>
              <a:path h="6032988" w="10370993">
                <a:moveTo>
                  <a:pt x="0" y="0"/>
                </a:moveTo>
                <a:lnTo>
                  <a:pt x="10370994" y="0"/>
                </a:lnTo>
                <a:lnTo>
                  <a:pt x="10370994" y="6032988"/>
                </a:lnTo>
                <a:lnTo>
                  <a:pt x="0" y="60329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FF3131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914400"/>
            <a:ext cx="1246121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How sensor fusion can help?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1" r="0" b="-2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84975" y="2137301"/>
            <a:ext cx="10318050" cy="6012397"/>
          </a:xfrm>
          <a:custGeom>
            <a:avLst/>
            <a:gdLst/>
            <a:ahLst/>
            <a:cxnLst/>
            <a:rect r="r" b="b" t="t" l="l"/>
            <a:pathLst>
              <a:path h="6012397" w="10318050">
                <a:moveTo>
                  <a:pt x="0" y="0"/>
                </a:moveTo>
                <a:lnTo>
                  <a:pt x="10318050" y="0"/>
                </a:lnTo>
                <a:lnTo>
                  <a:pt x="10318050" y="6012398"/>
                </a:lnTo>
                <a:lnTo>
                  <a:pt x="0" y="6012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14400"/>
            <a:ext cx="1246121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Canva Sans Bold"/>
              </a:rPr>
              <a:t>How sensor fusion can help?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1" r="0" b="-23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94726" y="1297106"/>
            <a:ext cx="11875576" cy="3846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33976"/>
              </a:lnSpc>
            </a:pPr>
            <a:r>
              <a:rPr lang="en-US" sz="16655" spc="49">
                <a:solidFill>
                  <a:srgbClr val="000000"/>
                </a:solidFill>
                <a:latin typeface="Canva Sans Bold"/>
              </a:rPr>
              <a:t>Thanks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470055" y="5632140"/>
            <a:ext cx="3013856" cy="3013856"/>
          </a:xfrm>
          <a:custGeom>
            <a:avLst/>
            <a:gdLst/>
            <a:ahLst/>
            <a:cxnLst/>
            <a:rect r="r" b="b" t="t" l="l"/>
            <a:pathLst>
              <a:path h="3013856" w="3013856">
                <a:moveTo>
                  <a:pt x="0" y="0"/>
                </a:moveTo>
                <a:lnTo>
                  <a:pt x="3013856" y="0"/>
                </a:lnTo>
                <a:lnTo>
                  <a:pt x="3013856" y="3013856"/>
                </a:lnTo>
                <a:lnTo>
                  <a:pt x="0" y="30138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DAFv5Sm48Hk</dc:identifier>
  <dcterms:modified xsi:type="dcterms:W3CDTF">2011-08-01T06:04:30Z</dcterms:modified>
  <cp:revision>1</cp:revision>
  <dc:title>Session 3: Introduction to perception for autonomous vehicles</dc:title>
</cp:coreProperties>
</file>